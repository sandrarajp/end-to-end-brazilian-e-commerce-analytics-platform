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C792B4-C4C3-4E2A-B687-9C69089A6BF5}">
  <a:tblStyle styleId="{7BC792B4-C4C3-4E2A-B687-9C69089A6BF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949440" y="-1463040"/>
            <a:ext cx="4023360" cy="4023360"/>
          </a:xfrm>
          <a:prstGeom prst="ellipse">
            <a:avLst/>
          </a:prstGeom>
          <a:solidFill>
            <a:srgbClr val="0A9396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097280" y="3291840"/>
            <a:ext cx="2926080" cy="2926080"/>
          </a:xfrm>
          <a:prstGeom prst="ellipse">
            <a:avLst/>
          </a:prstGeom>
          <a:solidFill>
            <a:srgbClr val="EE9B00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85800" y="594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UNIVERSITY OF EUROPE FOR APPLIED SCIENCES — DUBAI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85800" y="1280160"/>
            <a:ext cx="7589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Predicting Late Deliveries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 Brazilian E-Commerce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85800" y="278892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Final Project Presentation — A Comparative Machine Learning Study with Class Imbalance Handling Using the Olist Dataset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85800" y="3611880"/>
            <a:ext cx="2103120" cy="457200"/>
          </a:xfrm>
          <a:prstGeom prst="roundRect">
            <a:avLst>
              <a:gd fmla="val 16000" name="adj"/>
            </a:avLst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85800" y="36118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CHECKPOINT 4 · FINAL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85800" y="443484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Renato Silva   |   Sandra Raj Pattuvakkaran   |   Sudarsh Mekkampurath Sajeev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85800" y="4736592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Submitted to: Prof. Dr. Nor Azizah Hitam   |   July 4,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Agenda — From Proposal to Final Model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1417320"/>
            <a:ext cx="8229600" cy="749808"/>
          </a:xfrm>
          <a:prstGeom prst="roundRect">
            <a:avLst>
              <a:gd fmla="val 7317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94360" y="1417320"/>
            <a:ext cx="8229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A939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508760" y="149047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Checkpoint 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508760" y="1783080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Project Proposal — title, problem, objectives, dataset, expected outcome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7200" y="2313432"/>
            <a:ext cx="8229600" cy="749808"/>
          </a:xfrm>
          <a:prstGeom prst="roundRect">
            <a:avLst>
              <a:gd fmla="val 7317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94360" y="2313432"/>
            <a:ext cx="8229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94D2BD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508760" y="2386584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Checkpoint 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508760" y="2679192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Dataset Understanding — description, features, data issues identified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3209544"/>
            <a:ext cx="8229600" cy="749808"/>
          </a:xfrm>
          <a:prstGeom prst="roundRect">
            <a:avLst>
              <a:gd fmla="val 7317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94360" y="3209544"/>
            <a:ext cx="8229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E9B00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08760" y="3282696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Checkpoint 3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508760" y="3575304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Data Cleaning &amp; Initial Analysis — cleaning steps, EDA, early findings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" y="4105656"/>
            <a:ext cx="8229600" cy="749808"/>
          </a:xfrm>
          <a:prstGeom prst="roundRect">
            <a:avLst>
              <a:gd fmla="val 7317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94360" y="4105656"/>
            <a:ext cx="8229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08760" y="417880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Checkpoint 4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508760" y="4471416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Final Analysis &amp; ML — modelling, results, findings, recommendations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640080" y="141732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8000"/>
              <a:buFont typeface="Cambria"/>
              <a:buNone/>
            </a:pPr>
            <a:r>
              <a:rPr b="1" i="0" lang="en-US" sz="8000" u="none" cap="none" strike="noStrike">
                <a:solidFill>
                  <a:srgbClr val="0A939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85800" y="1234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E9B00"/>
                </a:solidFill>
                <a:latin typeface="Calibri"/>
                <a:ea typeface="Calibri"/>
                <a:cs typeface="Calibri"/>
                <a:sym typeface="Calibri"/>
              </a:rPr>
              <a:t>CHECKPOINT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85800" y="2514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Project Proposal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85800" y="3794760"/>
            <a:ext cx="7589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Title  ·  Problem Statement  ·  Objectives  ·  Dataset  ·  Expected Outcome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7955280" y="-731520"/>
            <a:ext cx="2011680" cy="2011680"/>
          </a:xfrm>
          <a:prstGeom prst="ellipse">
            <a:avLst/>
          </a:prstGeom>
          <a:solidFill>
            <a:srgbClr val="0A939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1 · PROJECT PROPOSAL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Project Title &amp; Problem Statement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57200" y="1234440"/>
            <a:ext cx="8229600" cy="960120"/>
          </a:xfrm>
          <a:prstGeom prst="roundRect">
            <a:avLst>
              <a:gd fmla="val 6667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685800" y="13258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Predicting Late Deliveries in Brazilian E-Commerce: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685800" y="1673352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400"/>
              <a:buFont typeface="Cambria"/>
              <a:buNone/>
            </a:pPr>
            <a:r>
              <a:rPr b="0" i="1" lang="en-US" sz="1400" u="none" cap="none" strike="noStrike">
                <a:solidFill>
                  <a:srgbClr val="94D2BD"/>
                </a:solidFill>
                <a:latin typeface="Cambria"/>
                <a:ea typeface="Cambria"/>
                <a:cs typeface="Cambria"/>
                <a:sym typeface="Cambria"/>
              </a:rPr>
              <a:t>A Comparative Machine Learning Study with Class Imbalance Handling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57200" y="2423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57200" y="2743200"/>
            <a:ext cx="82296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3B44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~8% of orders (≈8,000 customers) on the Olist platform are delivered late — damaging customer satisfaction and driving negative reviews.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A3B44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Severe class imbalance (92% on-time vs. 8% late): a naive model predicting all orders on-time achieves 92% accuracy while detecting zero late deliveries.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A3B44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No existing predictive system flags at-risk orders before they become late — logistics teams react instead of acting proactively.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1 · PROJECT PROPOSAL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Objectives &amp; Dataset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57200" y="12344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EE9B00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868680" y="123444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3063240" y="1234440"/>
            <a:ext cx="5623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Class distribution, delivery-time histograms, correlation heatmap, late rate by state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57200" y="1709928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EE9B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868680" y="1709928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3063240" y="1709928"/>
            <a:ext cx="5623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order_hour, order_day_of_week, same_state, product_volume, payment_ratio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57200" y="2185416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EE9B0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868680" y="2185416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Imbalance Handling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3063240" y="2185416"/>
            <a:ext cx="5623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SMOTE on training data only — never on the test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57200" y="2660904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EE9B00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868680" y="2660904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5-Model Comparison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3063240" y="2660904"/>
            <a:ext cx="5623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Logistic Regression, Decision Tree, Random Forest, KNN, XGBoost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57200" y="3136392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EE9B00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868680" y="3136392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Statistical 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3063240" y="3136392"/>
            <a:ext cx="5623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Paired t-test on 10-fold CV F1 scores (p &lt; 0.05)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7"/>
          <p:cNvCxnSpPr/>
          <p:nvPr/>
        </p:nvCxnSpPr>
        <p:spPr>
          <a:xfrm>
            <a:off x="457200" y="36576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DDE5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7"/>
          <p:cNvSpPr/>
          <p:nvPr/>
        </p:nvSpPr>
        <p:spPr>
          <a:xfrm>
            <a:off x="457200" y="37947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57200" y="408736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B4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Olist Brazilian E-Commerce Public Dataset (Kaggle)  ·  ~100,000 orders, 9 relational CSV files, 2016–2018  ·  Enriched via companion Data Engineering pipeline (PostgreSQL, 3NF schema)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/>
          <p:nvPr/>
        </p:nvSpPr>
        <p:spPr>
          <a:xfrm>
            <a:off x="640080" y="141732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8000"/>
              <a:buFont typeface="Cambria"/>
              <a:buNone/>
            </a:pPr>
            <a:r>
              <a:rPr b="1" i="0" lang="en-US" sz="8000" u="none" cap="none" strike="noStrike">
                <a:solidFill>
                  <a:srgbClr val="0A9396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685800" y="1234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E9B00"/>
                </a:solidFill>
                <a:latin typeface="Calibri"/>
                <a:ea typeface="Calibri"/>
                <a:cs typeface="Calibri"/>
                <a:sym typeface="Calibri"/>
              </a:rPr>
              <a:t>CHECKPOINT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685800" y="2514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Dataset Understanding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&amp; Preparation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685800" y="3794760"/>
            <a:ext cx="7589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Dataset Description  ·  Main Features  ·  Data Issues Identified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7955280" y="-731520"/>
            <a:ext cx="2011680" cy="2011680"/>
          </a:xfrm>
          <a:prstGeom prst="ellipse">
            <a:avLst/>
          </a:prstGeom>
          <a:solidFill>
            <a:srgbClr val="0A939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2 · DATASET UNDERSTANDING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Dataset Description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457200" y="1188720"/>
            <a:ext cx="1920240" cy="1005840"/>
          </a:xfrm>
          <a:prstGeom prst="roundRect">
            <a:avLst>
              <a:gd fmla="val 6364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548640" y="1261872"/>
            <a:ext cx="173736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A9396"/>
                </a:solidFill>
                <a:latin typeface="Cambria"/>
                <a:ea typeface="Cambria"/>
                <a:cs typeface="Cambria"/>
                <a:sym typeface="Cambria"/>
              </a:rPr>
              <a:t>96,476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548640" y="1792224"/>
            <a:ext cx="17373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Delivered orders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(after cleaning)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2496312" y="1188720"/>
            <a:ext cx="1920240" cy="1005840"/>
          </a:xfrm>
          <a:prstGeom prst="roundRect">
            <a:avLst>
              <a:gd fmla="val 6364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2587752" y="1261872"/>
            <a:ext cx="173736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94D2BD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2587752" y="1792224"/>
            <a:ext cx="17373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Relational CSV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4535424" y="1188720"/>
            <a:ext cx="1920240" cy="1005840"/>
          </a:xfrm>
          <a:prstGeom prst="roundRect">
            <a:avLst>
              <a:gd fmla="val 6364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4626864" y="1261872"/>
            <a:ext cx="173736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E9B00"/>
                </a:solidFill>
                <a:latin typeface="Cambria"/>
                <a:ea typeface="Cambria"/>
                <a:cs typeface="Cambria"/>
                <a:sym typeface="Cambria"/>
              </a:rPr>
              <a:t>31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4626864" y="1792224"/>
            <a:ext cx="17373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Columns 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orders_enriched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6574536" y="1188720"/>
            <a:ext cx="2103120" cy="1005840"/>
          </a:xfrm>
          <a:prstGeom prst="roundRect">
            <a:avLst>
              <a:gd fmla="val 6364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6665976" y="1261872"/>
            <a:ext cx="192024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201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AE2012"/>
                </a:solidFill>
                <a:latin typeface="Cambria"/>
                <a:ea typeface="Cambria"/>
                <a:cs typeface="Cambria"/>
                <a:sym typeface="Cambria"/>
              </a:rPr>
              <a:t>8.1%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6665976" y="1792224"/>
            <a:ext cx="192024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Orders delivered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late (target = 1)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457200" y="2423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MAIN FEATURES / COLUMNS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8" name="Google Shape;128;p9"/>
          <p:cNvGraphicFramePr/>
          <p:nvPr/>
        </p:nvGraphicFramePr>
        <p:xfrm>
          <a:off x="457200" y="27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{7BC792B4-C4C3-4E2A-B687-9C69089A6BF5}</a:tableStyleId>
              </a:tblPr>
              <a:tblGrid>
                <a:gridCol w="1920250"/>
                <a:gridCol w="6309350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 Columns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is_late (1 = delivered after estimate, 0 = on time)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Delivery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delivery_days, days_late, order_estimated_delivery_date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product_weight_g, product_length_cm, product_height_cm, product_width_cm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 / Payment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freight_value, price, item_count, payment_installments, payment_type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seller_state, customer_state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" name="Google Shape;129;p9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2 · DATASET UNDERSTANDING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Data Issues Identified ( Challenges)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457200" y="1234440"/>
            <a:ext cx="4023360" cy="1078992"/>
          </a:xfrm>
          <a:prstGeom prst="roundRect">
            <a:avLst>
              <a:gd fmla="val 5085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621792" y="1325880"/>
            <a:ext cx="3694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Missing delivery dates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621792" y="1618488"/>
            <a:ext cx="36941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2,965 orders had no delivered_customer_date (undelivered / cancelled) — excluded from the modelling table since is_late cannot be computed.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4663440" y="1234440"/>
            <a:ext cx="4023360" cy="1078992"/>
          </a:xfrm>
          <a:prstGeom prst="roundRect">
            <a:avLst>
              <a:gd fmla="val 5085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4828032" y="1325880"/>
            <a:ext cx="3694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Missing product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4828032" y="1618488"/>
            <a:ext cx="36941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610 missing category names, 2 missing dimension rows — filled with 'unknown' / median to satisfy FK constraints and avoid skew.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457200" y="2450592"/>
            <a:ext cx="4023360" cy="1078992"/>
          </a:xfrm>
          <a:prstGeom prst="roundRect">
            <a:avLst>
              <a:gd fmla="val 5085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621792" y="2542032"/>
            <a:ext cx="3694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Missing review 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621792" y="2834640"/>
            <a:ext cx="36941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87,656 missing titles, 58,247 missing messages — most customers simply skip written feedback, not a data-quality defect.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4663440" y="2450592"/>
            <a:ext cx="4023360" cy="1078992"/>
          </a:xfrm>
          <a:prstGeom prst="roundRect">
            <a:avLst>
              <a:gd fmla="val 5085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4828032" y="2542032"/>
            <a:ext cx="3694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Duplicate review IDs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4828032" y="2834640"/>
            <a:ext cx="36941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A bug in Olist's own review submission system reused IDs — resolved by keeping the first occurrence.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457200" y="3666744"/>
            <a:ext cx="4023360" cy="1078992"/>
          </a:xfrm>
          <a:prstGeom prst="roundRect">
            <a:avLst>
              <a:gd fmla="val 5085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621792" y="3758184"/>
            <a:ext cx="3694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Referential integrity gaps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621792" y="4050792"/>
            <a:ext cx="36941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Products referenced category names absent from the translation table (e.g. pc_gamer) — added programmatically before load.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4663440" y="3666744"/>
            <a:ext cx="4023360" cy="1078992"/>
          </a:xfrm>
          <a:prstGeom prst="roundRect">
            <a:avLst>
              <a:gd fmla="val 5085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4828032" y="3758184"/>
            <a:ext cx="3694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Severe class imbalance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4828032" y="4050792"/>
            <a:ext cx="36941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Only ~8% of orders are late — flagged early as the central analytical challenge carried into every later checkpoint.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/>
          <p:nvPr/>
        </p:nvSpPr>
        <p:spPr>
          <a:xfrm>
            <a:off x="640080" y="141732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8000"/>
              <a:buFont typeface="Cambria"/>
              <a:buNone/>
            </a:pPr>
            <a:r>
              <a:rPr b="1" i="0" lang="en-US" sz="8000" u="none" cap="none" strike="noStrike">
                <a:solidFill>
                  <a:srgbClr val="0A9396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685800" y="1234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E9B00"/>
                </a:solidFill>
                <a:latin typeface="Calibri"/>
                <a:ea typeface="Calibri"/>
                <a:cs typeface="Calibri"/>
                <a:sym typeface="Calibri"/>
              </a:rPr>
              <a:t>CHECKPOINT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685800" y="2514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Cleaning &amp;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Initial Analysis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685800" y="3794760"/>
            <a:ext cx="7589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Cleaning Steps  ·  Resolving Checkpoint 2 Issues  ·  Early EDA Findings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7955280" y="-731520"/>
            <a:ext cx="2011680" cy="2011680"/>
          </a:xfrm>
          <a:prstGeom prst="ellipse">
            <a:avLst/>
          </a:prstGeom>
          <a:solidFill>
            <a:srgbClr val="0A939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3 · DATA CLEANING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Cleaning Steps &amp; How Checkpoint 2 Issues Were Solved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p12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{7BC792B4-C4C3-4E2A-B687-9C69089A6BF5}</a:tableStyleId>
              </a:tblPr>
              <a:tblGrid>
                <a:gridCol w="3017525"/>
                <a:gridCol w="52120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Checkpoint 2 Issue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Resolution Applied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delivery dates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Filtered to status = 'delivered' with a non-null delivery timestamp only (99,441 → 96,476 rows).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product dimensions/category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Median-imputed dimensions; 'unknown' category label; missing categories added to translation table.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Duplicate review IDs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drop_duplicates(keep='first') applied before aggregating review scores per order.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Inconsistent datetime formats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5 timestamp columns parsed with pd.to_datetime(errors='coerce').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Categorical features unusable by ML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customer_state, seller_state, payment_type one-hot / label encoded.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 imbalance (91.9% / 8.1%)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Reserved for modelling stage: SMOTE on training folds only, F1/ROC-AUC as primary metrics.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12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3 · INITIAL ANALYSIS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Initial EDA &amp; Early Findings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457200" y="1188720"/>
            <a:ext cx="1965960" cy="914400"/>
          </a:xfrm>
          <a:prstGeom prst="roundRect">
            <a:avLst>
              <a:gd fmla="val 7000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400151" y="1211575"/>
            <a:ext cx="2080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A9396"/>
                </a:solidFill>
                <a:latin typeface="Cambria"/>
                <a:ea typeface="Cambria"/>
                <a:cs typeface="Cambria"/>
                <a:sym typeface="Cambria"/>
              </a:rPr>
              <a:t>91.9% / 8.1%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251650" y="1737350"/>
            <a:ext cx="2468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On-time vs. 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class split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2542032" y="1188720"/>
            <a:ext cx="1965960" cy="914400"/>
          </a:xfrm>
          <a:prstGeom prst="roundRect">
            <a:avLst>
              <a:gd fmla="val 7000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2633472" y="1261872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94D2BD"/>
                </a:solidFill>
                <a:latin typeface="Cambria"/>
                <a:ea typeface="Cambria"/>
                <a:cs typeface="Cambria"/>
                <a:sym typeface="Cambria"/>
              </a:rPr>
              <a:t>10.2 days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2633472" y="1737360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Median delivery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4626864" y="1188720"/>
            <a:ext cx="1965960" cy="914400"/>
          </a:xfrm>
          <a:prstGeom prst="roundRect">
            <a:avLst>
              <a:gd fmla="val 7000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"/>
          <p:cNvSpPr/>
          <p:nvPr/>
        </p:nvSpPr>
        <p:spPr>
          <a:xfrm>
            <a:off x="4718304" y="1261872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E9B00"/>
                </a:solidFill>
                <a:latin typeface="Cambria"/>
                <a:ea typeface="Cambria"/>
                <a:cs typeface="Cambria"/>
                <a:sym typeface="Cambria"/>
              </a:rPr>
              <a:t>23.9%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4718304" y="1737360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Highest state 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rate (Alagoas)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6711696" y="1188720"/>
            <a:ext cx="1975104" cy="914400"/>
          </a:xfrm>
          <a:prstGeom prst="roundRect">
            <a:avLst>
              <a:gd fmla="val 7000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"/>
          <p:cNvSpPr/>
          <p:nvPr/>
        </p:nvSpPr>
        <p:spPr>
          <a:xfrm>
            <a:off x="6803136" y="1261872"/>
            <a:ext cx="17922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201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AE2012"/>
                </a:solidFill>
                <a:latin typeface="Cambria"/>
                <a:ea typeface="Cambria"/>
                <a:cs typeface="Cambria"/>
                <a:sym typeface="Cambria"/>
              </a:rPr>
              <a:t>2.9%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6803136" y="1737360"/>
            <a:ext cx="17922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Lowest state 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rate (Rondônia)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KEY OBSERVATIONS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3B44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Class imbalance confirmed as the central ML challenge — a naive always-on-time model scores 91.9% accuracy while catching zero late orders.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A3B44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Late-delivery rate varies sharply by customer state — northern/northeastern states (AL, MA, PI) run 2–3× the national average, pointing to distance-from-hub as a likely driver.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A3B44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Correlation heatmap shows same_state and freight_value as the strongest usable (pre-delivery) correlates of lateness — both fairly weak (|r| &lt; 0.06), an early signal that order-level features alone may not fully explain lateness.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A3B44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Review score correlates with lateness, but is only known after delivery — confirmed as unusable for prediction and excluded from the feature set.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3 · EDA VISUALS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Class Imbalance &amp; Delivery-Time Distributions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425" y="1531725"/>
            <a:ext cx="4180999" cy="21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6725" y="1531725"/>
            <a:ext cx="4436451" cy="232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4"/>
          <p:cNvSpPr/>
          <p:nvPr/>
        </p:nvSpPr>
        <p:spPr>
          <a:xfrm>
            <a:off x="704325" y="4293316"/>
            <a:ext cx="38001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Severe 92:8 class imbalance is the central modelling challenge — a naive always-on-time model scores 91.9% accuracy while catching zero late orders.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4808875" y="4293317"/>
            <a:ext cx="38001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Delivery days are right-skewed (median 10.2); days-late is measured against the promised delivery deadline.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/>
          <p:nvPr/>
        </p:nvSpPr>
        <p:spPr>
          <a:xfrm>
            <a:off x="457200" y="94183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3 · EDA VISUALS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457200" y="368375"/>
            <a:ext cx="86412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Late-Delivery Rate by Customer State &amp; </a:t>
            </a:r>
            <a:r>
              <a:rPr b="1" lang="en-US" sz="2400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Correlation Heatmap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75"/>
            <a:ext cx="4581124" cy="330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5"/>
          <p:cNvSpPr/>
          <p:nvPr/>
        </p:nvSpPr>
        <p:spPr>
          <a:xfrm>
            <a:off x="114300" y="4577025"/>
            <a:ext cx="5088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Late rates range from 2.9% (Rondônia) to 23.9% (Alagoas) against an 8.1% national average — the clearest, most actionable pattern in the data.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8325" y="1097275"/>
            <a:ext cx="3832450" cy="342702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5"/>
          <p:cNvSpPr/>
          <p:nvPr/>
        </p:nvSpPr>
        <p:spPr>
          <a:xfrm>
            <a:off x="5559550" y="4577025"/>
            <a:ext cx="3045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same_state and freight_value are the strongest pre-delivery correlates of lateness — both remain weak (|r| &lt; 0.06).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/>
          <p:nvPr/>
        </p:nvSpPr>
        <p:spPr>
          <a:xfrm>
            <a:off x="640080" y="141732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8000"/>
              <a:buFont typeface="Cambria"/>
              <a:buNone/>
            </a:pPr>
            <a:r>
              <a:rPr b="1" i="0" lang="en-US" sz="8000" u="none" cap="none" strike="noStrike">
                <a:solidFill>
                  <a:srgbClr val="0A9396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685800" y="1234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E9B00"/>
                </a:solidFill>
                <a:latin typeface="Calibri"/>
                <a:ea typeface="Calibri"/>
                <a:cs typeface="Calibri"/>
                <a:sym typeface="Calibri"/>
              </a:rPr>
              <a:t>CHECKPOINT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685800" y="2514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Final Analysis &amp;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Machine Learning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685800" y="3794760"/>
            <a:ext cx="7589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Final Features  ·  Models  ·  Training &amp; Testing  ·  Results  ·  Interpretation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7955280" y="-731520"/>
            <a:ext cx="2011680" cy="2011680"/>
          </a:xfrm>
          <a:prstGeom prst="ellipse">
            <a:avLst/>
          </a:prstGeom>
          <a:solidFill>
            <a:srgbClr val="0A939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4 · FINAL MODELLING SETUP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Final Dataset, Features &amp; Target Variable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457200" y="1188720"/>
            <a:ext cx="1920240" cy="914400"/>
          </a:xfrm>
          <a:prstGeom prst="roundRect">
            <a:avLst>
              <a:gd fmla="val 7000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548640" y="126187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A9396"/>
                </a:solidFill>
                <a:latin typeface="Cambria"/>
                <a:ea typeface="Cambria"/>
                <a:cs typeface="Cambria"/>
                <a:sym typeface="Cambria"/>
              </a:rPr>
              <a:t>96,476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548640" y="173736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Rows 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orders_enriched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2496312" y="1188720"/>
            <a:ext cx="1920240" cy="914400"/>
          </a:xfrm>
          <a:prstGeom prst="roundRect">
            <a:avLst>
              <a:gd fmla="val 7000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"/>
          <p:cNvSpPr/>
          <p:nvPr/>
        </p:nvSpPr>
        <p:spPr>
          <a:xfrm>
            <a:off x="2587752" y="126187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94D2BD"/>
                </a:solidFill>
                <a:latin typeface="Cambria"/>
                <a:ea typeface="Cambria"/>
                <a:cs typeface="Cambria"/>
                <a:sym typeface="Cambria"/>
              </a:rPr>
              <a:t>16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2587752" y="173736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Raw predictive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features selected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4535424" y="1188720"/>
            <a:ext cx="1920240" cy="914400"/>
          </a:xfrm>
          <a:prstGeom prst="roundRect">
            <a:avLst>
              <a:gd fmla="val 7000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4626864" y="126187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E9B00"/>
                </a:solidFill>
                <a:latin typeface="Cambria"/>
                <a:ea typeface="Cambria"/>
                <a:cs typeface="Cambria"/>
                <a:sym typeface="Cambria"/>
              </a:rPr>
              <a:t>63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4626864" y="173736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Columns after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one-hot encoding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6574536" y="1188720"/>
            <a:ext cx="2103120" cy="914400"/>
          </a:xfrm>
          <a:prstGeom prst="roundRect">
            <a:avLst>
              <a:gd fmla="val 7000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6455675" y="1261875"/>
            <a:ext cx="2313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77,180 / 19,295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6665976" y="173736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Train / test rows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(stratified 80/20)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457200" y="22860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TARGET VARIABLE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B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is_late  —  1 if delivered after the estimated date, 0 if on time. Confirmed 8.1% positive rate preserved identically in both the train and test splits via stratification.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457200" y="315468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FEATURES USED (KNOWN AT ORDER TIME — NO LEAKAGE)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457200" y="3456432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Order/Payment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2240280" y="3456432"/>
            <a:ext cx="6446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item_count, price, freight_value, payment_installments, payment_type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457200" y="3785616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2240280" y="3785616"/>
            <a:ext cx="6446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product_weight_g, product_length_cm/height_cm/width_cm, product_volume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457200" y="411480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2240280" y="4114800"/>
            <a:ext cx="6446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order_hour, order_day_of_week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457200" y="4443984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Geography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2240280" y="4443984"/>
            <a:ext cx="6446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customer_state, seller_state, same_state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201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AE2012"/>
                </a:solidFill>
                <a:latin typeface="Calibri"/>
                <a:ea typeface="Calibri"/>
                <a:cs typeface="Calibri"/>
                <a:sym typeface="Calibri"/>
              </a:rPr>
              <a:t>Excluded by design: delivery_days, days_late, review_score — all only known after delivery, so including them would leak the answer into the prediction.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4 · MODELLING APPROACH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Machine Learning Models Used &amp; Why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457200" y="1188720"/>
            <a:ext cx="1572768" cy="3246120"/>
          </a:xfrm>
          <a:prstGeom prst="roundRect">
            <a:avLst>
              <a:gd fmla="val 348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8"/>
          <p:cNvSpPr/>
          <p:nvPr/>
        </p:nvSpPr>
        <p:spPr>
          <a:xfrm>
            <a:off x="457200" y="1188720"/>
            <a:ext cx="1572768" cy="502920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8"/>
          <p:cNvSpPr/>
          <p:nvPr/>
        </p:nvSpPr>
        <p:spPr>
          <a:xfrm>
            <a:off x="530352" y="1188720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548640" y="1810512"/>
            <a:ext cx="1389888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B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Interpretable baseline with probability outputs; a reference point every other model must beat.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2130552" y="1188720"/>
            <a:ext cx="1572768" cy="3246120"/>
          </a:xfrm>
          <a:prstGeom prst="roundRect">
            <a:avLst>
              <a:gd fmla="val 348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>
            <a:off x="2130552" y="1188720"/>
            <a:ext cx="1572768" cy="502920"/>
          </a:xfrm>
          <a:prstGeom prst="rect">
            <a:avLst/>
          </a:prstGeom>
          <a:solidFill>
            <a:srgbClr val="94D2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8"/>
          <p:cNvSpPr/>
          <p:nvPr/>
        </p:nvSpPr>
        <p:spPr>
          <a:xfrm>
            <a:off x="2203704" y="1188720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2221992" y="1810512"/>
            <a:ext cx="1389888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B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Visualisable rules (max_depth=6) for a human-readable view of what drives a late-order flag.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3803904" y="1188720"/>
            <a:ext cx="1572768" cy="3246120"/>
          </a:xfrm>
          <a:prstGeom prst="roundRect">
            <a:avLst>
              <a:gd fmla="val 348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>
            <a:off x="3803904" y="1188720"/>
            <a:ext cx="1572768" cy="502920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8"/>
          <p:cNvSpPr/>
          <p:nvPr/>
        </p:nvSpPr>
        <p:spPr>
          <a:xfrm>
            <a:off x="3877056" y="1188720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3895344" y="1810512"/>
            <a:ext cx="1389888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B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Ensemble of trees for a stronger, less overfit baseline plus feature-importance ranking.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5477256" y="1188720"/>
            <a:ext cx="1572768" cy="3246120"/>
          </a:xfrm>
          <a:prstGeom prst="roundRect">
            <a:avLst>
              <a:gd fmla="val 348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8"/>
          <p:cNvSpPr/>
          <p:nvPr/>
        </p:nvSpPr>
        <p:spPr>
          <a:xfrm>
            <a:off x="5477256" y="1188720"/>
            <a:ext cx="1572768" cy="502920"/>
          </a:xfrm>
          <a:prstGeom prst="rect">
            <a:avLst/>
          </a:prstGeom>
          <a:solidFill>
            <a:srgbClr val="6D8B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>
            <a:off x="5550408" y="1188720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K-Nearest Neighbours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5568696" y="1810512"/>
            <a:ext cx="1389888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B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Similarity-based approach as a non-parametric contrast to the other model families (K=11, elbow-selected).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7150608" y="1188720"/>
            <a:ext cx="1572768" cy="3246120"/>
          </a:xfrm>
          <a:prstGeom prst="roundRect">
            <a:avLst>
              <a:gd fmla="val 348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8"/>
          <p:cNvSpPr/>
          <p:nvPr/>
        </p:nvSpPr>
        <p:spPr>
          <a:xfrm>
            <a:off x="7150608" y="1188720"/>
            <a:ext cx="1572768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"/>
          <p:cNvSpPr/>
          <p:nvPr/>
        </p:nvSpPr>
        <p:spPr>
          <a:xfrm>
            <a:off x="7223760" y="1188720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7242048" y="1810512"/>
            <a:ext cx="1389888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B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Gradient boosting — expected top performer on tabular data; used scale_pos_weight for imbalance.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Selection rationale: the five models span the interpretability → performance spectrum, letting the paired t-test (Checkpoint 4 results) show whether the extra complexity of ensembles/boosting actually earns a statistically significant improvement over the simple baseline.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4 · MODELLING APPROACH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Model Training &amp; Testing Process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457200" y="1225296"/>
            <a:ext cx="310896" cy="310896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457200" y="122529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914400" y="120700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2880360" y="1207008"/>
            <a:ext cx="5806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Stratified 80/20 train/test split — 8.1% late rate preserved identically in both sets.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457200" y="1664208"/>
            <a:ext cx="310896" cy="310896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457200" y="16642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914400" y="16459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2880360" y="1645920"/>
            <a:ext cx="5806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StandardScaler fit on the training data only, then applied to test data (fit-on-train, transform-both — prevents leakage).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457200" y="2103120"/>
            <a:ext cx="310896" cy="310896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9"/>
          <p:cNvSpPr/>
          <p:nvPr/>
        </p:nvSpPr>
        <p:spPr>
          <a:xfrm>
            <a:off x="457200" y="21031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914400" y="208483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Balance (train only)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2880360" y="2084832"/>
            <a:ext cx="5806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SMOTE applied inside every cross-validation fold and once on the full training set before the final fit. The test set is never touched by SMOTE, so evaluation reflects the real 92:8 imbalance.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457200" y="2542032"/>
            <a:ext cx="310896" cy="310896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9"/>
          <p:cNvSpPr/>
          <p:nvPr/>
        </p:nvSpPr>
        <p:spPr>
          <a:xfrm>
            <a:off x="457200" y="254203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914400" y="25237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Cross-validate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2880360" y="2523744"/>
            <a:ext cx="5806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10-fold stratified cross-validation, F1-score as the primary metric, run through an imblearn Pipeline so SMOTE only ever sees training folds.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9"/>
          <p:cNvSpPr/>
          <p:nvPr/>
        </p:nvSpPr>
        <p:spPr>
          <a:xfrm>
            <a:off x="457200" y="298094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914400" y="296265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Tune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2880360" y="2962656"/>
            <a:ext cx="5806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RandomizedSearchCV (20 iterations, 5-fold, F1-scoring) tunes XGBoost's max_depth, learning_rate, n_estimators, subsample, and colsample_bytree; the tuned model is refit and re-evaluated.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457200" y="3419856"/>
            <a:ext cx="310896" cy="310896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9"/>
          <p:cNvSpPr/>
          <p:nvPr/>
        </p:nvSpPr>
        <p:spPr>
          <a:xfrm>
            <a:off x="457200" y="341985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914400" y="340156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Test &amp; threshold-tune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2880360" y="3401568"/>
            <a:ext cx="5806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Final fit evaluated once on the untouched test set; a precision-recall sweep finds the F1-maximising decision threshold for XGBoost.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4 · MODEL RESULTS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Model Comparison — Test Set Performance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9" name="Google Shape;329;p20"/>
          <p:cNvGraphicFramePr/>
          <p:nvPr/>
        </p:nvGraphicFramePr>
        <p:xfrm>
          <a:off x="36576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{7BC792B4-C4C3-4E2A-B687-9C69089A6BF5}</a:tableStyleId>
              </a:tblPr>
              <a:tblGrid>
                <a:gridCol w="1920250"/>
                <a:gridCol w="1079000"/>
                <a:gridCol w="1079000"/>
                <a:gridCol w="914400"/>
                <a:gridCol w="960125"/>
                <a:gridCol w="960125"/>
                <a:gridCol w="149962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ROC-AUC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 F1 (10-fold)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0.557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0.580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0.175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0.590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0.206 ± 0.02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0.557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0.555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0.169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0.560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0.153 ± 0.02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0.401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0.169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0.581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0.178 ± 0.02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KNN (K=11)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0.097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0.463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0.160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0.564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0.167 ± 0.02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0.162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0.611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0.160 ± 0.02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0" name="Google Shape;330;p20"/>
          <p:cNvSpPr/>
          <p:nvPr/>
        </p:nvSpPr>
        <p:spPr>
          <a:xfrm>
            <a:off x="365760" y="31546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Best F1-Score:  </a:t>
            </a:r>
            <a:r>
              <a:rPr b="0" i="0" lang="en-US" sz="11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Logistic Regression (0.175)   </a:t>
            </a: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    Best ROC-AUC:  </a:t>
            </a:r>
            <a:r>
              <a:rPr b="0" i="0" lang="en-US" sz="11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XGBoost (0.611)   </a:t>
            </a: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    Best Recall:  </a:t>
            </a:r>
            <a:r>
              <a:rPr b="0" i="0" lang="en-US" sz="11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XGBoost (89.3%)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365760" y="3657600"/>
            <a:ext cx="8412480" cy="960120"/>
          </a:xfrm>
          <a:prstGeom prst="roundRect">
            <a:avLst>
              <a:gd fmla="val 5714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0"/>
          <p:cNvSpPr/>
          <p:nvPr/>
        </p:nvSpPr>
        <p:spPr>
          <a:xfrm>
            <a:off x="548640" y="3767328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B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Paired t-test (10-fold CV F1, all model pairs): every pairwise difference is statistically significant at p &lt; 0.05. CV F1 (0.15–0.21) is consistent with the test-set F1 (0.16–0.18) shown above — a small, expected gap rather than a large unexplained one, confirming the leakage-free SMOTE-in-CV setup is behaving as intended.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/>
          <p:nvPr/>
        </p:nvSpPr>
        <p:spPr>
          <a:xfrm>
            <a:off x="228600" y="8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4 · MODEL RESULTS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118875" y="17479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ROC Curves &amp; </a:t>
            </a:r>
            <a:r>
              <a:rPr b="1" lang="en-US" sz="2400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Confusion Matrices </a:t>
            </a: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— All Five Models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225" y="723500"/>
            <a:ext cx="3874924" cy="270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1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350" y="3343550"/>
            <a:ext cx="8051301" cy="15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1"/>
          <p:cNvSpPr/>
          <p:nvPr/>
        </p:nvSpPr>
        <p:spPr>
          <a:xfrm>
            <a:off x="4806575" y="1170825"/>
            <a:ext cx="3688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ROC-AUC of 0.56–0.61 across all five models — genuine but modest ranking ability, well short of a strong classifier.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457200" y="4934878"/>
            <a:ext cx="8229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XGBoost catches the most late orders (highest recall) but at the cost of far more false alarms than the other models.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2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4 · MODEL RESULTS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Threshold Tuning &amp; Confusion Matrix (XGBoost)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457200" y="1188720"/>
            <a:ext cx="1920240" cy="914400"/>
          </a:xfrm>
          <a:prstGeom prst="roundRect">
            <a:avLst>
              <a:gd fmla="val 7000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2"/>
          <p:cNvSpPr/>
          <p:nvPr/>
        </p:nvSpPr>
        <p:spPr>
          <a:xfrm>
            <a:off x="548640" y="126187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A9396"/>
                </a:solidFill>
                <a:latin typeface="Cambria"/>
                <a:ea typeface="Cambria"/>
                <a:cs typeface="Cambria"/>
                <a:sym typeface="Cambria"/>
              </a:rPr>
              <a:t>0.728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548640" y="173736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Tuned decision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threshold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2496312" y="1188720"/>
            <a:ext cx="1920240" cy="914400"/>
          </a:xfrm>
          <a:prstGeom prst="roundRect">
            <a:avLst>
              <a:gd fmla="val 7000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2"/>
          <p:cNvSpPr/>
          <p:nvPr/>
        </p:nvSpPr>
        <p:spPr>
          <a:xfrm>
            <a:off x="2587752" y="126187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94D2BD"/>
                </a:solidFill>
                <a:latin typeface="Cambria"/>
                <a:ea typeface="Cambria"/>
                <a:cs typeface="Cambria"/>
                <a:sym typeface="Cambria"/>
              </a:rPr>
              <a:t>0.192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2587752" y="173736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F1 at tuned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threshold (vs 0.162)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4535424" y="1188720"/>
            <a:ext cx="1920240" cy="914400"/>
          </a:xfrm>
          <a:prstGeom prst="roundRect">
            <a:avLst>
              <a:gd fmla="val 7000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2"/>
          <p:cNvSpPr/>
          <p:nvPr/>
        </p:nvSpPr>
        <p:spPr>
          <a:xfrm>
            <a:off x="4626864" y="126187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E9B00"/>
                </a:solidFill>
                <a:latin typeface="Cambria"/>
                <a:ea typeface="Cambria"/>
                <a:cs typeface="Cambria"/>
                <a:sym typeface="Cambria"/>
              </a:rPr>
              <a:t>46.3%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4626864" y="173736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Recall at tuned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threshold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6574536" y="1188720"/>
            <a:ext cx="2103120" cy="914400"/>
          </a:xfrm>
          <a:prstGeom prst="roundRect">
            <a:avLst>
              <a:gd fmla="val 7000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2"/>
          <p:cNvSpPr/>
          <p:nvPr/>
        </p:nvSpPr>
        <p:spPr>
          <a:xfrm>
            <a:off x="6665976" y="126187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201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AE2012"/>
                </a:solidFill>
                <a:latin typeface="Cambria"/>
                <a:ea typeface="Cambria"/>
                <a:cs typeface="Cambria"/>
                <a:sym typeface="Cambria"/>
              </a:rPr>
              <a:t>87.9%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6665976" y="173736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False alarm 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at tuned threshold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457200" y="23317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CONFUSION MATRIX AT TUNED THRESHOLD  (test set, n = 19,295)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5" name="Google Shape;365;p22"/>
          <p:cNvGraphicFramePr/>
          <p:nvPr/>
        </p:nvGraphicFramePr>
        <p:xfrm>
          <a:off x="457200" y="2651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{7BC792B4-C4C3-4E2A-B687-9C69089A6BF5}</a:tableStyleId>
              </a:tblPr>
              <a:tblGrid>
                <a:gridCol w="1737350"/>
                <a:gridCol w="1554475"/>
                <a:gridCol w="15544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Predicted On-Time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Predicted Late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 On-Time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TN = 12,496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 = 5,234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 Late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FN = 841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TP = 724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6" name="Google Shape;366;p22"/>
          <p:cNvSpPr/>
          <p:nvPr/>
        </p:nvSpPr>
        <p:spPr>
          <a:xfrm>
            <a:off x="5486400" y="265176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What this means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5486400" y="2944368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The model catches under half of true late orders (recall 46%) and flags almost 9 false alarms for every real catch (precision 12%). Useful only as an early-warning signal for human review — not for automated action.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4 · INTERPRETATION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What the Model Results Mean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457200" y="1188720"/>
            <a:ext cx="8229600" cy="841248"/>
          </a:xfrm>
          <a:prstGeom prst="roundRect">
            <a:avLst>
              <a:gd fmla="val 6522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640080" y="12618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Ranking ability exists, precision does not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640080" y="155448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ROC-AUC of 0.56–0.61 across all five models shows genuine, if modest, discriminatory power — the models can rank orders by risk better than random. But at any single decision threshold, precision stays under 13%, meaning most 'late' flags are false alarms.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457200" y="2103120"/>
            <a:ext cx="8229600" cy="841248"/>
          </a:xfrm>
          <a:prstGeom prst="roundRect">
            <a:avLst>
              <a:gd fmla="val 6522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640080" y="21762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Recall vs. precision is a real trade-off here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640080" y="246888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XGBoost trades almost all precision for recall (89% recall, 9% precision) — it flags most true late orders but drowns them in false positives. Logistic Regression sits closer to balanced (58% recall, 10% precision, best F1).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457200" y="3017520"/>
            <a:ext cx="8229600" cy="841248"/>
          </a:xfrm>
          <a:prstGeom prst="roundRect">
            <a:avLst>
              <a:gd fmla="val 6522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640080" y="30906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 imbalance problem was correctly handled, not solved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640080" y="338328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SMOTE + leakage-free CV + F1/AUC scoring did their job — CV and test F1 now agree (≈0.16–0.21) as shown on the results slide. The low absolute scores reflect a hard problem, not a broken pipeline.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457200" y="3931920"/>
            <a:ext cx="8229600" cy="841248"/>
          </a:xfrm>
          <a:prstGeom prst="roundRect">
            <a:avLst>
              <a:gd fmla="val 6522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3"/>
          <p:cNvSpPr/>
          <p:nvPr/>
        </p:nvSpPr>
        <p:spPr>
          <a:xfrm>
            <a:off x="640080" y="40050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Order-level features have a performance ceiling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640080" y="429768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Even the best model (XGBoost, AUC 0.611) is well short of a strong classifier. This points to missing information — not a fixable modelling error — as the main limiter (see Limitations).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4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4 · MODEL RESULTS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Feature Importance — Random Forest vs. XGBoost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5" name="Google Shape;3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08165"/>
            <a:ext cx="8229600" cy="2833668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4"/>
          <p:cNvSpPr/>
          <p:nvPr/>
        </p:nvSpPr>
        <p:spPr>
          <a:xfrm>
            <a:off x="457200" y="4261834"/>
            <a:ext cx="82296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Geography (customer_state) and order-timing features dominate both models' importance rankings.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5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4 · SUPERVISOR FEEDBACK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5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Addressing Checkpoint 3 Feedback (1/2)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5"/>
          <p:cNvSpPr/>
          <p:nvPr/>
        </p:nvSpPr>
        <p:spPr>
          <a:xfrm>
            <a:off x="457200" y="1170432"/>
            <a:ext cx="8229600" cy="1627632"/>
          </a:xfrm>
          <a:prstGeom prst="roundRect">
            <a:avLst>
              <a:gd fmla="val 3371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5"/>
          <p:cNvSpPr/>
          <p:nvPr/>
        </p:nvSpPr>
        <p:spPr>
          <a:xfrm>
            <a:off x="640080" y="1261872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Q1 — Is a 0.16–0.17 F1-score useful in a real logistics system, or does it create too many false alarms?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640080" y="1700784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At the default threshold, XGBoost's 89% recall comes with only 9% precision — roughly 10 of every 11 flags are false alarms; the false-alarm rate stays at 88% even at the tuned threshold. Used as an automated trigger, this would indeed create far too much noise.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5"/>
          <p:cNvSpPr/>
          <p:nvPr/>
        </p:nvSpPr>
        <p:spPr>
          <a:xfrm>
            <a:off x="640080" y="2231136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920"/>
              <a:buFont typeface="Calibri"/>
              <a:buNone/>
            </a:pPr>
            <a:r>
              <a:rPr b="1" i="0" lang="en-US" sz="92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Fix: </a:t>
            </a:r>
            <a:r>
              <a:rPr b="0" i="0" lang="en-US" sz="92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don't use it as a binary automated trigger. ROC-AUC of 0.611 shows real ranking ability, so the model is repositioned as a risk-based triage tool — review the top-N% highest-risk orders each day (capacity-bounded), not every flagged order. High recall becomes an asset for that use case rather than a liability.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5"/>
          <p:cNvSpPr/>
          <p:nvPr/>
        </p:nvSpPr>
        <p:spPr>
          <a:xfrm>
            <a:off x="457200" y="2907792"/>
            <a:ext cx="8229600" cy="1627632"/>
          </a:xfrm>
          <a:prstGeom prst="roundRect">
            <a:avLst>
              <a:gd fmla="val 3371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5"/>
          <p:cNvSpPr/>
          <p:nvPr/>
        </p:nvSpPr>
        <p:spPr>
          <a:xfrm>
            <a:off x="640080" y="2999232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Q2 — Does LabelEncoder create a false numeric relationship between states? What encoding is better?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5"/>
          <p:cNvSpPr/>
          <p:nvPr/>
        </p:nvSpPr>
        <p:spPr>
          <a:xfrm>
            <a:off x="640080" y="3438144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Yes. Checkpoint 3 encoded customer_state/seller_state with LabelEncoder, assigning arbitrary integers (AC=0, AL=1, AM=2…) that imply an ordinal relationship and numeric “distance” between states that doesn't exist — most damaging for Logistic Regression and KNN, which use those integers directly in coefficients/distances.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5"/>
          <p:cNvSpPr/>
          <p:nvPr/>
        </p:nvSpPr>
        <p:spPr>
          <a:xfrm>
            <a:off x="640080" y="3968496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920"/>
              <a:buFont typeface="Calibri"/>
              <a:buNone/>
            </a:pPr>
            <a:r>
              <a:rPr b="1" i="0" lang="en-US" sz="92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Fix: </a:t>
            </a:r>
            <a:r>
              <a:rPr b="0" i="0" lang="en-US" sz="92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switched to one-hot encoding for customer_state, seller_state, and payment_type in the final pipeline (16 → 63 columns) — each state is now an independent binary column with no implied order. Target/frequency encoding is noted as a future option to cut dimensionality without reintroducing false ordinality.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6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CHECKPOINT 4 · SUPERVISOR FEEDBACK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6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Addressing Checkpoint 3 Feedback (2/2)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6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Q3 — What additional data would make this model more reliable for real-world late-delivery prediction?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6"/>
          <p:cNvSpPr/>
          <p:nvPr/>
        </p:nvSpPr>
        <p:spPr>
          <a:xfrm>
            <a:off x="457200" y="157276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Section 4.6 traced the model's performance ceiling (ROC-AUC ≈ 0.61) to missing operational information rather than a fixable modelling error. The following external data sources would plausibly close that gap: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6"/>
          <p:cNvSpPr/>
          <p:nvPr/>
        </p:nvSpPr>
        <p:spPr>
          <a:xfrm>
            <a:off x="457200" y="2148840"/>
            <a:ext cx="1572768" cy="2286000"/>
          </a:xfrm>
          <a:prstGeom prst="roundRect">
            <a:avLst>
              <a:gd fmla="val 348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6"/>
          <p:cNvSpPr/>
          <p:nvPr/>
        </p:nvSpPr>
        <p:spPr>
          <a:xfrm>
            <a:off x="566928" y="2267712"/>
            <a:ext cx="13533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Carrier tracking / scan events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6"/>
          <p:cNvSpPr/>
          <p:nvPr/>
        </p:nvSpPr>
        <p:spPr>
          <a:xfrm>
            <a:off x="566928" y="2852928"/>
            <a:ext cx="135331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In-transit milestones (hub arrival/departure, out-for-delivery) so risk can update as an order progresses, not just at purchase.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6"/>
          <p:cNvSpPr/>
          <p:nvPr/>
        </p:nvSpPr>
        <p:spPr>
          <a:xfrm>
            <a:off x="2130552" y="2148840"/>
            <a:ext cx="1572768" cy="2286000"/>
          </a:xfrm>
          <a:prstGeom prst="roundRect">
            <a:avLst>
              <a:gd fmla="val 348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6"/>
          <p:cNvSpPr/>
          <p:nvPr/>
        </p:nvSpPr>
        <p:spPr>
          <a:xfrm>
            <a:off x="2240280" y="2267712"/>
            <a:ext cx="13533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Seller dispatch latency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6"/>
          <p:cNvSpPr/>
          <p:nvPr/>
        </p:nvSpPr>
        <p:spPr>
          <a:xfrm>
            <a:off x="2240280" y="2852928"/>
            <a:ext cx="135331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Time between order placement and hand-off to carrier — not currently isolated from total delivery time.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3803904" y="2148840"/>
            <a:ext cx="1572768" cy="2286000"/>
          </a:xfrm>
          <a:prstGeom prst="roundRect">
            <a:avLst>
              <a:gd fmla="val 348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6"/>
          <p:cNvSpPr/>
          <p:nvPr/>
        </p:nvSpPr>
        <p:spPr>
          <a:xfrm>
            <a:off x="3913632" y="2267712"/>
            <a:ext cx="13533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Precise shipment distance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3913632" y="2852928"/>
            <a:ext cx="135331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Actual geodesic/road distance between seller and customer, replacing the coarse same_state flag.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5477256" y="2148840"/>
            <a:ext cx="1572768" cy="2286000"/>
          </a:xfrm>
          <a:prstGeom prst="roundRect">
            <a:avLst>
              <a:gd fmla="val 348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6"/>
          <p:cNvSpPr/>
          <p:nvPr/>
        </p:nvSpPr>
        <p:spPr>
          <a:xfrm>
            <a:off x="5586984" y="2267712"/>
            <a:ext cx="13533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Weather &amp; calendar effects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5586984" y="2852928"/>
            <a:ext cx="135331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Adverse weather and public holidays along the delivery route — flagged repeatedly in the literature reviewed.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7150608" y="2148840"/>
            <a:ext cx="1572768" cy="2286000"/>
          </a:xfrm>
          <a:prstGeom prst="roundRect">
            <a:avLst>
              <a:gd fmla="val 348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6"/>
          <p:cNvSpPr/>
          <p:nvPr/>
        </p:nvSpPr>
        <p:spPr>
          <a:xfrm>
            <a:off x="7260336" y="2267712"/>
            <a:ext cx="13533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Seller / carrier track record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7260336" y="2852928"/>
            <a:ext cx="135331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Rolling historical on-time rate per seller and per carrier, as a proxy for operational risk.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These needs map directly onto the Future Improvements in Section 5.4 — the most concrete, evidence-based path to a materially more reliable model.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7"/>
          <p:cNvSpPr/>
          <p:nvPr/>
        </p:nvSpPr>
        <p:spPr>
          <a:xfrm>
            <a:off x="640080" y="141732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8000"/>
              <a:buFont typeface="Cambria"/>
              <a:buNone/>
            </a:pPr>
            <a:r>
              <a:rPr b="1" i="0" lang="en-US" sz="8000" u="none" cap="none" strike="noStrike">
                <a:solidFill>
                  <a:srgbClr val="0A9396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7"/>
          <p:cNvSpPr/>
          <p:nvPr/>
        </p:nvSpPr>
        <p:spPr>
          <a:xfrm>
            <a:off x="685800" y="1234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E9B00"/>
                </a:solidFill>
                <a:latin typeface="Calibri"/>
                <a:ea typeface="Calibri"/>
                <a:cs typeface="Calibri"/>
                <a:sym typeface="Calibri"/>
              </a:rPr>
              <a:t>FINAL SYNTHESIS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7"/>
          <p:cNvSpPr/>
          <p:nvPr/>
        </p:nvSpPr>
        <p:spPr>
          <a:xfrm>
            <a:off x="685800" y="2514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Findings, Recommendations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&amp; Conclusion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7"/>
          <p:cNvSpPr/>
          <p:nvPr/>
        </p:nvSpPr>
        <p:spPr>
          <a:xfrm>
            <a:off x="685800" y="3794760"/>
            <a:ext cx="7589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Key Findings  ·  Recommendations  ·  Limitations  ·  Future Work  ·  Conclusion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7"/>
          <p:cNvSpPr/>
          <p:nvPr/>
        </p:nvSpPr>
        <p:spPr>
          <a:xfrm>
            <a:off x="7955280" y="-731520"/>
            <a:ext cx="2011680" cy="2011680"/>
          </a:xfrm>
          <a:prstGeom prst="ellipse">
            <a:avLst/>
          </a:prstGeom>
          <a:solidFill>
            <a:srgbClr val="0A939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8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FINAL FINDINGS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8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What the Full Analysis Tells Us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8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fmla="val 411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8"/>
          <p:cNvSpPr/>
          <p:nvPr/>
        </p:nvSpPr>
        <p:spPr>
          <a:xfrm>
            <a:off x="640080" y="129844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Geography is the strongest reliable driver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8"/>
          <p:cNvSpPr/>
          <p:nvPr/>
        </p:nvSpPr>
        <p:spPr>
          <a:xfrm>
            <a:off x="640080" y="1755648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State-level late rates range from 2.9% (RO) to 23.9% (AL) against an 8.1% national average — by far the clearest, most actionable pattern in the data.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8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fmla="val 411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8"/>
          <p:cNvSpPr/>
          <p:nvPr/>
        </p:nvSpPr>
        <p:spPr>
          <a:xfrm>
            <a:off x="4846320" y="129844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Class imbalance makes accuracy meaningless here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8"/>
          <p:cNvSpPr/>
          <p:nvPr/>
        </p:nvSpPr>
        <p:spPr>
          <a:xfrm>
            <a:off x="4846320" y="1755648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All five models plateau at 0.16–0.18 test F1 despite SMOTE — a stable, expected result once accuracy is dropped in favour of F1/ROC-AUC.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8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fmla="val 411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8"/>
          <p:cNvSpPr/>
          <p:nvPr/>
        </p:nvSpPr>
        <p:spPr>
          <a:xfrm>
            <a:off x="640080" y="299008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XGBoost is the best risk-ranking model, not a precise classifier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8"/>
          <p:cNvSpPr/>
          <p:nvPr/>
        </p:nvSpPr>
        <p:spPr>
          <a:xfrm>
            <a:off x="640080" y="3447288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Best ROC-AUC (0.611) and recall (89%) make it the strongest early-warning candidate; its low precision (9%) means it cannot drive automated action on its own.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fmla="val 411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8"/>
          <p:cNvSpPr/>
          <p:nvPr/>
        </p:nvSpPr>
        <p:spPr>
          <a:xfrm>
            <a:off x="4846320" y="299008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Order-level features carry only weak individual signal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8"/>
          <p:cNvSpPr/>
          <p:nvPr/>
        </p:nvSpPr>
        <p:spPr>
          <a:xfrm>
            <a:off x="4846320" y="3447288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same_state and freight_value are the strongest usable correlates of lateness, and both are weak (|r| &lt; 0.06) — the dataset is missing the operational data that most likely explains most lateness.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9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FINAL SYNTHESIS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9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Recommendations &amp; Limitations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9"/>
          <p:cNvSpPr/>
          <p:nvPr/>
        </p:nvSpPr>
        <p:spPr>
          <a:xfrm>
            <a:off x="457200" y="1463040"/>
            <a:ext cx="4023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3B44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Deploy the tuned XGBoost model as an early-warning flag routed to human review — not as an automated trigger, given its low precision.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A3B44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Prioritise logistics investment by state — geography is the most actionable, reliable signal identified in this project.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A3B44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Add a seller-level historical late-rate feature as a proxy for operational risk not otherwise captured.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A3B44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Enrich the dataset with carrier tracking events, weather, and warehouse dispatch-time data before expecting materially better precision.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9"/>
          <p:cNvSpPr/>
          <p:nvPr/>
        </p:nvSpPr>
        <p:spPr>
          <a:xfrm>
            <a:off x="4709160" y="11430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201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AE2012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9"/>
          <p:cNvSpPr/>
          <p:nvPr/>
        </p:nvSpPr>
        <p:spPr>
          <a:xfrm>
            <a:off x="4709160" y="1463040"/>
            <a:ext cx="4023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3B44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ROC-AUC ceiling of ~0.56–0.61 suggests this feature set has a low performance ceiling regardless of model choice.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A3B44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SMOTE fixes training-set balance, not the underlying information gap — precision stays low at any usable recall.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A3B44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The KNN elbow search selected K on SMOTE-resampled data rather than isolating it to training folds only — a mild leakage risk flagged for future iterations.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A3B44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2A3B44"/>
                </a:solidFill>
                <a:latin typeface="Calibri"/>
                <a:ea typeface="Calibri"/>
                <a:cs typeface="Calibri"/>
                <a:sym typeface="Calibri"/>
              </a:rPr>
              <a:t>A feature-name/column-index mismatch in the feature-importance and decision-tree plots was identified and corrected during Checkpoint 4 QA; rankings should be treated as indicative pending a final re-run.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9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FINAL SYNTHESIS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Future Improvements &amp; Conclusion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0"/>
          <p:cNvSpPr/>
          <p:nvPr/>
        </p:nvSpPr>
        <p:spPr>
          <a:xfrm>
            <a:off x="457200" y="11430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FUTURE IMPROVEMENTS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0"/>
          <p:cNvSpPr/>
          <p:nvPr/>
        </p:nvSpPr>
        <p:spPr>
          <a:xfrm>
            <a:off x="457200" y="1463040"/>
            <a:ext cx="1984248" cy="1325880"/>
          </a:xfrm>
          <a:prstGeom prst="roundRect">
            <a:avLst>
              <a:gd fmla="val 413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0"/>
          <p:cNvSpPr/>
          <p:nvPr/>
        </p:nvSpPr>
        <p:spPr>
          <a:xfrm>
            <a:off x="566928" y="1572768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Cost-sensitive learning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0"/>
          <p:cNvSpPr/>
          <p:nvPr/>
        </p:nvSpPr>
        <p:spPr>
          <a:xfrm>
            <a:off x="566928" y="2029968"/>
            <a:ext cx="176479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Explore focal loss / class-weighted objectives alongside or instead of SMOTE.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0"/>
          <p:cNvSpPr/>
          <p:nvPr/>
        </p:nvSpPr>
        <p:spPr>
          <a:xfrm>
            <a:off x="2532888" y="1463040"/>
            <a:ext cx="1984248" cy="1325880"/>
          </a:xfrm>
          <a:prstGeom prst="roundRect">
            <a:avLst>
              <a:gd fmla="val 413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0"/>
          <p:cNvSpPr/>
          <p:nvPr/>
        </p:nvSpPr>
        <p:spPr>
          <a:xfrm>
            <a:off x="2642616" y="1572768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Seller history features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0"/>
          <p:cNvSpPr/>
          <p:nvPr/>
        </p:nvSpPr>
        <p:spPr>
          <a:xfrm>
            <a:off x="2642616" y="2029968"/>
            <a:ext cx="176479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Merge seller-level historical on-time rate as a leakage-safe proxy for operational risk.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0"/>
          <p:cNvSpPr/>
          <p:nvPr/>
        </p:nvSpPr>
        <p:spPr>
          <a:xfrm>
            <a:off x="4608576" y="1463040"/>
            <a:ext cx="1984248" cy="1325880"/>
          </a:xfrm>
          <a:prstGeom prst="roundRect">
            <a:avLst>
              <a:gd fmla="val 413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0"/>
          <p:cNvSpPr/>
          <p:nvPr/>
        </p:nvSpPr>
        <p:spPr>
          <a:xfrm>
            <a:off x="4718304" y="1572768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External enrichment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0"/>
          <p:cNvSpPr/>
          <p:nvPr/>
        </p:nvSpPr>
        <p:spPr>
          <a:xfrm>
            <a:off x="4718304" y="2029968"/>
            <a:ext cx="176479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Bring in weather, public holidays, and carrier tracking events.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0"/>
          <p:cNvSpPr/>
          <p:nvPr/>
        </p:nvSpPr>
        <p:spPr>
          <a:xfrm>
            <a:off x="6684264" y="1463040"/>
            <a:ext cx="1984248" cy="1325880"/>
          </a:xfrm>
          <a:prstGeom prst="roundRect">
            <a:avLst>
              <a:gd fmla="val 4138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0"/>
          <p:cNvSpPr/>
          <p:nvPr/>
        </p:nvSpPr>
        <p:spPr>
          <a:xfrm>
            <a:off x="6793992" y="1572768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Smarter encoding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0"/>
          <p:cNvSpPr/>
          <p:nvPr/>
        </p:nvSpPr>
        <p:spPr>
          <a:xfrm>
            <a:off x="6793992" y="2029968"/>
            <a:ext cx="176479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Try target/frequency encoding for state features to cut the 63-column one-hot footprint and sharpen feature-importance interpretation.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0"/>
          <p:cNvSpPr/>
          <p:nvPr/>
        </p:nvSpPr>
        <p:spPr>
          <a:xfrm>
            <a:off x="457200" y="3063240"/>
            <a:ext cx="8229600" cy="1554480"/>
          </a:xfrm>
          <a:prstGeom prst="roundRect">
            <a:avLst>
              <a:gd fmla="val 4706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0"/>
          <p:cNvSpPr/>
          <p:nvPr/>
        </p:nvSpPr>
        <p:spPr>
          <a:xfrm>
            <a:off x="685800" y="32004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E9B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0"/>
          <p:cNvSpPr/>
          <p:nvPr/>
        </p:nvSpPr>
        <p:spPr>
          <a:xfrm>
            <a:off x="685800" y="3493008"/>
            <a:ext cx="7772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project delivered a complete, leakage-free pipeline — from raw Olist tables through EDA, feature engineering, five compared classifiers, and statistical validation — to predict late deliveries. The strongest, most actionable finding is geographic: late rates triple across Brazilian states, a clear lever for operational fixes. The models themselves confirm genuine but modest predictive signal (ROC-AUC ≈ 0.61) rather than a strong classifier, correctly reflecting that order-level data alone cannot fully explain delivery lateness — richer, external logistics data is the natural next step.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0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1"/>
          <p:cNvSpPr/>
          <p:nvPr/>
        </p:nvSpPr>
        <p:spPr>
          <a:xfrm>
            <a:off x="6949440" y="-1463040"/>
            <a:ext cx="4023360" cy="4023360"/>
          </a:xfrm>
          <a:prstGeom prst="ellipse">
            <a:avLst/>
          </a:prstGeom>
          <a:solidFill>
            <a:srgbClr val="0A9396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1"/>
          <p:cNvSpPr/>
          <p:nvPr/>
        </p:nvSpPr>
        <p:spPr>
          <a:xfrm>
            <a:off x="-1097280" y="3291840"/>
            <a:ext cx="2926080" cy="2926080"/>
          </a:xfrm>
          <a:prstGeom prst="ellipse">
            <a:avLst/>
          </a:prstGeom>
          <a:solidFill>
            <a:srgbClr val="EE9B00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1"/>
          <p:cNvSpPr/>
          <p:nvPr/>
        </p:nvSpPr>
        <p:spPr>
          <a:xfrm>
            <a:off x="685800" y="13716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1"/>
          <p:cNvSpPr/>
          <p:nvPr/>
        </p:nvSpPr>
        <p:spPr>
          <a:xfrm>
            <a:off x="685800" y="21945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Questions &amp; Feedback Welcome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1"/>
          <p:cNvSpPr/>
          <p:nvPr/>
        </p:nvSpPr>
        <p:spPr>
          <a:xfrm>
            <a:off x="685800" y="2880360"/>
            <a:ext cx="1920240" cy="914400"/>
          </a:xfrm>
          <a:prstGeom prst="roundRect">
            <a:avLst>
              <a:gd fmla="val 7000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1"/>
          <p:cNvSpPr/>
          <p:nvPr/>
        </p:nvSpPr>
        <p:spPr>
          <a:xfrm>
            <a:off x="777240" y="295351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A9396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1"/>
          <p:cNvSpPr/>
          <p:nvPr/>
        </p:nvSpPr>
        <p:spPr>
          <a:xfrm>
            <a:off x="777240" y="342900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compared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1"/>
          <p:cNvSpPr/>
          <p:nvPr/>
        </p:nvSpPr>
        <p:spPr>
          <a:xfrm>
            <a:off x="2724912" y="2880360"/>
            <a:ext cx="1920240" cy="914400"/>
          </a:xfrm>
          <a:prstGeom prst="roundRect">
            <a:avLst>
              <a:gd fmla="val 7000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1"/>
          <p:cNvSpPr/>
          <p:nvPr/>
        </p:nvSpPr>
        <p:spPr>
          <a:xfrm>
            <a:off x="2816352" y="295351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94D2BD"/>
                </a:solidFill>
                <a:latin typeface="Cambria"/>
                <a:ea typeface="Cambria"/>
                <a:cs typeface="Cambria"/>
                <a:sym typeface="Cambria"/>
              </a:rPr>
              <a:t>0.611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1"/>
          <p:cNvSpPr/>
          <p:nvPr/>
        </p:nvSpPr>
        <p:spPr>
          <a:xfrm>
            <a:off x="2816352" y="342900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Best ROC-AUC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(XGBoost)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1"/>
          <p:cNvSpPr/>
          <p:nvPr/>
        </p:nvSpPr>
        <p:spPr>
          <a:xfrm>
            <a:off x="4764024" y="2880360"/>
            <a:ext cx="1920240" cy="914400"/>
          </a:xfrm>
          <a:prstGeom prst="roundRect">
            <a:avLst>
              <a:gd fmla="val 7000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1"/>
          <p:cNvSpPr/>
          <p:nvPr/>
        </p:nvSpPr>
        <p:spPr>
          <a:xfrm>
            <a:off x="4855464" y="295351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9B00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E9B00"/>
                </a:solidFill>
                <a:latin typeface="Cambria"/>
                <a:ea typeface="Cambria"/>
                <a:cs typeface="Cambria"/>
                <a:sym typeface="Cambria"/>
              </a:rPr>
              <a:t>8.1%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1"/>
          <p:cNvSpPr/>
          <p:nvPr/>
        </p:nvSpPr>
        <p:spPr>
          <a:xfrm>
            <a:off x="4855464" y="342900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Late-delivery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1"/>
          <p:cNvSpPr/>
          <p:nvPr/>
        </p:nvSpPr>
        <p:spPr>
          <a:xfrm>
            <a:off x="6803136" y="2880360"/>
            <a:ext cx="1883664" cy="914400"/>
          </a:xfrm>
          <a:prstGeom prst="roundRect">
            <a:avLst>
              <a:gd fmla="val 7000" name="adj"/>
            </a:avLst>
          </a:prstGeom>
          <a:solidFill>
            <a:srgbClr val="F4F8F7"/>
          </a:solidFill>
          <a:ln>
            <a:noFill/>
          </a:ln>
          <a:effectLst>
            <a:outerShdw blurRad="1290319950" rotWithShape="0" algn="bl" dist="48387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1"/>
          <p:cNvSpPr/>
          <p:nvPr/>
        </p:nvSpPr>
        <p:spPr>
          <a:xfrm>
            <a:off x="6894576" y="2953512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8A6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9D8A6"/>
                </a:solidFill>
                <a:latin typeface="Cambria"/>
                <a:ea typeface="Cambria"/>
                <a:cs typeface="Cambria"/>
                <a:sym typeface="Cambria"/>
              </a:rPr>
              <a:t>23.9%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1"/>
          <p:cNvSpPr/>
          <p:nvPr/>
        </p:nvSpPr>
        <p:spPr>
          <a:xfrm>
            <a:off x="6894576" y="3429000"/>
            <a:ext cx="17007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Highest-risk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state 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1"/>
          <p:cNvSpPr/>
          <p:nvPr/>
        </p:nvSpPr>
        <p:spPr>
          <a:xfrm>
            <a:off x="685800" y="434340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Renato Silva   |   Sandra Raj Pattuvakkaran   |   Sudarsh Mekkampurath Sajeev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1"/>
          <p:cNvSpPr/>
          <p:nvPr/>
        </p:nvSpPr>
        <p:spPr>
          <a:xfrm>
            <a:off x="685800" y="4645152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DA01 — Data Analytics  |  University of Europe for Applied Sciences — Dubai  |  Checkpoint 4  |  July 4, 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