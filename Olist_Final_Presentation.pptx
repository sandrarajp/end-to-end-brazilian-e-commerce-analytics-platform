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final checkpoint presentation combining all work from checkpoints 1 and 2. We built a complete end-to-end ETL pipeline: Kaggle API ingestion → Python/Pandas transformation → PostgreSQL 3NF load → Airflow orchestration → Power BI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engineering problem: 9 separate files that cannot answer any business question on their own. You need joins across multiple tables to calculate delivery time, revenue by region, or seller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clear layers matching the IBM data architecture model from your checkpoint 1. Source → Integration/Transform → Access &amp; Consumption. Each layer has one job and hands off cleanly to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7-stage pipeline. Each stage has one responsibility. The architecture diagram at the top is the actual diagram from your project. Below is a recreation with the key detail for each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decision has a documented reason. Nothing dropped without justification. The feature engineering step creates two derived KPIs directly in the transform stage so Power BI queries are simpler.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ER diagram is the actual one from your project. Walk through: Customers → Orders → Order Items (bridge table connecting to Products and Sellers) → Payments and Reviews branch off Orders. Geolocation connects via zip code prefix.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why order_items (84,439) &gt; orders (74,581): one order can contain multiple products. Payments (77,931) &gt; orders because some customers split across credit card + voucher. Products and Sellers don't split — they serve both 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PythonOperator and not BashOperator? Because the logic requires Pandas and SQLAlchemy — Python libraries needing a full Python environment. The @daily schedule means the pipeline runs without anyone pressing a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Airflow screenshot from your project — all four tasks show green success status. The left panel shows prior runs with the validate task having some red runs (earlier failures before fixes) then going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ACID validation proves the pipeline is not just working once — it works on data it has never seen. 4/4 checks pass, row count matches exactly. This is the key quality proof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tab. The year slicer (2016/2017/2018) on the left filters all visuals. Orders over time shows a clear growth curve from ~250/month to 6,000+/month. São Paulo alone accounts for 42% of all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tab. The DeliveryDays column was calculated in the transform stage as a derived feature — this is where the feature engineering pays off. Amazonas is slow because of geography; São Paulo has same-day fulfilment centres.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Commerce tab. Health &amp; Beauty tops revenue at ~R$1M. The median review score of 5.00 is technically accurate but masks a bimodal distribution — 5-star is most common but 1-star is third most common. The chart shows this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numbers are the headline deliverables. The zero FK violations on unseen data is the most important engineering proof. The business insights are only possible because the pipeline correctly structured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challenge had a root cause and a concrete fix. The most technically complex was the WSL → Windows PostgreSQL networking. The pg_hba.conf and /etc/resolv.conf solution is a real production networking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concrete improvements prioritised by impact. UPSERT is the highest priority — without it the pipeline cannot run incrementally. Cloud storage is second — it removes the biggest operational dependency.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emphasising the two engineering proofs: (1) the Airflow DAG ran successfully with all 4 tasks green, and (2) zero FK violations on the 25% unseen test set. The business insights are the output — the pipeline is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B4D8"/>
          </a:solidFill>
          <a:ln w="12700">
            <a:solidFill>
              <a:srgbClr val="00B4D8"/>
            </a:solidFill>
            <a:prstDash val="solid"/>
          </a:ln>
        </p:spPr>
      </p:sp>
      <p:sp>
        <p:nvSpPr>
          <p:cNvPr id="3" name="Shape 1"/>
          <p:cNvSpPr/>
          <p:nvPr/>
        </p:nvSpPr>
        <p:spPr>
          <a:xfrm>
            <a:off x="0" y="109728"/>
            <a:ext cx="109728" cy="5033772"/>
          </a:xfrm>
          <a:prstGeom prst="rect">
            <a:avLst/>
          </a:prstGeom>
          <a:solidFill>
            <a:srgbClr val="02C39A"/>
          </a:solidFill>
          <a:ln w="12700">
            <a:solidFill>
              <a:srgbClr val="02C39A"/>
            </a:solidFill>
            <a:prstDash val="solid"/>
          </a:ln>
        </p:spPr>
      </p:sp>
      <p:sp>
        <p:nvSpPr>
          <p:cNvPr id="4" name="Text 2"/>
          <p:cNvSpPr/>
          <p:nvPr/>
        </p:nvSpPr>
        <p:spPr>
          <a:xfrm>
            <a:off x="274320" y="164592"/>
            <a:ext cx="8686800" cy="274320"/>
          </a:xfrm>
          <a:prstGeom prst="rect">
            <a:avLst/>
          </a:prstGeom>
          <a:noFill/>
          <a:ln/>
        </p:spPr>
        <p:txBody>
          <a:bodyPr wrap="square" rtlCol="0" anchor="ctr"/>
          <a:lstStyle/>
          <a:p>
            <a:pPr indent="0" marL="0">
              <a:buNone/>
            </a:pPr>
            <a:r>
              <a:rPr lang="en-US" sz="850" spc="200" kern="0" dirty="0">
                <a:solidFill>
                  <a:srgbClr val="00B4D8"/>
                </a:solidFill>
                <a:latin typeface="Calibri" pitchFamily="34" charset="0"/>
                <a:ea typeface="Calibri" pitchFamily="34" charset="-122"/>
                <a:cs typeface="Calibri" pitchFamily="34" charset="-120"/>
              </a:rPr>
              <a:t>UNIVERSITY OF EUROPE FOR APPLIED SCIENCES  •  DUBAI  •  DATA ENGINEERING</a:t>
            </a:r>
            <a:endParaRPr lang="en-US" sz="850" dirty="0"/>
          </a:p>
        </p:txBody>
      </p:sp>
      <p:sp>
        <p:nvSpPr>
          <p:cNvPr id="5" name="Shape 3"/>
          <p:cNvSpPr/>
          <p:nvPr/>
        </p:nvSpPr>
        <p:spPr>
          <a:xfrm>
            <a:off x="274320" y="594360"/>
            <a:ext cx="8595360" cy="2331720"/>
          </a:xfrm>
          <a:prstGeom prst="roundRect">
            <a:avLst>
              <a:gd name="adj" fmla="val 4706"/>
            </a:avLst>
          </a:prstGeom>
          <a:solidFill>
            <a:srgbClr val="112B45"/>
          </a:solidFill>
          <a:ln w="12700">
            <a:solidFill>
              <a:srgbClr val="00B4D8"/>
            </a:solidFill>
            <a:prstDash val="solid"/>
          </a:ln>
          <a:effectLst>
            <a:outerShdw sx="100000" sy="100000" kx="0" ky="0" algn="bl" rotWithShape="0" blurRad="127000" dist="50800" dir="2700000">
              <a:srgbClr val="000000">
                <a:alpha val="20000"/>
              </a:srgbClr>
            </a:outerShdw>
          </a:effectLst>
        </p:spPr>
      </p:sp>
      <p:sp>
        <p:nvSpPr>
          <p:cNvPr id="6" name="Text 4"/>
          <p:cNvSpPr/>
          <p:nvPr/>
        </p:nvSpPr>
        <p:spPr>
          <a:xfrm>
            <a:off x="457200" y="749808"/>
            <a:ext cx="8229600" cy="68580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An End-to-End ETL Pipeline</a:t>
            </a:r>
            <a:endParaRPr lang="en-US" sz="3000" dirty="0"/>
          </a:p>
        </p:txBody>
      </p:sp>
      <p:sp>
        <p:nvSpPr>
          <p:cNvPr id="7" name="Text 5"/>
          <p:cNvSpPr/>
          <p:nvPr/>
        </p:nvSpPr>
        <p:spPr>
          <a:xfrm>
            <a:off x="457200" y="1417320"/>
            <a:ext cx="8229600" cy="502920"/>
          </a:xfrm>
          <a:prstGeom prst="rect">
            <a:avLst/>
          </a:prstGeom>
          <a:noFill/>
          <a:ln/>
        </p:spPr>
        <p:txBody>
          <a:bodyPr wrap="square" rtlCol="0" anchor="ctr"/>
          <a:lstStyle/>
          <a:p>
            <a:pPr algn="ctr" indent="0" marL="0">
              <a:buNone/>
            </a:pPr>
            <a:r>
              <a:rPr lang="en-US" sz="2200" dirty="0">
                <a:solidFill>
                  <a:srgbClr val="00B4D8"/>
                </a:solidFill>
                <a:latin typeface="Calibri" pitchFamily="34" charset="0"/>
                <a:ea typeface="Calibri" pitchFamily="34" charset="-122"/>
                <a:cs typeface="Calibri" pitchFamily="34" charset="-120"/>
              </a:rPr>
              <a:t>for Brazilian E-Commerce Retail Analytics</a:t>
            </a:r>
            <a:endParaRPr lang="en-US" sz="2200" dirty="0"/>
          </a:p>
        </p:txBody>
      </p:sp>
      <p:sp>
        <p:nvSpPr>
          <p:cNvPr id="8" name="Text 6"/>
          <p:cNvSpPr/>
          <p:nvPr/>
        </p:nvSpPr>
        <p:spPr>
          <a:xfrm>
            <a:off x="457200" y="1920240"/>
            <a:ext cx="8229600" cy="365760"/>
          </a:xfrm>
          <a:prstGeom prst="rect">
            <a:avLst/>
          </a:prstGeom>
          <a:noFill/>
          <a:ln/>
        </p:spPr>
        <p:txBody>
          <a:bodyPr wrap="square" rtlCol="0" anchor="ctr"/>
          <a:lstStyle/>
          <a:p>
            <a:pPr algn="ctr" indent="0" marL="0">
              <a:buNone/>
            </a:pPr>
            <a:r>
              <a:rPr lang="en-US" sz="1250" i="1" dirty="0">
                <a:solidFill>
                  <a:srgbClr val="90AFC5"/>
                </a:solidFill>
                <a:latin typeface="Calibri" pitchFamily="34" charset="0"/>
                <a:ea typeface="Calibri" pitchFamily="34" charset="-122"/>
                <a:cs typeface="Calibri" pitchFamily="34" charset="-120"/>
              </a:rPr>
              <a:t>Automated Data Ingestion  •  Quality Assurance  •  Business Intelligence</a:t>
            </a:r>
            <a:endParaRPr lang="en-US" sz="1250" dirty="0"/>
          </a:p>
        </p:txBody>
      </p:sp>
      <p:sp>
        <p:nvSpPr>
          <p:cNvPr id="9" name="Shape 7"/>
          <p:cNvSpPr/>
          <p:nvPr/>
        </p:nvSpPr>
        <p:spPr>
          <a:xfrm>
            <a:off x="320040" y="3090672"/>
            <a:ext cx="2011680" cy="502920"/>
          </a:xfrm>
          <a:prstGeom prst="roundRect">
            <a:avLst>
              <a:gd name="adj" fmla="val 18182"/>
            </a:avLst>
          </a:prstGeom>
          <a:solidFill>
            <a:srgbClr val="14345A"/>
          </a:solidFill>
          <a:ln w="12700">
            <a:solidFill>
              <a:srgbClr val="00B4D8"/>
            </a:solidFill>
            <a:prstDash val="solid"/>
          </a:ln>
          <a:effectLst>
            <a:outerShdw sx="100000" sy="100000" kx="0" ky="0" algn="bl" rotWithShape="0" blurRad="127000" dist="50800" dir="2700000">
              <a:srgbClr val="000000">
                <a:alpha val="20000"/>
              </a:srgbClr>
            </a:outerShdw>
          </a:effectLst>
        </p:spPr>
      </p:sp>
      <p:sp>
        <p:nvSpPr>
          <p:cNvPr id="10" name="Text 8"/>
          <p:cNvSpPr/>
          <p:nvPr/>
        </p:nvSpPr>
        <p:spPr>
          <a:xfrm>
            <a:off x="320040" y="3090672"/>
            <a:ext cx="2011680" cy="502920"/>
          </a:xfrm>
          <a:prstGeom prst="rect">
            <a:avLst/>
          </a:prstGeom>
          <a:noFill/>
          <a:ln/>
        </p:spPr>
        <p:txBody>
          <a:bodyPr wrap="square" rtlCol="0" anchor="ctr"/>
          <a:lstStyle/>
          <a:p>
            <a:pPr algn="ctr" indent="0" marL="0">
              <a:buNone/>
            </a:pPr>
            <a:r>
              <a:rPr lang="en-US" sz="1100" b="1" dirty="0">
                <a:solidFill>
                  <a:srgbClr val="00B4D8"/>
                </a:solidFill>
                <a:latin typeface="Calibri" pitchFamily="34" charset="0"/>
                <a:ea typeface="Calibri" pitchFamily="34" charset="-122"/>
                <a:cs typeface="Calibri" pitchFamily="34" charset="-120"/>
              </a:rPr>
              <a:t>Python + Pandas</a:t>
            </a:r>
            <a:endParaRPr lang="en-US" sz="1100" dirty="0"/>
          </a:p>
        </p:txBody>
      </p:sp>
      <p:sp>
        <p:nvSpPr>
          <p:cNvPr id="11" name="Shape 9"/>
          <p:cNvSpPr/>
          <p:nvPr/>
        </p:nvSpPr>
        <p:spPr>
          <a:xfrm>
            <a:off x="2468880" y="3090672"/>
            <a:ext cx="2011680" cy="502920"/>
          </a:xfrm>
          <a:prstGeom prst="roundRect">
            <a:avLst>
              <a:gd name="adj" fmla="val 18182"/>
            </a:avLst>
          </a:prstGeom>
          <a:solidFill>
            <a:srgbClr val="14345A"/>
          </a:solidFill>
          <a:ln w="12700">
            <a:solidFill>
              <a:srgbClr val="02C39A"/>
            </a:solidFill>
            <a:prstDash val="solid"/>
          </a:ln>
          <a:effectLst>
            <a:outerShdw sx="100000" sy="100000" kx="0" ky="0" algn="bl" rotWithShape="0" blurRad="127000" dist="50800" dir="2700000">
              <a:srgbClr val="000000">
                <a:alpha val="20000"/>
              </a:srgbClr>
            </a:outerShdw>
          </a:effectLst>
        </p:spPr>
      </p:sp>
      <p:sp>
        <p:nvSpPr>
          <p:cNvPr id="12" name="Text 10"/>
          <p:cNvSpPr/>
          <p:nvPr/>
        </p:nvSpPr>
        <p:spPr>
          <a:xfrm>
            <a:off x="2468880" y="3090672"/>
            <a:ext cx="2011680" cy="502920"/>
          </a:xfrm>
          <a:prstGeom prst="rect">
            <a:avLst/>
          </a:prstGeom>
          <a:noFill/>
          <a:ln/>
        </p:spPr>
        <p:txBody>
          <a:bodyPr wrap="square" rtlCol="0" anchor="ctr"/>
          <a:lstStyle/>
          <a:p>
            <a:pPr algn="ctr" indent="0" marL="0">
              <a:buNone/>
            </a:pPr>
            <a:r>
              <a:rPr lang="en-US" sz="1100" b="1" dirty="0">
                <a:solidFill>
                  <a:srgbClr val="02C39A"/>
                </a:solidFill>
                <a:latin typeface="Calibri" pitchFamily="34" charset="0"/>
                <a:ea typeface="Calibri" pitchFamily="34" charset="-122"/>
                <a:cs typeface="Calibri" pitchFamily="34" charset="-120"/>
              </a:rPr>
              <a:t>PostgreSQL 18</a:t>
            </a:r>
            <a:endParaRPr lang="en-US" sz="1100" dirty="0"/>
          </a:p>
        </p:txBody>
      </p:sp>
      <p:sp>
        <p:nvSpPr>
          <p:cNvPr id="13" name="Shape 11"/>
          <p:cNvSpPr/>
          <p:nvPr/>
        </p:nvSpPr>
        <p:spPr>
          <a:xfrm>
            <a:off x="4617720" y="3090672"/>
            <a:ext cx="2011680" cy="502920"/>
          </a:xfrm>
          <a:prstGeom prst="roundRect">
            <a:avLst>
              <a:gd name="adj" fmla="val 18182"/>
            </a:avLst>
          </a:prstGeom>
          <a:solidFill>
            <a:srgbClr val="14345A"/>
          </a:solidFill>
          <a:ln w="12700">
            <a:solidFill>
              <a:srgbClr val="F4A261"/>
            </a:solidFill>
            <a:prstDash val="solid"/>
          </a:ln>
          <a:effectLst>
            <a:outerShdw sx="100000" sy="100000" kx="0" ky="0" algn="bl" rotWithShape="0" blurRad="127000" dist="50800" dir="2700000">
              <a:srgbClr val="000000">
                <a:alpha val="20000"/>
              </a:srgbClr>
            </a:outerShdw>
          </a:effectLst>
        </p:spPr>
      </p:sp>
      <p:sp>
        <p:nvSpPr>
          <p:cNvPr id="14" name="Text 12"/>
          <p:cNvSpPr/>
          <p:nvPr/>
        </p:nvSpPr>
        <p:spPr>
          <a:xfrm>
            <a:off x="4617720" y="3090672"/>
            <a:ext cx="2011680" cy="502920"/>
          </a:xfrm>
          <a:prstGeom prst="rect">
            <a:avLst/>
          </a:prstGeom>
          <a:noFill/>
          <a:ln/>
        </p:spPr>
        <p:txBody>
          <a:bodyPr wrap="square" rtlCol="0" anchor="ctr"/>
          <a:lstStyle/>
          <a:p>
            <a:pPr algn="ctr" indent="0" marL="0">
              <a:buNone/>
            </a:pPr>
            <a:r>
              <a:rPr lang="en-US" sz="1100" b="1" dirty="0">
                <a:solidFill>
                  <a:srgbClr val="F4A261"/>
                </a:solidFill>
                <a:latin typeface="Calibri" pitchFamily="34" charset="0"/>
                <a:ea typeface="Calibri" pitchFamily="34" charset="-122"/>
                <a:cs typeface="Calibri" pitchFamily="34" charset="-120"/>
              </a:rPr>
              <a:t>Apache Airflow 2.9.2</a:t>
            </a:r>
            <a:endParaRPr lang="en-US" sz="1100" dirty="0"/>
          </a:p>
        </p:txBody>
      </p:sp>
      <p:sp>
        <p:nvSpPr>
          <p:cNvPr id="15" name="Shape 13"/>
          <p:cNvSpPr/>
          <p:nvPr/>
        </p:nvSpPr>
        <p:spPr>
          <a:xfrm>
            <a:off x="6766560" y="3090672"/>
            <a:ext cx="2011680" cy="502920"/>
          </a:xfrm>
          <a:prstGeom prst="roundRect">
            <a:avLst>
              <a:gd name="adj" fmla="val 18182"/>
            </a:avLst>
          </a:prstGeom>
          <a:solidFill>
            <a:srgbClr val="14345A"/>
          </a:solidFill>
          <a:ln w="12700">
            <a:solidFill>
              <a:srgbClr val="C084FC"/>
            </a:solidFill>
            <a:prstDash val="solid"/>
          </a:ln>
          <a:effectLst>
            <a:outerShdw sx="100000" sy="100000" kx="0" ky="0" algn="bl" rotWithShape="0" blurRad="127000" dist="50800" dir="2700000">
              <a:srgbClr val="000000">
                <a:alpha val="20000"/>
              </a:srgbClr>
            </a:outerShdw>
          </a:effectLst>
        </p:spPr>
      </p:sp>
      <p:sp>
        <p:nvSpPr>
          <p:cNvPr id="16" name="Text 14"/>
          <p:cNvSpPr/>
          <p:nvPr/>
        </p:nvSpPr>
        <p:spPr>
          <a:xfrm>
            <a:off x="6766560" y="3090672"/>
            <a:ext cx="2011680" cy="502920"/>
          </a:xfrm>
          <a:prstGeom prst="rect">
            <a:avLst/>
          </a:prstGeom>
          <a:noFill/>
          <a:ln/>
        </p:spPr>
        <p:txBody>
          <a:bodyPr wrap="square" rtlCol="0" anchor="ctr"/>
          <a:lstStyle/>
          <a:p>
            <a:pPr algn="ctr" indent="0" marL="0">
              <a:buNone/>
            </a:pPr>
            <a:r>
              <a:rPr lang="en-US" sz="1100" b="1" dirty="0">
                <a:solidFill>
                  <a:srgbClr val="C084FC"/>
                </a:solidFill>
                <a:latin typeface="Calibri" pitchFamily="34" charset="0"/>
                <a:ea typeface="Calibri" pitchFamily="34" charset="-122"/>
                <a:cs typeface="Calibri" pitchFamily="34" charset="-120"/>
              </a:rPr>
              <a:t>Power BI Desktop</a:t>
            </a:r>
            <a:endParaRPr lang="en-US" sz="1100" dirty="0"/>
          </a:p>
        </p:txBody>
      </p:sp>
      <p:sp>
        <p:nvSpPr>
          <p:cNvPr id="17" name="Shape 15"/>
          <p:cNvSpPr/>
          <p:nvPr/>
        </p:nvSpPr>
        <p:spPr>
          <a:xfrm>
            <a:off x="228600" y="3749040"/>
            <a:ext cx="1627632" cy="1069848"/>
          </a:xfrm>
          <a:prstGeom prst="roundRect">
            <a:avLst>
              <a:gd name="adj" fmla="val 8547"/>
            </a:avLst>
          </a:prstGeom>
          <a:solidFill>
            <a:srgbClr val="06131E"/>
          </a:solidFill>
          <a:ln w="12700">
            <a:solidFill>
              <a:srgbClr val="00B4D8"/>
            </a:solidFill>
            <a:prstDash val="solid"/>
          </a:ln>
          <a:effectLst>
            <a:outerShdw sx="100000" sy="100000" kx="0" ky="0" algn="bl" rotWithShape="0" blurRad="127000" dist="50800" dir="2700000">
              <a:srgbClr val="000000">
                <a:alpha val="20000"/>
              </a:srgbClr>
            </a:outerShdw>
          </a:effectLst>
        </p:spPr>
      </p:sp>
      <p:sp>
        <p:nvSpPr>
          <p:cNvPr id="18" name="Text 16"/>
          <p:cNvSpPr/>
          <p:nvPr/>
        </p:nvSpPr>
        <p:spPr>
          <a:xfrm>
            <a:off x="228600" y="3785616"/>
            <a:ext cx="1627632" cy="548640"/>
          </a:xfrm>
          <a:prstGeom prst="rect">
            <a:avLst/>
          </a:prstGeom>
          <a:noFill/>
          <a:ln/>
        </p:spPr>
        <p:txBody>
          <a:bodyPr wrap="square" rtlCol="0" anchor="ctr"/>
          <a:lstStyle/>
          <a:p>
            <a:pPr algn="ctr" indent="0" marL="0">
              <a:buNone/>
            </a:pPr>
            <a:r>
              <a:rPr lang="en-US" sz="2200" b="1" dirty="0">
                <a:solidFill>
                  <a:srgbClr val="00B4D8"/>
                </a:solidFill>
                <a:latin typeface="Calibri" pitchFamily="34" charset="0"/>
                <a:ea typeface="Calibri" pitchFamily="34" charset="-122"/>
                <a:cs typeface="Calibri" pitchFamily="34" charset="-120"/>
              </a:rPr>
              <a:t>99,441</a:t>
            </a:r>
            <a:endParaRPr lang="en-US" sz="2200" dirty="0"/>
          </a:p>
        </p:txBody>
      </p:sp>
      <p:sp>
        <p:nvSpPr>
          <p:cNvPr id="19" name="Text 17"/>
          <p:cNvSpPr/>
          <p:nvPr/>
        </p:nvSpPr>
        <p:spPr>
          <a:xfrm>
            <a:off x="228600" y="4297680"/>
            <a:ext cx="1627632" cy="384048"/>
          </a:xfrm>
          <a:prstGeom prst="rect">
            <a:avLst/>
          </a:prstGeom>
          <a:noFill/>
          <a:ln/>
        </p:spPr>
        <p:txBody>
          <a:bodyPr wrap="square" rtlCol="0" anchor="ctr"/>
          <a:lstStyle/>
          <a:p>
            <a:pPr algn="ctr" indent="0" marL="0">
              <a:buNone/>
            </a:pPr>
            <a:r>
              <a:rPr lang="en-US" sz="900" dirty="0">
                <a:solidFill>
                  <a:srgbClr val="90AFC5"/>
                </a:solidFill>
                <a:latin typeface="Calibri" pitchFamily="34" charset="0"/>
                <a:ea typeface="Calibri" pitchFamily="34" charset="-122"/>
                <a:cs typeface="Calibri" pitchFamily="34" charset="-120"/>
              </a:rPr>
              <a:t>Orders Processed</a:t>
            </a:r>
            <a:endParaRPr lang="en-US" sz="900" dirty="0"/>
          </a:p>
        </p:txBody>
      </p:sp>
      <p:sp>
        <p:nvSpPr>
          <p:cNvPr id="20" name="Shape 18"/>
          <p:cNvSpPr/>
          <p:nvPr/>
        </p:nvSpPr>
        <p:spPr>
          <a:xfrm>
            <a:off x="1984248" y="3749040"/>
            <a:ext cx="1627632" cy="1069848"/>
          </a:xfrm>
          <a:prstGeom prst="roundRect">
            <a:avLst>
              <a:gd name="adj" fmla="val 8547"/>
            </a:avLst>
          </a:prstGeom>
          <a:solidFill>
            <a:srgbClr val="06131E"/>
          </a:solidFill>
          <a:ln w="12700">
            <a:solidFill>
              <a:srgbClr val="00B4D8"/>
            </a:solidFill>
            <a:prstDash val="solid"/>
          </a:ln>
          <a:effectLst>
            <a:outerShdw sx="100000" sy="100000" kx="0" ky="0" algn="bl" rotWithShape="0" blurRad="127000" dist="50800" dir="2700000">
              <a:srgbClr val="000000">
                <a:alpha val="20000"/>
              </a:srgbClr>
            </a:outerShdw>
          </a:effectLst>
        </p:spPr>
      </p:sp>
      <p:sp>
        <p:nvSpPr>
          <p:cNvPr id="21" name="Text 19"/>
          <p:cNvSpPr/>
          <p:nvPr/>
        </p:nvSpPr>
        <p:spPr>
          <a:xfrm>
            <a:off x="1984248" y="3785616"/>
            <a:ext cx="1627632" cy="548640"/>
          </a:xfrm>
          <a:prstGeom prst="rect">
            <a:avLst/>
          </a:prstGeom>
          <a:noFill/>
          <a:ln/>
        </p:spPr>
        <p:txBody>
          <a:bodyPr wrap="square" rtlCol="0" anchor="ctr"/>
          <a:lstStyle/>
          <a:p>
            <a:pPr algn="ctr" indent="0" marL="0">
              <a:buNone/>
            </a:pPr>
            <a:r>
              <a:rPr lang="en-US" sz="2200" b="1" dirty="0">
                <a:solidFill>
                  <a:srgbClr val="00B4D8"/>
                </a:solidFill>
                <a:latin typeface="Calibri" pitchFamily="34" charset="0"/>
                <a:ea typeface="Calibri" pitchFamily="34" charset="-122"/>
                <a:cs typeface="Calibri" pitchFamily="34" charset="-120"/>
              </a:rPr>
              <a:t>9</a:t>
            </a:r>
            <a:endParaRPr lang="en-US" sz="2200" dirty="0"/>
          </a:p>
        </p:txBody>
      </p:sp>
      <p:sp>
        <p:nvSpPr>
          <p:cNvPr id="22" name="Text 20"/>
          <p:cNvSpPr/>
          <p:nvPr/>
        </p:nvSpPr>
        <p:spPr>
          <a:xfrm>
            <a:off x="1984248" y="4297680"/>
            <a:ext cx="1627632" cy="384048"/>
          </a:xfrm>
          <a:prstGeom prst="rect">
            <a:avLst/>
          </a:prstGeom>
          <a:noFill/>
          <a:ln/>
        </p:spPr>
        <p:txBody>
          <a:bodyPr wrap="square" rtlCol="0" anchor="ctr"/>
          <a:lstStyle/>
          <a:p>
            <a:pPr algn="ctr" indent="0" marL="0">
              <a:buNone/>
            </a:pPr>
            <a:r>
              <a:rPr lang="en-US" sz="900" dirty="0">
                <a:solidFill>
                  <a:srgbClr val="90AFC5"/>
                </a:solidFill>
                <a:latin typeface="Calibri" pitchFamily="34" charset="0"/>
                <a:ea typeface="Calibri" pitchFamily="34" charset="-122"/>
                <a:cs typeface="Calibri" pitchFamily="34" charset="-120"/>
              </a:rPr>
              <a:t>Relational Tables</a:t>
            </a:r>
            <a:endParaRPr lang="en-US" sz="900" dirty="0"/>
          </a:p>
        </p:txBody>
      </p:sp>
      <p:sp>
        <p:nvSpPr>
          <p:cNvPr id="23" name="Shape 21"/>
          <p:cNvSpPr/>
          <p:nvPr/>
        </p:nvSpPr>
        <p:spPr>
          <a:xfrm>
            <a:off x="3739896" y="3749040"/>
            <a:ext cx="1627632" cy="1069848"/>
          </a:xfrm>
          <a:prstGeom prst="roundRect">
            <a:avLst>
              <a:gd name="adj" fmla="val 8547"/>
            </a:avLst>
          </a:prstGeom>
          <a:solidFill>
            <a:srgbClr val="06131E"/>
          </a:solidFill>
          <a:ln w="12700">
            <a:solidFill>
              <a:srgbClr val="00B4D8"/>
            </a:solidFill>
            <a:prstDash val="solid"/>
          </a:ln>
          <a:effectLst>
            <a:outerShdw sx="100000" sy="100000" kx="0" ky="0" algn="bl" rotWithShape="0" blurRad="127000" dist="50800" dir="2700000">
              <a:srgbClr val="000000">
                <a:alpha val="20000"/>
              </a:srgbClr>
            </a:outerShdw>
          </a:effectLst>
        </p:spPr>
      </p:sp>
      <p:sp>
        <p:nvSpPr>
          <p:cNvPr id="24" name="Text 22"/>
          <p:cNvSpPr/>
          <p:nvPr/>
        </p:nvSpPr>
        <p:spPr>
          <a:xfrm>
            <a:off x="3739896" y="3785616"/>
            <a:ext cx="1627632" cy="548640"/>
          </a:xfrm>
          <a:prstGeom prst="rect">
            <a:avLst/>
          </a:prstGeom>
          <a:noFill/>
          <a:ln/>
        </p:spPr>
        <p:txBody>
          <a:bodyPr wrap="square" rtlCol="0" anchor="ctr"/>
          <a:lstStyle/>
          <a:p>
            <a:pPr algn="ctr" indent="0" marL="0">
              <a:buNone/>
            </a:pPr>
            <a:r>
              <a:rPr lang="en-US" sz="2200" b="1" dirty="0">
                <a:solidFill>
                  <a:srgbClr val="00B4D8"/>
                </a:solidFill>
                <a:latin typeface="Calibri" pitchFamily="34" charset="0"/>
                <a:ea typeface="Calibri" pitchFamily="34" charset="-122"/>
                <a:cs typeface="Calibri" pitchFamily="34" charset="-120"/>
              </a:rPr>
              <a:t>0</a:t>
            </a:r>
            <a:endParaRPr lang="en-US" sz="2200" dirty="0"/>
          </a:p>
        </p:txBody>
      </p:sp>
      <p:sp>
        <p:nvSpPr>
          <p:cNvPr id="25" name="Text 23"/>
          <p:cNvSpPr/>
          <p:nvPr/>
        </p:nvSpPr>
        <p:spPr>
          <a:xfrm>
            <a:off x="3739896" y="4297680"/>
            <a:ext cx="1627632" cy="384048"/>
          </a:xfrm>
          <a:prstGeom prst="rect">
            <a:avLst/>
          </a:prstGeom>
          <a:noFill/>
          <a:ln/>
        </p:spPr>
        <p:txBody>
          <a:bodyPr wrap="square" rtlCol="0" anchor="ctr"/>
          <a:lstStyle/>
          <a:p>
            <a:pPr algn="ctr" indent="0" marL="0">
              <a:buNone/>
            </a:pPr>
            <a:r>
              <a:rPr lang="en-US" sz="900" dirty="0">
                <a:solidFill>
                  <a:srgbClr val="90AFC5"/>
                </a:solidFill>
                <a:latin typeface="Calibri" pitchFamily="34" charset="0"/>
                <a:ea typeface="Calibri" pitchFamily="34" charset="-122"/>
                <a:cs typeface="Calibri" pitchFamily="34" charset="-120"/>
              </a:rPr>
              <a:t>FK Violations</a:t>
            </a:r>
            <a:endParaRPr lang="en-US" sz="900" dirty="0"/>
          </a:p>
        </p:txBody>
      </p:sp>
      <p:sp>
        <p:nvSpPr>
          <p:cNvPr id="26" name="Shape 24"/>
          <p:cNvSpPr/>
          <p:nvPr/>
        </p:nvSpPr>
        <p:spPr>
          <a:xfrm>
            <a:off x="5495544" y="3749040"/>
            <a:ext cx="1627632" cy="1069848"/>
          </a:xfrm>
          <a:prstGeom prst="roundRect">
            <a:avLst>
              <a:gd name="adj" fmla="val 8547"/>
            </a:avLst>
          </a:prstGeom>
          <a:solidFill>
            <a:srgbClr val="06131E"/>
          </a:solidFill>
          <a:ln w="12700">
            <a:solidFill>
              <a:srgbClr val="00B4D8"/>
            </a:solidFill>
            <a:prstDash val="solid"/>
          </a:ln>
          <a:effectLst>
            <a:outerShdw sx="100000" sy="100000" kx="0" ky="0" algn="bl" rotWithShape="0" blurRad="127000" dist="50800" dir="2700000">
              <a:srgbClr val="000000">
                <a:alpha val="20000"/>
              </a:srgbClr>
            </a:outerShdw>
          </a:effectLst>
        </p:spPr>
      </p:sp>
      <p:sp>
        <p:nvSpPr>
          <p:cNvPr id="27" name="Text 25"/>
          <p:cNvSpPr/>
          <p:nvPr/>
        </p:nvSpPr>
        <p:spPr>
          <a:xfrm>
            <a:off x="5495544" y="3785616"/>
            <a:ext cx="1627632" cy="548640"/>
          </a:xfrm>
          <a:prstGeom prst="rect">
            <a:avLst/>
          </a:prstGeom>
          <a:noFill/>
          <a:ln/>
        </p:spPr>
        <p:txBody>
          <a:bodyPr wrap="square" rtlCol="0" anchor="ctr"/>
          <a:lstStyle/>
          <a:p>
            <a:pPr algn="ctr" indent="0" marL="0">
              <a:buNone/>
            </a:pPr>
            <a:r>
              <a:rPr lang="en-US" sz="2200" b="1" dirty="0">
                <a:solidFill>
                  <a:srgbClr val="00B4D8"/>
                </a:solidFill>
                <a:latin typeface="Calibri" pitchFamily="34" charset="0"/>
                <a:ea typeface="Calibri" pitchFamily="34" charset="-122"/>
                <a:cs typeface="Calibri" pitchFamily="34" charset="-120"/>
              </a:rPr>
              <a:t>3</a:t>
            </a:r>
            <a:endParaRPr lang="en-US" sz="2200" dirty="0"/>
          </a:p>
        </p:txBody>
      </p:sp>
      <p:sp>
        <p:nvSpPr>
          <p:cNvPr id="28" name="Text 26"/>
          <p:cNvSpPr/>
          <p:nvPr/>
        </p:nvSpPr>
        <p:spPr>
          <a:xfrm>
            <a:off x="5495544" y="4297680"/>
            <a:ext cx="1627632" cy="384048"/>
          </a:xfrm>
          <a:prstGeom prst="rect">
            <a:avLst/>
          </a:prstGeom>
          <a:noFill/>
          <a:ln/>
        </p:spPr>
        <p:txBody>
          <a:bodyPr wrap="square" rtlCol="0" anchor="ctr"/>
          <a:lstStyle/>
          <a:p>
            <a:pPr algn="ctr" indent="0" marL="0">
              <a:buNone/>
            </a:pPr>
            <a:r>
              <a:rPr lang="en-US" sz="900" dirty="0">
                <a:solidFill>
                  <a:srgbClr val="90AFC5"/>
                </a:solidFill>
                <a:latin typeface="Calibri" pitchFamily="34" charset="0"/>
                <a:ea typeface="Calibri" pitchFamily="34" charset="-122"/>
                <a:cs typeface="Calibri" pitchFamily="34" charset="-120"/>
              </a:rPr>
              <a:t>BI Dashboard Tabs</a:t>
            </a:r>
            <a:endParaRPr lang="en-US" sz="900" dirty="0"/>
          </a:p>
        </p:txBody>
      </p:sp>
      <p:sp>
        <p:nvSpPr>
          <p:cNvPr id="29" name="Shape 27"/>
          <p:cNvSpPr/>
          <p:nvPr/>
        </p:nvSpPr>
        <p:spPr>
          <a:xfrm>
            <a:off x="7251192" y="3749040"/>
            <a:ext cx="1627632" cy="1069848"/>
          </a:xfrm>
          <a:prstGeom prst="roundRect">
            <a:avLst>
              <a:gd name="adj" fmla="val 8547"/>
            </a:avLst>
          </a:prstGeom>
          <a:solidFill>
            <a:srgbClr val="06131E"/>
          </a:solidFill>
          <a:ln w="12700">
            <a:solidFill>
              <a:srgbClr val="00B4D8"/>
            </a:solidFill>
            <a:prstDash val="solid"/>
          </a:ln>
          <a:effectLst>
            <a:outerShdw sx="100000" sy="100000" kx="0" ky="0" algn="bl" rotWithShape="0" blurRad="127000" dist="50800" dir="2700000">
              <a:srgbClr val="000000">
                <a:alpha val="20000"/>
              </a:srgbClr>
            </a:outerShdw>
          </a:effectLst>
        </p:spPr>
      </p:sp>
      <p:sp>
        <p:nvSpPr>
          <p:cNvPr id="30" name="Text 28"/>
          <p:cNvSpPr/>
          <p:nvPr/>
        </p:nvSpPr>
        <p:spPr>
          <a:xfrm>
            <a:off x="7251192" y="3785616"/>
            <a:ext cx="1627632" cy="548640"/>
          </a:xfrm>
          <a:prstGeom prst="rect">
            <a:avLst/>
          </a:prstGeom>
          <a:noFill/>
          <a:ln/>
        </p:spPr>
        <p:txBody>
          <a:bodyPr wrap="square" rtlCol="0" anchor="ctr"/>
          <a:lstStyle/>
          <a:p>
            <a:pPr algn="ctr" indent="0" marL="0">
              <a:buNone/>
            </a:pPr>
            <a:r>
              <a:rPr lang="en-US" sz="2200" b="1" dirty="0">
                <a:solidFill>
                  <a:srgbClr val="00B4D8"/>
                </a:solidFill>
                <a:latin typeface="Calibri" pitchFamily="34" charset="0"/>
                <a:ea typeface="Calibri" pitchFamily="34" charset="-122"/>
                <a:cs typeface="Calibri" pitchFamily="34" charset="-120"/>
              </a:rPr>
              <a:t>4</a:t>
            </a:r>
            <a:endParaRPr lang="en-US" sz="2200" dirty="0"/>
          </a:p>
        </p:txBody>
      </p:sp>
      <p:sp>
        <p:nvSpPr>
          <p:cNvPr id="31" name="Text 29"/>
          <p:cNvSpPr/>
          <p:nvPr/>
        </p:nvSpPr>
        <p:spPr>
          <a:xfrm>
            <a:off x="7251192" y="4297680"/>
            <a:ext cx="1627632" cy="384048"/>
          </a:xfrm>
          <a:prstGeom prst="rect">
            <a:avLst/>
          </a:prstGeom>
          <a:noFill/>
          <a:ln/>
        </p:spPr>
        <p:txBody>
          <a:bodyPr wrap="square" rtlCol="0" anchor="ctr"/>
          <a:lstStyle/>
          <a:p>
            <a:pPr algn="ctr" indent="0" marL="0">
              <a:buNone/>
            </a:pPr>
            <a:r>
              <a:rPr lang="en-US" sz="900" dirty="0">
                <a:solidFill>
                  <a:srgbClr val="90AFC5"/>
                </a:solidFill>
                <a:latin typeface="Calibri" pitchFamily="34" charset="0"/>
                <a:ea typeface="Calibri" pitchFamily="34" charset="-122"/>
                <a:cs typeface="Calibri" pitchFamily="34" charset="-120"/>
              </a:rPr>
              <a:t>Airflow Tasks</a:t>
            </a:r>
            <a:endParaRPr lang="en-US" sz="900" dirty="0"/>
          </a:p>
        </p:txBody>
      </p:sp>
      <p:sp>
        <p:nvSpPr>
          <p:cNvPr id="32" name="Text 30"/>
          <p:cNvSpPr/>
          <p:nvPr/>
        </p:nvSpPr>
        <p:spPr>
          <a:xfrm>
            <a:off x="0" y="4919472"/>
            <a:ext cx="9144000" cy="219456"/>
          </a:xfrm>
          <a:prstGeom prst="rect">
            <a:avLst/>
          </a:prstGeom>
          <a:noFill/>
          <a:ln/>
        </p:spPr>
        <p:txBody>
          <a:bodyPr wrap="square" rtlCol="0" anchor="ctr"/>
          <a:lstStyle/>
          <a:p>
            <a:pPr algn="ctr" indent="0" marL="0">
              <a:buNone/>
            </a:pPr>
            <a:r>
              <a:rPr lang="en-US" sz="950" dirty="0">
                <a:solidFill>
                  <a:srgbClr val="90AFC5"/>
                </a:solidFill>
                <a:latin typeface="Calibri" pitchFamily="34" charset="0"/>
                <a:ea typeface="Calibri" pitchFamily="34" charset="-122"/>
                <a:cs typeface="Calibri" pitchFamily="34" charset="-120"/>
              </a:rPr>
              <a:t>Renato Silva  |  Sandra Raj Pattuvakkaran  |  Sudarsh Mekkampurath Sajeev</a:t>
            </a:r>
            <a:endParaRPr lang="en-US" sz="950" dirty="0"/>
          </a:p>
        </p:txBody>
      </p:sp>
      <p:sp>
        <p:nvSpPr>
          <p:cNvPr id="33" name="Shape 31"/>
          <p:cNvSpPr/>
          <p:nvPr/>
        </p:nvSpPr>
        <p:spPr>
          <a:xfrm>
            <a:off x="0" y="5047488"/>
            <a:ext cx="9144000" cy="91440"/>
          </a:xfrm>
          <a:prstGeom prst="rect">
            <a:avLst/>
          </a:prstGeom>
          <a:solidFill>
            <a:srgbClr val="00B4D8"/>
          </a:solidFill>
          <a:ln w="12700">
            <a:solidFill>
              <a:srgbClr val="00B4D8"/>
            </a:solidFill>
            <a:prstDash val="solid"/>
          </a:ln>
        </p:spPr>
      </p:sp>
      <p:sp>
        <p:nvSpPr>
          <p:cNvPr id="34" name="Text 32"/>
          <p:cNvSpPr/>
          <p:nvPr/>
        </p:nvSpPr>
        <p:spPr>
          <a:xfrm>
            <a:off x="0" y="5047488"/>
            <a:ext cx="9144000" cy="91440"/>
          </a:xfrm>
          <a:prstGeom prst="rect">
            <a:avLst/>
          </a:prstGeom>
          <a:noFill/>
          <a:ln/>
        </p:spPr>
        <p:txBody>
          <a:bodyPr wrap="square" rtlCol="0" anchor="ctr"/>
          <a:lstStyle/>
          <a:p>
            <a:pPr algn="ctr" indent="0" marL="0">
              <a:buNone/>
            </a:pPr>
            <a:r>
              <a:rPr lang="en-US" sz="800" dirty="0">
                <a:solidFill>
                  <a:srgbClr val="0D2137"/>
                </a:solidFill>
                <a:latin typeface="Calibri" pitchFamily="34" charset="0"/>
                <a:ea typeface="Calibri" pitchFamily="34" charset="-122"/>
                <a:cs typeface="Calibri" pitchFamily="34" charset="-120"/>
              </a:rPr>
              <a:t>Prof. Dr. Nor Azizah Hitam  •  June 2026  •  Final Submission</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2137"/>
          </a:solidFill>
          <a:ln w="12700">
            <a:solidFill>
              <a:srgbClr val="0D2137"/>
            </a:solidFill>
            <a:prstDash val="solid"/>
          </a:ln>
        </p:spPr>
      </p:sp>
      <p:sp>
        <p:nvSpPr>
          <p:cNvPr id="3" name="Text 1"/>
          <p:cNvSpPr/>
          <p:nvPr/>
        </p:nvSpPr>
        <p:spPr>
          <a:xfrm>
            <a:off x="411480" y="137160"/>
            <a:ext cx="8229600" cy="502920"/>
          </a:xfrm>
          <a:prstGeom prst="rect">
            <a:avLst/>
          </a:prstGeom>
          <a:noFill/>
          <a:ln/>
        </p:spPr>
        <p:txBody>
          <a:bodyPr wrap="square" rtlCol="0" anchor="ctr"/>
          <a:lstStyle/>
          <a:p>
            <a:pPr indent="0" marL="0">
              <a:buNone/>
            </a:pPr>
            <a:r>
              <a:rPr lang="en-US" sz="2800" b="1" dirty="0">
                <a:solidFill>
                  <a:srgbClr val="0D2137"/>
                </a:solidFill>
                <a:latin typeface="Calibri" pitchFamily="34" charset="0"/>
                <a:ea typeface="Calibri" pitchFamily="34" charset="-122"/>
                <a:cs typeface="Calibri" pitchFamily="34" charset="-120"/>
              </a:rPr>
              <a:t>Problem &amp; Objective</a:t>
            </a:r>
            <a:endParaRPr lang="en-US" sz="2800" dirty="0"/>
          </a:p>
        </p:txBody>
      </p:sp>
      <p:sp>
        <p:nvSpPr>
          <p:cNvPr id="4" name="Shape 2"/>
          <p:cNvSpPr/>
          <p:nvPr/>
        </p:nvSpPr>
        <p:spPr>
          <a:xfrm>
            <a:off x="274320" y="804672"/>
            <a:ext cx="4069080" cy="4114800"/>
          </a:xfrm>
          <a:prstGeom prst="roundRect">
            <a:avLst>
              <a:gd name="adj" fmla="val 3146"/>
            </a:avLst>
          </a:prstGeom>
          <a:solidFill>
            <a:srgbClr val="0D2137"/>
          </a:solidFill>
          <a:ln w="12700">
            <a:solidFill>
              <a:srgbClr val="E63946"/>
            </a:solidFill>
            <a:prstDash val="solid"/>
          </a:ln>
          <a:effectLst>
            <a:outerShdw sx="100000" sy="100000" kx="0" ky="0" algn="bl" rotWithShape="0" blurRad="127000" dist="50800" dir="2700000">
              <a:srgbClr val="000000">
                <a:alpha val="20000"/>
              </a:srgbClr>
            </a:outerShdw>
          </a:effectLst>
        </p:spPr>
      </p:sp>
      <p:sp>
        <p:nvSpPr>
          <p:cNvPr id="5" name="Text 3"/>
          <p:cNvSpPr/>
          <p:nvPr/>
        </p:nvSpPr>
        <p:spPr>
          <a:xfrm>
            <a:off x="457200" y="914400"/>
            <a:ext cx="3657600" cy="347472"/>
          </a:xfrm>
          <a:prstGeom prst="rect">
            <a:avLst/>
          </a:prstGeom>
          <a:noFill/>
          <a:ln/>
        </p:spPr>
        <p:txBody>
          <a:bodyPr wrap="square" rtlCol="0" anchor="ctr"/>
          <a:lstStyle/>
          <a:p>
            <a:pPr indent="0" marL="0">
              <a:buNone/>
            </a:pPr>
            <a:r>
              <a:rPr lang="en-US" sz="1100" b="1" spc="300" kern="0" dirty="0">
                <a:solidFill>
                  <a:srgbClr val="E63946"/>
                </a:solidFill>
                <a:latin typeface="Calibri" pitchFamily="34" charset="0"/>
                <a:ea typeface="Calibri" pitchFamily="34" charset="-122"/>
                <a:cs typeface="Calibri" pitchFamily="34" charset="-120"/>
              </a:rPr>
              <a:t>THE PROBLEM</a:t>
            </a:r>
            <a:endParaRPr lang="en-US" sz="1100" dirty="0"/>
          </a:p>
        </p:txBody>
      </p:sp>
      <p:sp>
        <p:nvSpPr>
          <p:cNvPr id="6" name="Shape 4"/>
          <p:cNvSpPr/>
          <p:nvPr/>
        </p:nvSpPr>
        <p:spPr>
          <a:xfrm>
            <a:off x="475488" y="1389888"/>
            <a:ext cx="201168" cy="201168"/>
          </a:xfrm>
          <a:prstGeom prst="ellipse">
            <a:avLst/>
          </a:prstGeom>
          <a:solidFill>
            <a:srgbClr val="E63946"/>
          </a:solidFill>
          <a:ln w="12700">
            <a:solidFill>
              <a:srgbClr val="E63946"/>
            </a:solidFill>
            <a:prstDash val="solid"/>
          </a:ln>
        </p:spPr>
      </p:sp>
      <p:sp>
        <p:nvSpPr>
          <p:cNvPr id="7" name="Text 5"/>
          <p:cNvSpPr/>
          <p:nvPr/>
        </p:nvSpPr>
        <p:spPr>
          <a:xfrm>
            <a:off x="777240" y="1344168"/>
            <a:ext cx="3383280" cy="475488"/>
          </a:xfrm>
          <a:prstGeom prst="rect">
            <a:avLst/>
          </a:prstGeom>
          <a:noFill/>
          <a:ln/>
        </p:spPr>
        <p:txBody>
          <a:bodyPr wrap="square" rtlCol="0" anchor="ctr"/>
          <a:lstStyle/>
          <a:p>
            <a:pPr indent="0" marL="0">
              <a:buNone/>
            </a:pPr>
            <a:r>
              <a:rPr lang="en-US" sz="1050" dirty="0">
                <a:solidFill>
                  <a:srgbClr val="E8F4F8"/>
                </a:solidFill>
                <a:latin typeface="Calibri" pitchFamily="34" charset="0"/>
                <a:ea typeface="Calibri" pitchFamily="34" charset="-122"/>
                <a:cs typeface="Calibri" pitchFamily="34" charset="-120"/>
              </a:rPr>
              <a:t>9 separate CSV files — no enforced relationships between them</a:t>
            </a:r>
            <a:endParaRPr lang="en-US" sz="1050" dirty="0"/>
          </a:p>
        </p:txBody>
      </p:sp>
      <p:sp>
        <p:nvSpPr>
          <p:cNvPr id="8" name="Shape 6"/>
          <p:cNvSpPr/>
          <p:nvPr/>
        </p:nvSpPr>
        <p:spPr>
          <a:xfrm>
            <a:off x="475488" y="1956816"/>
            <a:ext cx="201168" cy="201168"/>
          </a:xfrm>
          <a:prstGeom prst="ellipse">
            <a:avLst/>
          </a:prstGeom>
          <a:solidFill>
            <a:srgbClr val="E63946"/>
          </a:solidFill>
          <a:ln w="12700">
            <a:solidFill>
              <a:srgbClr val="E63946"/>
            </a:solidFill>
            <a:prstDash val="solid"/>
          </a:ln>
        </p:spPr>
      </p:sp>
      <p:sp>
        <p:nvSpPr>
          <p:cNvPr id="9" name="Text 7"/>
          <p:cNvSpPr/>
          <p:nvPr/>
        </p:nvSpPr>
        <p:spPr>
          <a:xfrm>
            <a:off x="777240" y="1911096"/>
            <a:ext cx="3383280" cy="475488"/>
          </a:xfrm>
          <a:prstGeom prst="rect">
            <a:avLst/>
          </a:prstGeom>
          <a:noFill/>
          <a:ln/>
        </p:spPr>
        <p:txBody>
          <a:bodyPr wrap="square" rtlCol="0" anchor="ctr"/>
          <a:lstStyle/>
          <a:p>
            <a:pPr indent="0" marL="0">
              <a:buNone/>
            </a:pPr>
            <a:r>
              <a:rPr lang="en-US" sz="1050" dirty="0">
                <a:solidFill>
                  <a:srgbClr val="E8F4F8"/>
                </a:solidFill>
                <a:latin typeface="Calibri" pitchFamily="34" charset="0"/>
                <a:ea typeface="Calibri" pitchFamily="34" charset="-122"/>
                <a:cs typeface="Calibri" pitchFamily="34" charset="-120"/>
              </a:rPr>
              <a:t>Cannot answer a single business question from raw data alone</a:t>
            </a:r>
            <a:endParaRPr lang="en-US" sz="1050" dirty="0"/>
          </a:p>
        </p:txBody>
      </p:sp>
      <p:sp>
        <p:nvSpPr>
          <p:cNvPr id="10" name="Shape 8"/>
          <p:cNvSpPr/>
          <p:nvPr/>
        </p:nvSpPr>
        <p:spPr>
          <a:xfrm>
            <a:off x="475488" y="2523744"/>
            <a:ext cx="201168" cy="201168"/>
          </a:xfrm>
          <a:prstGeom prst="ellipse">
            <a:avLst/>
          </a:prstGeom>
          <a:solidFill>
            <a:srgbClr val="E63946"/>
          </a:solidFill>
          <a:ln w="12700">
            <a:solidFill>
              <a:srgbClr val="E63946"/>
            </a:solidFill>
            <a:prstDash val="solid"/>
          </a:ln>
        </p:spPr>
      </p:sp>
      <p:sp>
        <p:nvSpPr>
          <p:cNvPr id="11" name="Text 9"/>
          <p:cNvSpPr/>
          <p:nvPr/>
        </p:nvSpPr>
        <p:spPr>
          <a:xfrm>
            <a:off x="777240" y="2478024"/>
            <a:ext cx="3383280" cy="475488"/>
          </a:xfrm>
          <a:prstGeom prst="rect">
            <a:avLst/>
          </a:prstGeom>
          <a:noFill/>
          <a:ln/>
        </p:spPr>
        <p:txBody>
          <a:bodyPr wrap="square" rtlCol="0" anchor="ctr"/>
          <a:lstStyle/>
          <a:p>
            <a:pPr indent="0" marL="0">
              <a:buNone/>
            </a:pPr>
            <a:r>
              <a:rPr lang="en-US" sz="1050" dirty="0">
                <a:solidFill>
                  <a:srgbClr val="E8F4F8"/>
                </a:solidFill>
                <a:latin typeface="Calibri" pitchFamily="34" charset="0"/>
                <a:ea typeface="Calibri" pitchFamily="34" charset="-122"/>
                <a:cs typeface="Calibri" pitchFamily="34" charset="-120"/>
              </a:rPr>
              <a:t>Missing values, duplicates, and type inconsistencies throughout</a:t>
            </a:r>
            <a:endParaRPr lang="en-US" sz="1050" dirty="0"/>
          </a:p>
        </p:txBody>
      </p:sp>
      <p:sp>
        <p:nvSpPr>
          <p:cNvPr id="12" name="Shape 10"/>
          <p:cNvSpPr/>
          <p:nvPr/>
        </p:nvSpPr>
        <p:spPr>
          <a:xfrm>
            <a:off x="475488" y="3090672"/>
            <a:ext cx="201168" cy="201168"/>
          </a:xfrm>
          <a:prstGeom prst="ellipse">
            <a:avLst/>
          </a:prstGeom>
          <a:solidFill>
            <a:srgbClr val="E63946"/>
          </a:solidFill>
          <a:ln w="12700">
            <a:solidFill>
              <a:srgbClr val="E63946"/>
            </a:solidFill>
            <a:prstDash val="solid"/>
          </a:ln>
        </p:spPr>
      </p:sp>
      <p:sp>
        <p:nvSpPr>
          <p:cNvPr id="13" name="Text 11"/>
          <p:cNvSpPr/>
          <p:nvPr/>
        </p:nvSpPr>
        <p:spPr>
          <a:xfrm>
            <a:off x="777240" y="3044952"/>
            <a:ext cx="3383280" cy="475488"/>
          </a:xfrm>
          <a:prstGeom prst="rect">
            <a:avLst/>
          </a:prstGeom>
          <a:noFill/>
          <a:ln/>
        </p:spPr>
        <p:txBody>
          <a:bodyPr wrap="square" rtlCol="0" anchor="ctr"/>
          <a:lstStyle/>
          <a:p>
            <a:pPr indent="0" marL="0">
              <a:buNone/>
            </a:pPr>
            <a:r>
              <a:rPr lang="en-US" sz="1050" dirty="0">
                <a:solidFill>
                  <a:srgbClr val="E8F4F8"/>
                </a:solidFill>
                <a:latin typeface="Calibri" pitchFamily="34" charset="0"/>
                <a:ea typeface="Calibri" pitchFamily="34" charset="-122"/>
                <a:cs typeface="Calibri" pitchFamily="34" charset="-120"/>
              </a:rPr>
              <a:t>No automation — manual scripts are error-prone and non-reproducible</a:t>
            </a:r>
            <a:endParaRPr lang="en-US" sz="1050" dirty="0"/>
          </a:p>
        </p:txBody>
      </p:sp>
      <p:sp>
        <p:nvSpPr>
          <p:cNvPr id="14" name="Shape 12"/>
          <p:cNvSpPr/>
          <p:nvPr/>
        </p:nvSpPr>
        <p:spPr>
          <a:xfrm>
            <a:off x="475488" y="3657600"/>
            <a:ext cx="201168" cy="201168"/>
          </a:xfrm>
          <a:prstGeom prst="ellipse">
            <a:avLst/>
          </a:prstGeom>
          <a:solidFill>
            <a:srgbClr val="E63946"/>
          </a:solidFill>
          <a:ln w="12700">
            <a:solidFill>
              <a:srgbClr val="E63946"/>
            </a:solidFill>
            <a:prstDash val="solid"/>
          </a:ln>
        </p:spPr>
      </p:sp>
      <p:sp>
        <p:nvSpPr>
          <p:cNvPr id="15" name="Text 13"/>
          <p:cNvSpPr/>
          <p:nvPr/>
        </p:nvSpPr>
        <p:spPr>
          <a:xfrm>
            <a:off x="777240" y="3611880"/>
            <a:ext cx="3383280" cy="475488"/>
          </a:xfrm>
          <a:prstGeom prst="rect">
            <a:avLst/>
          </a:prstGeom>
          <a:noFill/>
          <a:ln/>
        </p:spPr>
        <p:txBody>
          <a:bodyPr wrap="square" rtlCol="0" anchor="ctr"/>
          <a:lstStyle/>
          <a:p>
            <a:pPr indent="0" marL="0">
              <a:buNone/>
            </a:pPr>
            <a:r>
              <a:rPr lang="en-US" sz="1050" dirty="0">
                <a:solidFill>
                  <a:srgbClr val="E8F4F8"/>
                </a:solidFill>
                <a:latin typeface="Calibri" pitchFamily="34" charset="0"/>
                <a:ea typeface="Calibri" pitchFamily="34" charset="-122"/>
                <a:cs typeface="Calibri" pitchFamily="34" charset="-120"/>
              </a:rPr>
              <a:t>Latin-1 encoding issues on Brazilian city/product names</a:t>
            </a:r>
            <a:endParaRPr lang="en-US" sz="1050" dirty="0"/>
          </a:p>
        </p:txBody>
      </p:sp>
      <p:sp>
        <p:nvSpPr>
          <p:cNvPr id="16" name="Shape 14"/>
          <p:cNvSpPr/>
          <p:nvPr/>
        </p:nvSpPr>
        <p:spPr>
          <a:xfrm>
            <a:off x="4800600" y="804672"/>
            <a:ext cx="4069080" cy="4114800"/>
          </a:xfrm>
          <a:prstGeom prst="roundRect">
            <a:avLst>
              <a:gd name="adj" fmla="val 3146"/>
            </a:avLst>
          </a:prstGeom>
          <a:solidFill>
            <a:srgbClr val="14345A"/>
          </a:solidFill>
          <a:ln w="12700">
            <a:solidFill>
              <a:srgbClr val="02C39A"/>
            </a:solidFill>
            <a:prstDash val="solid"/>
          </a:ln>
          <a:effectLst>
            <a:outerShdw sx="100000" sy="100000" kx="0" ky="0" algn="bl" rotWithShape="0" blurRad="127000" dist="50800" dir="2700000">
              <a:srgbClr val="000000">
                <a:alpha val="20000"/>
              </a:srgbClr>
            </a:outerShdw>
          </a:effectLst>
        </p:spPr>
      </p:sp>
      <p:sp>
        <p:nvSpPr>
          <p:cNvPr id="17" name="Text 15"/>
          <p:cNvSpPr/>
          <p:nvPr/>
        </p:nvSpPr>
        <p:spPr>
          <a:xfrm>
            <a:off x="4983480" y="914400"/>
            <a:ext cx="3657600" cy="347472"/>
          </a:xfrm>
          <a:prstGeom prst="rect">
            <a:avLst/>
          </a:prstGeom>
          <a:noFill/>
          <a:ln/>
        </p:spPr>
        <p:txBody>
          <a:bodyPr wrap="square" rtlCol="0" anchor="ctr"/>
          <a:lstStyle/>
          <a:p>
            <a:pPr indent="0" marL="0">
              <a:buNone/>
            </a:pPr>
            <a:r>
              <a:rPr lang="en-US" sz="1100" b="1" spc="300" kern="0" dirty="0">
                <a:solidFill>
                  <a:srgbClr val="02C39A"/>
                </a:solidFill>
                <a:latin typeface="Calibri" pitchFamily="34" charset="0"/>
                <a:ea typeface="Calibri" pitchFamily="34" charset="-122"/>
                <a:cs typeface="Calibri" pitchFamily="34" charset="-120"/>
              </a:rPr>
              <a:t>THE OBJECTIVE</a:t>
            </a:r>
            <a:endParaRPr lang="en-US" sz="1100" dirty="0"/>
          </a:p>
        </p:txBody>
      </p:sp>
      <p:sp>
        <p:nvSpPr>
          <p:cNvPr id="18" name="Shape 16"/>
          <p:cNvSpPr/>
          <p:nvPr/>
        </p:nvSpPr>
        <p:spPr>
          <a:xfrm>
            <a:off x="5001768" y="1389888"/>
            <a:ext cx="201168" cy="201168"/>
          </a:xfrm>
          <a:prstGeom prst="ellipse">
            <a:avLst/>
          </a:prstGeom>
          <a:solidFill>
            <a:srgbClr val="02C39A"/>
          </a:solidFill>
          <a:ln w="12700">
            <a:solidFill>
              <a:srgbClr val="02C39A"/>
            </a:solidFill>
            <a:prstDash val="solid"/>
          </a:ln>
        </p:spPr>
      </p:sp>
      <p:sp>
        <p:nvSpPr>
          <p:cNvPr id="19" name="Text 17"/>
          <p:cNvSpPr/>
          <p:nvPr/>
        </p:nvSpPr>
        <p:spPr>
          <a:xfrm>
            <a:off x="5303520" y="1344168"/>
            <a:ext cx="3383280" cy="475488"/>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Automated ETL pipeline via Kaggle API — no manual downloads</a:t>
            </a:r>
            <a:endParaRPr lang="en-US" sz="1050" dirty="0"/>
          </a:p>
        </p:txBody>
      </p:sp>
      <p:sp>
        <p:nvSpPr>
          <p:cNvPr id="20" name="Shape 18"/>
          <p:cNvSpPr/>
          <p:nvPr/>
        </p:nvSpPr>
        <p:spPr>
          <a:xfrm>
            <a:off x="5001768" y="1956816"/>
            <a:ext cx="201168" cy="201168"/>
          </a:xfrm>
          <a:prstGeom prst="ellipse">
            <a:avLst/>
          </a:prstGeom>
          <a:solidFill>
            <a:srgbClr val="02C39A"/>
          </a:solidFill>
          <a:ln w="12700">
            <a:solidFill>
              <a:srgbClr val="02C39A"/>
            </a:solidFill>
            <a:prstDash val="solid"/>
          </a:ln>
        </p:spPr>
      </p:sp>
      <p:sp>
        <p:nvSpPr>
          <p:cNvPr id="21" name="Text 19"/>
          <p:cNvSpPr/>
          <p:nvPr/>
        </p:nvSpPr>
        <p:spPr>
          <a:xfrm>
            <a:off x="5303520" y="1911096"/>
            <a:ext cx="3383280" cy="475488"/>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3NF PostgreSQL schema with enforced referential integrity</a:t>
            </a:r>
            <a:endParaRPr lang="en-US" sz="1050" dirty="0"/>
          </a:p>
        </p:txBody>
      </p:sp>
      <p:sp>
        <p:nvSpPr>
          <p:cNvPr id="22" name="Shape 20"/>
          <p:cNvSpPr/>
          <p:nvPr/>
        </p:nvSpPr>
        <p:spPr>
          <a:xfrm>
            <a:off x="5001768" y="2523744"/>
            <a:ext cx="201168" cy="201168"/>
          </a:xfrm>
          <a:prstGeom prst="ellipse">
            <a:avLst/>
          </a:prstGeom>
          <a:solidFill>
            <a:srgbClr val="02C39A"/>
          </a:solidFill>
          <a:ln w="12700">
            <a:solidFill>
              <a:srgbClr val="02C39A"/>
            </a:solidFill>
            <a:prstDash val="solid"/>
          </a:ln>
        </p:spPr>
      </p:sp>
      <p:sp>
        <p:nvSpPr>
          <p:cNvPr id="23" name="Text 21"/>
          <p:cNvSpPr/>
          <p:nvPr/>
        </p:nvSpPr>
        <p:spPr>
          <a:xfrm>
            <a:off x="5303520" y="2478024"/>
            <a:ext cx="3383280" cy="475488"/>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Zero FK violations across all 99,441 orders</a:t>
            </a:r>
            <a:endParaRPr lang="en-US" sz="1050" dirty="0"/>
          </a:p>
        </p:txBody>
      </p:sp>
      <p:sp>
        <p:nvSpPr>
          <p:cNvPr id="24" name="Shape 22"/>
          <p:cNvSpPr/>
          <p:nvPr/>
        </p:nvSpPr>
        <p:spPr>
          <a:xfrm>
            <a:off x="5001768" y="3090672"/>
            <a:ext cx="201168" cy="201168"/>
          </a:xfrm>
          <a:prstGeom prst="ellipse">
            <a:avLst/>
          </a:prstGeom>
          <a:solidFill>
            <a:srgbClr val="02C39A"/>
          </a:solidFill>
          <a:ln w="12700">
            <a:solidFill>
              <a:srgbClr val="02C39A"/>
            </a:solidFill>
            <a:prstDash val="solid"/>
          </a:ln>
        </p:spPr>
      </p:sp>
      <p:sp>
        <p:nvSpPr>
          <p:cNvPr id="25" name="Text 23"/>
          <p:cNvSpPr/>
          <p:nvPr/>
        </p:nvSpPr>
        <p:spPr>
          <a:xfrm>
            <a:off x="5303520" y="3044952"/>
            <a:ext cx="3383280" cy="475488"/>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Apache Airflow DAG on daily schedule with retry logic</a:t>
            </a:r>
            <a:endParaRPr lang="en-US" sz="1050" dirty="0"/>
          </a:p>
        </p:txBody>
      </p:sp>
      <p:sp>
        <p:nvSpPr>
          <p:cNvPr id="26" name="Shape 24"/>
          <p:cNvSpPr/>
          <p:nvPr/>
        </p:nvSpPr>
        <p:spPr>
          <a:xfrm>
            <a:off x="5001768" y="3657600"/>
            <a:ext cx="201168" cy="201168"/>
          </a:xfrm>
          <a:prstGeom prst="ellipse">
            <a:avLst/>
          </a:prstGeom>
          <a:solidFill>
            <a:srgbClr val="02C39A"/>
          </a:solidFill>
          <a:ln w="12700">
            <a:solidFill>
              <a:srgbClr val="02C39A"/>
            </a:solidFill>
            <a:prstDash val="solid"/>
          </a:ln>
        </p:spPr>
      </p:sp>
      <p:sp>
        <p:nvSpPr>
          <p:cNvPr id="27" name="Text 25"/>
          <p:cNvSpPr/>
          <p:nvPr/>
        </p:nvSpPr>
        <p:spPr>
          <a:xfrm>
            <a:off x="5303520" y="3611880"/>
            <a:ext cx="3383280" cy="475488"/>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Power BI dashboard — delivery, revenue &amp; review KPIs</a:t>
            </a:r>
            <a:endParaRPr lang="en-US" sz="1050" dirty="0"/>
          </a:p>
        </p:txBody>
      </p:sp>
      <p:sp>
        <p:nvSpPr>
          <p:cNvPr id="28" name="Shape 26"/>
          <p:cNvSpPr/>
          <p:nvPr/>
        </p:nvSpPr>
        <p:spPr>
          <a:xfrm>
            <a:off x="0" y="5047488"/>
            <a:ext cx="9144000" cy="91440"/>
          </a:xfrm>
          <a:prstGeom prst="rect">
            <a:avLst/>
          </a:prstGeom>
          <a:solidFill>
            <a:srgbClr val="0D2137"/>
          </a:solidFill>
          <a:ln w="12700">
            <a:solidFill>
              <a:srgbClr val="0D2137"/>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sp>
      <p:sp>
        <p:nvSpPr>
          <p:cNvPr id="3" name="Text 1"/>
          <p:cNvSpPr/>
          <p:nvPr/>
        </p:nvSpPr>
        <p:spPr>
          <a:xfrm>
            <a:off x="411480" y="109728"/>
            <a:ext cx="822960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3-Layer Data Architecture</a:t>
            </a:r>
            <a:endParaRPr lang="en-US" sz="2800" dirty="0"/>
          </a:p>
        </p:txBody>
      </p:sp>
      <p:sp>
        <p:nvSpPr>
          <p:cNvPr id="4" name="Shape 2"/>
          <p:cNvSpPr/>
          <p:nvPr/>
        </p:nvSpPr>
        <p:spPr>
          <a:xfrm>
            <a:off x="274320" y="749808"/>
            <a:ext cx="8595360" cy="1280160"/>
          </a:xfrm>
          <a:prstGeom prst="roundRect">
            <a:avLst>
              <a:gd name="adj" fmla="val 8571"/>
            </a:avLst>
          </a:prstGeom>
          <a:solidFill>
            <a:srgbClr val="112B45"/>
          </a:solidFill>
          <a:ln w="12700">
            <a:solidFill>
              <a:srgbClr val="00B4D8"/>
            </a:solidFill>
            <a:prstDash val="solid"/>
          </a:ln>
          <a:effectLst>
            <a:outerShdw sx="100000" sy="100000" kx="0" ky="0" algn="bl" rotWithShape="0" blurRad="127000" dist="50800" dir="2700000">
              <a:srgbClr val="000000">
                <a:alpha val="20000"/>
              </a:srgbClr>
            </a:outerShdw>
          </a:effectLst>
        </p:spPr>
      </p:sp>
      <p:sp>
        <p:nvSpPr>
          <p:cNvPr id="5" name="Text 3"/>
          <p:cNvSpPr/>
          <p:nvPr/>
        </p:nvSpPr>
        <p:spPr>
          <a:xfrm>
            <a:off x="457200" y="822960"/>
            <a:ext cx="8229600" cy="292608"/>
          </a:xfrm>
          <a:prstGeom prst="rect">
            <a:avLst/>
          </a:prstGeom>
          <a:noFill/>
          <a:ln/>
        </p:spPr>
        <p:txBody>
          <a:bodyPr wrap="square" rtlCol="0" anchor="ctr"/>
          <a:lstStyle/>
          <a:p>
            <a:pPr indent="0" marL="0">
              <a:buNone/>
            </a:pPr>
            <a:r>
              <a:rPr lang="en-US" sz="1150" b="1" spc="150" kern="0" dirty="0">
                <a:solidFill>
                  <a:srgbClr val="00B4D8"/>
                </a:solidFill>
                <a:latin typeface="Calibri" pitchFamily="34" charset="0"/>
                <a:ea typeface="Calibri" pitchFamily="34" charset="-122"/>
                <a:cs typeface="Calibri" pitchFamily="34" charset="-120"/>
              </a:rPr>
              <a:t>LAYER 1 — SOURCE &amp; INGESTION</a:t>
            </a:r>
            <a:endParaRPr lang="en-US" sz="1150" dirty="0"/>
          </a:p>
        </p:txBody>
      </p:sp>
      <p:sp>
        <p:nvSpPr>
          <p:cNvPr id="6" name="Shape 4"/>
          <p:cNvSpPr/>
          <p:nvPr/>
        </p:nvSpPr>
        <p:spPr>
          <a:xfrm>
            <a:off x="411480" y="1161288"/>
            <a:ext cx="201168" cy="201168"/>
          </a:xfrm>
          <a:prstGeom prst="roundRect">
            <a:avLst>
              <a:gd name="adj" fmla="val 22727"/>
            </a:avLst>
          </a:prstGeom>
          <a:solidFill>
            <a:srgbClr val="00B4D8"/>
          </a:solidFill>
          <a:ln w="12700">
            <a:solidFill>
              <a:srgbClr val="00B4D8"/>
            </a:solidFill>
            <a:prstDash val="solid"/>
          </a:ln>
        </p:spPr>
      </p:sp>
      <p:sp>
        <p:nvSpPr>
          <p:cNvPr id="7" name="Text 5"/>
          <p:cNvSpPr/>
          <p:nvPr/>
        </p:nvSpPr>
        <p:spPr>
          <a:xfrm>
            <a:off x="658368" y="1124712"/>
            <a:ext cx="3977640" cy="347472"/>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Kaggle API — programmatic download, no manual steps</a:t>
            </a:r>
            <a:endParaRPr lang="en-US" sz="1000" dirty="0"/>
          </a:p>
        </p:txBody>
      </p:sp>
      <p:sp>
        <p:nvSpPr>
          <p:cNvPr id="8" name="Shape 6"/>
          <p:cNvSpPr/>
          <p:nvPr/>
        </p:nvSpPr>
        <p:spPr>
          <a:xfrm>
            <a:off x="4709160" y="1161288"/>
            <a:ext cx="201168" cy="201168"/>
          </a:xfrm>
          <a:prstGeom prst="roundRect">
            <a:avLst>
              <a:gd name="adj" fmla="val 22727"/>
            </a:avLst>
          </a:prstGeom>
          <a:solidFill>
            <a:srgbClr val="00B4D8"/>
          </a:solidFill>
          <a:ln w="12700">
            <a:solidFill>
              <a:srgbClr val="00B4D8"/>
            </a:solidFill>
            <a:prstDash val="solid"/>
          </a:ln>
        </p:spPr>
      </p:sp>
      <p:sp>
        <p:nvSpPr>
          <p:cNvPr id="9" name="Text 7"/>
          <p:cNvSpPr/>
          <p:nvPr/>
        </p:nvSpPr>
        <p:spPr>
          <a:xfrm>
            <a:off x="4956048" y="1124712"/>
            <a:ext cx="3977640" cy="347472"/>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9 CSV files: UTF-8 &amp; Latin-1 encoding handled</a:t>
            </a:r>
            <a:endParaRPr lang="en-US" sz="1000" dirty="0"/>
          </a:p>
        </p:txBody>
      </p:sp>
      <p:sp>
        <p:nvSpPr>
          <p:cNvPr id="10" name="Shape 8"/>
          <p:cNvSpPr/>
          <p:nvPr/>
        </p:nvSpPr>
        <p:spPr>
          <a:xfrm>
            <a:off x="411480" y="1545336"/>
            <a:ext cx="201168" cy="201168"/>
          </a:xfrm>
          <a:prstGeom prst="roundRect">
            <a:avLst>
              <a:gd name="adj" fmla="val 22727"/>
            </a:avLst>
          </a:prstGeom>
          <a:solidFill>
            <a:srgbClr val="00B4D8"/>
          </a:solidFill>
          <a:ln w="12700">
            <a:solidFill>
              <a:srgbClr val="00B4D8"/>
            </a:solidFill>
            <a:prstDash val="solid"/>
          </a:ln>
        </p:spPr>
      </p:sp>
      <p:sp>
        <p:nvSpPr>
          <p:cNvPr id="11" name="Text 9"/>
          <p:cNvSpPr/>
          <p:nvPr/>
        </p:nvSpPr>
        <p:spPr>
          <a:xfrm>
            <a:off x="658368" y="1508760"/>
            <a:ext cx="3977640" cy="347472"/>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pd.read_csv() with encoding fallback logic</a:t>
            </a:r>
            <a:endParaRPr lang="en-US" sz="1000" dirty="0"/>
          </a:p>
        </p:txBody>
      </p:sp>
      <p:sp>
        <p:nvSpPr>
          <p:cNvPr id="12" name="Shape 10"/>
          <p:cNvSpPr/>
          <p:nvPr/>
        </p:nvSpPr>
        <p:spPr>
          <a:xfrm>
            <a:off x="4709160" y="1545336"/>
            <a:ext cx="201168" cy="201168"/>
          </a:xfrm>
          <a:prstGeom prst="roundRect">
            <a:avLst>
              <a:gd name="adj" fmla="val 22727"/>
            </a:avLst>
          </a:prstGeom>
          <a:solidFill>
            <a:srgbClr val="00B4D8"/>
          </a:solidFill>
          <a:ln w="12700">
            <a:solidFill>
              <a:srgbClr val="00B4D8"/>
            </a:solidFill>
            <a:prstDash val="solid"/>
          </a:ln>
        </p:spPr>
      </p:sp>
      <p:sp>
        <p:nvSpPr>
          <p:cNvPr id="13" name="Text 11"/>
          <p:cNvSpPr/>
          <p:nvPr/>
        </p:nvSpPr>
        <p:spPr>
          <a:xfrm>
            <a:off x="4956048" y="1508760"/>
            <a:ext cx="3977640" cy="347472"/>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Raw files stored in local /data/raw/ folder</a:t>
            </a:r>
            <a:endParaRPr lang="en-US" sz="1000" dirty="0"/>
          </a:p>
        </p:txBody>
      </p:sp>
      <p:sp>
        <p:nvSpPr>
          <p:cNvPr id="14" name="Shape 12"/>
          <p:cNvSpPr/>
          <p:nvPr/>
        </p:nvSpPr>
        <p:spPr>
          <a:xfrm>
            <a:off x="274320" y="2167128"/>
            <a:ext cx="8595360" cy="1280160"/>
          </a:xfrm>
          <a:prstGeom prst="roundRect">
            <a:avLst>
              <a:gd name="adj" fmla="val 8571"/>
            </a:avLst>
          </a:prstGeom>
          <a:solidFill>
            <a:srgbClr val="112B45"/>
          </a:solidFill>
          <a:ln w="12700">
            <a:solidFill>
              <a:srgbClr val="02C39A"/>
            </a:solidFill>
            <a:prstDash val="solid"/>
          </a:ln>
          <a:effectLst>
            <a:outerShdw sx="100000" sy="100000" kx="0" ky="0" algn="bl" rotWithShape="0" blurRad="127000" dist="50800" dir="2700000">
              <a:srgbClr val="000000">
                <a:alpha val="20000"/>
              </a:srgbClr>
            </a:outerShdw>
          </a:effectLst>
        </p:spPr>
      </p:sp>
      <p:sp>
        <p:nvSpPr>
          <p:cNvPr id="15" name="Text 13"/>
          <p:cNvSpPr/>
          <p:nvPr/>
        </p:nvSpPr>
        <p:spPr>
          <a:xfrm>
            <a:off x="457200" y="2240280"/>
            <a:ext cx="8229600" cy="292608"/>
          </a:xfrm>
          <a:prstGeom prst="rect">
            <a:avLst/>
          </a:prstGeom>
          <a:noFill/>
          <a:ln/>
        </p:spPr>
        <p:txBody>
          <a:bodyPr wrap="square" rtlCol="0" anchor="ctr"/>
          <a:lstStyle/>
          <a:p>
            <a:pPr indent="0" marL="0">
              <a:buNone/>
            </a:pPr>
            <a:r>
              <a:rPr lang="en-US" sz="1150" b="1" spc="150" kern="0" dirty="0">
                <a:solidFill>
                  <a:srgbClr val="02C39A"/>
                </a:solidFill>
                <a:latin typeface="Calibri" pitchFamily="34" charset="0"/>
                <a:ea typeface="Calibri" pitchFamily="34" charset="-122"/>
                <a:cs typeface="Calibri" pitchFamily="34" charset="-120"/>
              </a:rPr>
              <a:t>LAYER 2 — TRANSFORM &amp; STORE</a:t>
            </a:r>
            <a:endParaRPr lang="en-US" sz="1150" dirty="0"/>
          </a:p>
        </p:txBody>
      </p:sp>
      <p:sp>
        <p:nvSpPr>
          <p:cNvPr id="16" name="Shape 14"/>
          <p:cNvSpPr/>
          <p:nvPr/>
        </p:nvSpPr>
        <p:spPr>
          <a:xfrm>
            <a:off x="411480" y="2578608"/>
            <a:ext cx="201168" cy="201168"/>
          </a:xfrm>
          <a:prstGeom prst="roundRect">
            <a:avLst>
              <a:gd name="adj" fmla="val 22727"/>
            </a:avLst>
          </a:prstGeom>
          <a:solidFill>
            <a:srgbClr val="02C39A"/>
          </a:solidFill>
          <a:ln w="12700">
            <a:solidFill>
              <a:srgbClr val="02C39A"/>
            </a:solidFill>
            <a:prstDash val="solid"/>
          </a:ln>
        </p:spPr>
      </p:sp>
      <p:sp>
        <p:nvSpPr>
          <p:cNvPr id="17" name="Text 15"/>
          <p:cNvSpPr/>
          <p:nvPr/>
        </p:nvSpPr>
        <p:spPr>
          <a:xfrm>
            <a:off x="658368" y="2542032"/>
            <a:ext cx="3977640" cy="347472"/>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Pandas: null fills, dedup, type casting, enrichment</a:t>
            </a:r>
            <a:endParaRPr lang="en-US" sz="1000" dirty="0"/>
          </a:p>
        </p:txBody>
      </p:sp>
      <p:sp>
        <p:nvSpPr>
          <p:cNvPr id="18" name="Shape 16"/>
          <p:cNvSpPr/>
          <p:nvPr/>
        </p:nvSpPr>
        <p:spPr>
          <a:xfrm>
            <a:off x="4709160" y="2578608"/>
            <a:ext cx="201168" cy="201168"/>
          </a:xfrm>
          <a:prstGeom prst="roundRect">
            <a:avLst>
              <a:gd name="adj" fmla="val 22727"/>
            </a:avLst>
          </a:prstGeom>
          <a:solidFill>
            <a:srgbClr val="02C39A"/>
          </a:solidFill>
          <a:ln w="12700">
            <a:solidFill>
              <a:srgbClr val="02C39A"/>
            </a:solidFill>
            <a:prstDash val="solid"/>
          </a:ln>
        </p:spPr>
      </p:sp>
      <p:sp>
        <p:nvSpPr>
          <p:cNvPr id="19" name="Text 17"/>
          <p:cNvSpPr/>
          <p:nvPr/>
        </p:nvSpPr>
        <p:spPr>
          <a:xfrm>
            <a:off x="4956048" y="2542032"/>
            <a:ext cx="3977640" cy="347472"/>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Feature engineering: DeliveryDays = delivered − purchase</a:t>
            </a:r>
            <a:endParaRPr lang="en-US" sz="1000" dirty="0"/>
          </a:p>
        </p:txBody>
      </p:sp>
      <p:sp>
        <p:nvSpPr>
          <p:cNvPr id="20" name="Shape 18"/>
          <p:cNvSpPr/>
          <p:nvPr/>
        </p:nvSpPr>
        <p:spPr>
          <a:xfrm>
            <a:off x="411480" y="2962656"/>
            <a:ext cx="201168" cy="201168"/>
          </a:xfrm>
          <a:prstGeom prst="roundRect">
            <a:avLst>
              <a:gd name="adj" fmla="val 22727"/>
            </a:avLst>
          </a:prstGeom>
          <a:solidFill>
            <a:srgbClr val="02C39A"/>
          </a:solidFill>
          <a:ln w="12700">
            <a:solidFill>
              <a:srgbClr val="02C39A"/>
            </a:solidFill>
            <a:prstDash val="solid"/>
          </a:ln>
        </p:spPr>
      </p:sp>
      <p:sp>
        <p:nvSpPr>
          <p:cNvPr id="21" name="Text 19"/>
          <p:cNvSpPr/>
          <p:nvPr/>
        </p:nvSpPr>
        <p:spPr>
          <a:xfrm>
            <a:off x="658368" y="2926080"/>
            <a:ext cx="3977640" cy="347472"/>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3NF PostgreSQL schema — 9 tables, FK enforcement</a:t>
            </a:r>
            <a:endParaRPr lang="en-US" sz="1000" dirty="0"/>
          </a:p>
        </p:txBody>
      </p:sp>
      <p:sp>
        <p:nvSpPr>
          <p:cNvPr id="22" name="Shape 20"/>
          <p:cNvSpPr/>
          <p:nvPr/>
        </p:nvSpPr>
        <p:spPr>
          <a:xfrm>
            <a:off x="4709160" y="2962656"/>
            <a:ext cx="201168" cy="201168"/>
          </a:xfrm>
          <a:prstGeom prst="roundRect">
            <a:avLst>
              <a:gd name="adj" fmla="val 22727"/>
            </a:avLst>
          </a:prstGeom>
          <a:solidFill>
            <a:srgbClr val="02C39A"/>
          </a:solidFill>
          <a:ln w="12700">
            <a:solidFill>
              <a:srgbClr val="02C39A"/>
            </a:solidFill>
            <a:prstDash val="solid"/>
          </a:ln>
        </p:spPr>
      </p:sp>
      <p:sp>
        <p:nvSpPr>
          <p:cNvPr id="23" name="Text 21"/>
          <p:cNvSpPr/>
          <p:nvPr/>
        </p:nvSpPr>
        <p:spPr>
          <a:xfrm>
            <a:off x="4956048" y="2926080"/>
            <a:ext cx="3977640" cy="347472"/>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SQLAlchemy to_sql() with method='multi' for performance</a:t>
            </a:r>
            <a:endParaRPr lang="en-US" sz="1000" dirty="0"/>
          </a:p>
        </p:txBody>
      </p:sp>
      <p:sp>
        <p:nvSpPr>
          <p:cNvPr id="24" name="Shape 22"/>
          <p:cNvSpPr/>
          <p:nvPr/>
        </p:nvSpPr>
        <p:spPr>
          <a:xfrm>
            <a:off x="274320" y="3584448"/>
            <a:ext cx="8595360" cy="1280160"/>
          </a:xfrm>
          <a:prstGeom prst="roundRect">
            <a:avLst>
              <a:gd name="adj" fmla="val 8571"/>
            </a:avLst>
          </a:prstGeom>
          <a:solidFill>
            <a:srgbClr val="112B45"/>
          </a:solidFill>
          <a:ln w="12700">
            <a:solidFill>
              <a:srgbClr val="F4A261"/>
            </a:solidFill>
            <a:prstDash val="solid"/>
          </a:ln>
          <a:effectLst>
            <a:outerShdw sx="100000" sy="100000" kx="0" ky="0" algn="bl" rotWithShape="0" blurRad="127000" dist="50800" dir="2700000">
              <a:srgbClr val="000000">
                <a:alpha val="20000"/>
              </a:srgbClr>
            </a:outerShdw>
          </a:effectLst>
        </p:spPr>
      </p:sp>
      <p:sp>
        <p:nvSpPr>
          <p:cNvPr id="25" name="Text 23"/>
          <p:cNvSpPr/>
          <p:nvPr/>
        </p:nvSpPr>
        <p:spPr>
          <a:xfrm>
            <a:off x="457200" y="3657600"/>
            <a:ext cx="8229600" cy="292608"/>
          </a:xfrm>
          <a:prstGeom prst="rect">
            <a:avLst/>
          </a:prstGeom>
          <a:noFill/>
          <a:ln/>
        </p:spPr>
        <p:txBody>
          <a:bodyPr wrap="square" rtlCol="0" anchor="ctr"/>
          <a:lstStyle/>
          <a:p>
            <a:pPr indent="0" marL="0">
              <a:buNone/>
            </a:pPr>
            <a:r>
              <a:rPr lang="en-US" sz="1150" b="1" spc="150" kern="0" dirty="0">
                <a:solidFill>
                  <a:srgbClr val="F4A261"/>
                </a:solidFill>
                <a:latin typeface="Calibri" pitchFamily="34" charset="0"/>
                <a:ea typeface="Calibri" pitchFamily="34" charset="-122"/>
                <a:cs typeface="Calibri" pitchFamily="34" charset="-120"/>
              </a:rPr>
              <a:t>LAYER 3 — ORCHESTRATE &amp; VISUALIZE</a:t>
            </a:r>
            <a:endParaRPr lang="en-US" sz="1150" dirty="0"/>
          </a:p>
        </p:txBody>
      </p:sp>
      <p:sp>
        <p:nvSpPr>
          <p:cNvPr id="26" name="Shape 24"/>
          <p:cNvSpPr/>
          <p:nvPr/>
        </p:nvSpPr>
        <p:spPr>
          <a:xfrm>
            <a:off x="411480" y="3995928"/>
            <a:ext cx="201168" cy="201168"/>
          </a:xfrm>
          <a:prstGeom prst="roundRect">
            <a:avLst>
              <a:gd name="adj" fmla="val 22727"/>
            </a:avLst>
          </a:prstGeom>
          <a:solidFill>
            <a:srgbClr val="F4A261"/>
          </a:solidFill>
          <a:ln w="12700">
            <a:solidFill>
              <a:srgbClr val="F4A261"/>
            </a:solidFill>
            <a:prstDash val="solid"/>
          </a:ln>
        </p:spPr>
      </p:sp>
      <p:sp>
        <p:nvSpPr>
          <p:cNvPr id="27" name="Text 25"/>
          <p:cNvSpPr/>
          <p:nvPr/>
        </p:nvSpPr>
        <p:spPr>
          <a:xfrm>
            <a:off x="658368" y="3959352"/>
            <a:ext cx="3977640" cy="347472"/>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Apache Airflow DAG: extract → clean → validate → notify</a:t>
            </a:r>
            <a:endParaRPr lang="en-US" sz="1000" dirty="0"/>
          </a:p>
        </p:txBody>
      </p:sp>
      <p:sp>
        <p:nvSpPr>
          <p:cNvPr id="28" name="Shape 26"/>
          <p:cNvSpPr/>
          <p:nvPr/>
        </p:nvSpPr>
        <p:spPr>
          <a:xfrm>
            <a:off x="4709160" y="3995928"/>
            <a:ext cx="201168" cy="201168"/>
          </a:xfrm>
          <a:prstGeom prst="roundRect">
            <a:avLst>
              <a:gd name="adj" fmla="val 22727"/>
            </a:avLst>
          </a:prstGeom>
          <a:solidFill>
            <a:srgbClr val="F4A261"/>
          </a:solidFill>
          <a:ln w="12700">
            <a:solidFill>
              <a:srgbClr val="F4A261"/>
            </a:solidFill>
            <a:prstDash val="solid"/>
          </a:ln>
        </p:spPr>
      </p:sp>
      <p:sp>
        <p:nvSpPr>
          <p:cNvPr id="29" name="Text 27"/>
          <p:cNvSpPr/>
          <p:nvPr/>
        </p:nvSpPr>
        <p:spPr>
          <a:xfrm>
            <a:off x="4956048" y="3959352"/>
            <a:ext cx="3977640" cy="347472"/>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@daily schedule, 1 retry per task, audit log trail</a:t>
            </a:r>
            <a:endParaRPr lang="en-US" sz="1000" dirty="0"/>
          </a:p>
        </p:txBody>
      </p:sp>
      <p:sp>
        <p:nvSpPr>
          <p:cNvPr id="30" name="Shape 28"/>
          <p:cNvSpPr/>
          <p:nvPr/>
        </p:nvSpPr>
        <p:spPr>
          <a:xfrm>
            <a:off x="411480" y="4379976"/>
            <a:ext cx="201168" cy="201168"/>
          </a:xfrm>
          <a:prstGeom prst="roundRect">
            <a:avLst>
              <a:gd name="adj" fmla="val 22727"/>
            </a:avLst>
          </a:prstGeom>
          <a:solidFill>
            <a:srgbClr val="F4A261"/>
          </a:solidFill>
          <a:ln w="12700">
            <a:solidFill>
              <a:srgbClr val="F4A261"/>
            </a:solidFill>
            <a:prstDash val="solid"/>
          </a:ln>
        </p:spPr>
      </p:sp>
      <p:sp>
        <p:nvSpPr>
          <p:cNvPr id="31" name="Text 29"/>
          <p:cNvSpPr/>
          <p:nvPr/>
        </p:nvSpPr>
        <p:spPr>
          <a:xfrm>
            <a:off x="658368" y="4343400"/>
            <a:ext cx="3977640" cy="347472"/>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Power BI connected via native PostgreSQL connector</a:t>
            </a:r>
            <a:endParaRPr lang="en-US" sz="1000" dirty="0"/>
          </a:p>
        </p:txBody>
      </p:sp>
      <p:sp>
        <p:nvSpPr>
          <p:cNvPr id="32" name="Shape 30"/>
          <p:cNvSpPr/>
          <p:nvPr/>
        </p:nvSpPr>
        <p:spPr>
          <a:xfrm>
            <a:off x="4709160" y="4379976"/>
            <a:ext cx="201168" cy="201168"/>
          </a:xfrm>
          <a:prstGeom prst="roundRect">
            <a:avLst>
              <a:gd name="adj" fmla="val 22727"/>
            </a:avLst>
          </a:prstGeom>
          <a:solidFill>
            <a:srgbClr val="F4A261"/>
          </a:solidFill>
          <a:ln w="12700">
            <a:solidFill>
              <a:srgbClr val="F4A261"/>
            </a:solidFill>
            <a:prstDash val="solid"/>
          </a:ln>
        </p:spPr>
      </p:sp>
      <p:sp>
        <p:nvSpPr>
          <p:cNvPr id="33" name="Text 31"/>
          <p:cNvSpPr/>
          <p:nvPr/>
        </p:nvSpPr>
        <p:spPr>
          <a:xfrm>
            <a:off x="4956048" y="4343400"/>
            <a:ext cx="3977640" cy="347472"/>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3 dashboard tabs — Overview, Delivery, Commerce &amp; Reviews</a:t>
            </a:r>
            <a:endParaRPr lang="en-US" sz="1000" dirty="0"/>
          </a:p>
        </p:txBody>
      </p:sp>
      <p:sp>
        <p:nvSpPr>
          <p:cNvPr id="34" name="Shape 32"/>
          <p:cNvSpPr/>
          <p:nvPr/>
        </p:nvSpPr>
        <p:spPr>
          <a:xfrm>
            <a:off x="0" y="5047488"/>
            <a:ext cx="9144000" cy="91440"/>
          </a:xfrm>
          <a:prstGeom prst="rect">
            <a:avLst/>
          </a:prstGeom>
          <a:solidFill>
            <a:srgbClr val="14345A"/>
          </a:solidFill>
          <a:ln w="12700">
            <a:solidFill>
              <a:srgbClr val="14345A"/>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sp>
      <p:sp>
        <p:nvSpPr>
          <p:cNvPr id="3" name="Text 1"/>
          <p:cNvSpPr/>
          <p:nvPr/>
        </p:nvSpPr>
        <p:spPr>
          <a:xfrm>
            <a:off x="411480" y="109728"/>
            <a:ext cx="8229600" cy="4572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End-to-End Pipeline Architecture</a:t>
            </a:r>
            <a:endParaRPr lang="en-US" sz="2600" dirty="0"/>
          </a:p>
        </p:txBody>
      </p:sp>
      <p:pic>
        <p:nvPicPr>
          <p:cNvPr id="4" name="Image 0" descr="preencoded.png">    </p:cNvPr>
          <p:cNvPicPr>
            <a:picLocks noChangeAspect="1"/>
          </p:cNvPicPr>
          <p:nvPr/>
        </p:nvPicPr>
        <p:blipFill>
          <a:blip r:embed="rId1"/>
          <a:stretch>
            <a:fillRect/>
          </a:stretch>
        </p:blipFill>
        <p:spPr>
          <a:xfrm>
            <a:off x="228600" y="658368"/>
            <a:ext cx="8686800" cy="2377440"/>
          </a:xfrm>
          <a:prstGeom prst="rect">
            <a:avLst/>
          </a:prstGeom>
          <a:effectLst>
            <a:outerShdw sx="100000" sy="100000" kx="0" ky="0" algn="bl" rotWithShape="0" blurRad="127000" dist="50800" dir="2700000">
              <a:srgbClr val="000000">
                <a:alpha val="20000"/>
              </a:srgbClr>
            </a:outerShdw>
          </a:effectLst>
        </p:spPr>
      </p:pic>
      <p:sp>
        <p:nvSpPr>
          <p:cNvPr id="5" name="Shape 2"/>
          <p:cNvSpPr/>
          <p:nvPr/>
        </p:nvSpPr>
        <p:spPr>
          <a:xfrm>
            <a:off x="256032" y="3182112"/>
            <a:ext cx="1152144" cy="1737360"/>
          </a:xfrm>
          <a:prstGeom prst="roundRect">
            <a:avLst>
              <a:gd name="adj" fmla="val 7937"/>
            </a:avLst>
          </a:prstGeom>
          <a:solidFill>
            <a:srgbClr val="112B45"/>
          </a:solidFill>
          <a:ln w="12700">
            <a:solidFill>
              <a:srgbClr val="00B4D8"/>
            </a:solidFill>
            <a:prstDash val="solid"/>
          </a:ln>
          <a:effectLst>
            <a:outerShdw sx="100000" sy="100000" kx="0" ky="0" algn="bl" rotWithShape="0" blurRad="127000" dist="50800" dir="2700000">
              <a:srgbClr val="000000">
                <a:alpha val="20000"/>
              </a:srgbClr>
            </a:outerShdw>
          </a:effectLst>
        </p:spPr>
      </p:sp>
      <p:sp>
        <p:nvSpPr>
          <p:cNvPr id="6" name="Shape 3"/>
          <p:cNvSpPr/>
          <p:nvPr/>
        </p:nvSpPr>
        <p:spPr>
          <a:xfrm>
            <a:off x="603504" y="3227832"/>
            <a:ext cx="457200" cy="457200"/>
          </a:xfrm>
          <a:prstGeom prst="ellipse">
            <a:avLst/>
          </a:prstGeom>
          <a:solidFill>
            <a:srgbClr val="00B4D8"/>
          </a:solidFill>
          <a:ln w="12700">
            <a:solidFill>
              <a:srgbClr val="00B4D8"/>
            </a:solidFill>
            <a:prstDash val="solid"/>
          </a:ln>
        </p:spPr>
      </p:sp>
      <p:sp>
        <p:nvSpPr>
          <p:cNvPr id="7" name="Text 4"/>
          <p:cNvSpPr/>
          <p:nvPr/>
        </p:nvSpPr>
        <p:spPr>
          <a:xfrm>
            <a:off x="603504" y="3227832"/>
            <a:ext cx="457200" cy="457200"/>
          </a:xfrm>
          <a:prstGeom prst="rect">
            <a:avLst/>
          </a:prstGeom>
          <a:noFill/>
          <a:ln/>
        </p:spPr>
        <p:txBody>
          <a:bodyPr wrap="square" rtlCol="0" anchor="ctr"/>
          <a:lstStyle/>
          <a:p>
            <a:pPr algn="ctr" indent="0" marL="0">
              <a:buNone/>
            </a:pPr>
            <a:r>
              <a:rPr lang="en-US" sz="1300" b="1" dirty="0">
                <a:solidFill>
                  <a:srgbClr val="0D2137"/>
                </a:solidFill>
              </a:rPr>
              <a:t>1</a:t>
            </a:r>
            <a:endParaRPr lang="en-US" sz="1300" dirty="0"/>
          </a:p>
        </p:txBody>
      </p:sp>
      <p:sp>
        <p:nvSpPr>
          <p:cNvPr id="8" name="Text 5"/>
          <p:cNvSpPr/>
          <p:nvPr/>
        </p:nvSpPr>
        <p:spPr>
          <a:xfrm>
            <a:off x="256032" y="3749040"/>
            <a:ext cx="1152144" cy="292608"/>
          </a:xfrm>
          <a:prstGeom prst="rect">
            <a:avLst/>
          </a:prstGeom>
          <a:noFill/>
          <a:ln/>
        </p:spPr>
        <p:txBody>
          <a:bodyPr wrap="square" rtlCol="0" anchor="ctr"/>
          <a:lstStyle/>
          <a:p>
            <a:pPr algn="ctr" indent="0" marL="0">
              <a:buNone/>
            </a:pPr>
            <a:r>
              <a:rPr lang="en-US" sz="800" b="1" dirty="0">
                <a:solidFill>
                  <a:srgbClr val="00B4D8"/>
                </a:solidFill>
                <a:latin typeface="Calibri" pitchFamily="34" charset="0"/>
                <a:ea typeface="Calibri" pitchFamily="34" charset="-122"/>
                <a:cs typeface="Calibri" pitchFamily="34" charset="-120"/>
              </a:rPr>
              <a:t>SOURCE</a:t>
            </a:r>
            <a:endParaRPr lang="en-US" sz="800" dirty="0"/>
          </a:p>
        </p:txBody>
      </p:sp>
      <p:sp>
        <p:nvSpPr>
          <p:cNvPr id="9" name="Text 6"/>
          <p:cNvSpPr/>
          <p:nvPr/>
        </p:nvSpPr>
        <p:spPr>
          <a:xfrm>
            <a:off x="256032" y="4041648"/>
            <a:ext cx="1152144" cy="777240"/>
          </a:xfrm>
          <a:prstGeom prst="rect">
            <a:avLst/>
          </a:prstGeom>
          <a:noFill/>
          <a:ln/>
        </p:spPr>
        <p:txBody>
          <a:bodyPr wrap="square" rtlCol="0" anchor="ctr"/>
          <a:lstStyle/>
          <a:p>
            <a:pPr algn="ctr" indent="0" marL="0">
              <a:buNone/>
            </a:pPr>
            <a:r>
              <a:rPr lang="en-US" sz="800" dirty="0">
                <a:solidFill>
                  <a:srgbClr val="E8F4F8"/>
                </a:solidFill>
                <a:latin typeface="Calibri" pitchFamily="34" charset="0"/>
                <a:ea typeface="Calibri" pitchFamily="34" charset="-122"/>
                <a:cs typeface="Calibri" pitchFamily="34" charset="-120"/>
              </a:rPr>
              <a:t>Kaggle API</a:t>
            </a:r>
            <a:endParaRPr lang="en-US" sz="800" dirty="0"/>
          </a:p>
          <a:p>
            <a:pPr algn="ctr" indent="0" marL="0">
              <a:buNone/>
            </a:pPr>
            <a:r>
              <a:rPr lang="en-US" sz="800" dirty="0">
                <a:solidFill>
                  <a:srgbClr val="E8F4F8"/>
                </a:solidFill>
                <a:latin typeface="Calibri" pitchFamily="34" charset="0"/>
                <a:ea typeface="Calibri" pitchFamily="34" charset="-122"/>
                <a:cs typeface="Calibri" pitchFamily="34" charset="-120"/>
              </a:rPr>
              <a:t>9 CSVs ~100K</a:t>
            </a:r>
            <a:endParaRPr lang="en-US" sz="800" dirty="0"/>
          </a:p>
        </p:txBody>
      </p:sp>
      <p:sp>
        <p:nvSpPr>
          <p:cNvPr id="10" name="Shape 7"/>
          <p:cNvSpPr/>
          <p:nvPr/>
        </p:nvSpPr>
        <p:spPr>
          <a:xfrm>
            <a:off x="1499616" y="3182112"/>
            <a:ext cx="1152144" cy="1737360"/>
          </a:xfrm>
          <a:prstGeom prst="roundRect">
            <a:avLst>
              <a:gd name="adj" fmla="val 7937"/>
            </a:avLst>
          </a:prstGeom>
          <a:solidFill>
            <a:srgbClr val="112B45"/>
          </a:solidFill>
          <a:ln w="12700">
            <a:solidFill>
              <a:srgbClr val="48CAE4"/>
            </a:solidFill>
            <a:prstDash val="solid"/>
          </a:ln>
          <a:effectLst>
            <a:outerShdw sx="100000" sy="100000" kx="0" ky="0" algn="bl" rotWithShape="0" blurRad="127000" dist="50800" dir="2700000">
              <a:srgbClr val="000000">
                <a:alpha val="20000"/>
              </a:srgbClr>
            </a:outerShdw>
          </a:effectLst>
        </p:spPr>
      </p:sp>
      <p:sp>
        <p:nvSpPr>
          <p:cNvPr id="11" name="Shape 8"/>
          <p:cNvSpPr/>
          <p:nvPr/>
        </p:nvSpPr>
        <p:spPr>
          <a:xfrm>
            <a:off x="1847088" y="3227832"/>
            <a:ext cx="457200" cy="457200"/>
          </a:xfrm>
          <a:prstGeom prst="ellipse">
            <a:avLst/>
          </a:prstGeom>
          <a:solidFill>
            <a:srgbClr val="48CAE4"/>
          </a:solidFill>
          <a:ln w="12700">
            <a:solidFill>
              <a:srgbClr val="48CAE4"/>
            </a:solidFill>
            <a:prstDash val="solid"/>
          </a:ln>
        </p:spPr>
      </p:sp>
      <p:sp>
        <p:nvSpPr>
          <p:cNvPr id="12" name="Text 9"/>
          <p:cNvSpPr/>
          <p:nvPr/>
        </p:nvSpPr>
        <p:spPr>
          <a:xfrm>
            <a:off x="1847088" y="3227832"/>
            <a:ext cx="457200" cy="457200"/>
          </a:xfrm>
          <a:prstGeom prst="rect">
            <a:avLst/>
          </a:prstGeom>
          <a:noFill/>
          <a:ln/>
        </p:spPr>
        <p:txBody>
          <a:bodyPr wrap="square" rtlCol="0" anchor="ctr"/>
          <a:lstStyle/>
          <a:p>
            <a:pPr algn="ctr" indent="0" marL="0">
              <a:buNone/>
            </a:pPr>
            <a:r>
              <a:rPr lang="en-US" sz="1300" b="1" dirty="0">
                <a:solidFill>
                  <a:srgbClr val="0D2137"/>
                </a:solidFill>
              </a:rPr>
              <a:t>2</a:t>
            </a:r>
            <a:endParaRPr lang="en-US" sz="1300" dirty="0"/>
          </a:p>
        </p:txBody>
      </p:sp>
      <p:sp>
        <p:nvSpPr>
          <p:cNvPr id="13" name="Text 10"/>
          <p:cNvSpPr/>
          <p:nvPr/>
        </p:nvSpPr>
        <p:spPr>
          <a:xfrm>
            <a:off x="1499616" y="3749040"/>
            <a:ext cx="1152144" cy="292608"/>
          </a:xfrm>
          <a:prstGeom prst="rect">
            <a:avLst/>
          </a:prstGeom>
          <a:noFill/>
          <a:ln/>
        </p:spPr>
        <p:txBody>
          <a:bodyPr wrap="square" rtlCol="0" anchor="ctr"/>
          <a:lstStyle/>
          <a:p>
            <a:pPr algn="ctr" indent="0" marL="0">
              <a:buNone/>
            </a:pPr>
            <a:r>
              <a:rPr lang="en-US" sz="800" b="1" dirty="0">
                <a:solidFill>
                  <a:srgbClr val="48CAE4"/>
                </a:solidFill>
                <a:latin typeface="Calibri" pitchFamily="34" charset="0"/>
                <a:ea typeface="Calibri" pitchFamily="34" charset="-122"/>
                <a:cs typeface="Calibri" pitchFamily="34" charset="-120"/>
              </a:rPr>
              <a:t>INGEST</a:t>
            </a:r>
            <a:endParaRPr lang="en-US" sz="800" dirty="0"/>
          </a:p>
        </p:txBody>
      </p:sp>
      <p:sp>
        <p:nvSpPr>
          <p:cNvPr id="14" name="Text 11"/>
          <p:cNvSpPr/>
          <p:nvPr/>
        </p:nvSpPr>
        <p:spPr>
          <a:xfrm>
            <a:off x="1499616" y="4041648"/>
            <a:ext cx="1152144" cy="777240"/>
          </a:xfrm>
          <a:prstGeom prst="rect">
            <a:avLst/>
          </a:prstGeom>
          <a:noFill/>
          <a:ln/>
        </p:spPr>
        <p:txBody>
          <a:bodyPr wrap="square" rtlCol="0" anchor="ctr"/>
          <a:lstStyle/>
          <a:p>
            <a:pPr algn="ctr" indent="0" marL="0">
              <a:buNone/>
            </a:pPr>
            <a:r>
              <a:rPr lang="en-US" sz="800" dirty="0">
                <a:solidFill>
                  <a:srgbClr val="E8F4F8"/>
                </a:solidFill>
                <a:latin typeface="Calibri" pitchFamily="34" charset="0"/>
                <a:ea typeface="Calibri" pitchFamily="34" charset="-122"/>
                <a:cs typeface="Calibri" pitchFamily="34" charset="-120"/>
              </a:rPr>
              <a:t>Python/Colab</a:t>
            </a:r>
            <a:endParaRPr lang="en-US" sz="800" dirty="0"/>
          </a:p>
          <a:p>
            <a:pPr algn="ctr" indent="0" marL="0">
              <a:buNone/>
            </a:pPr>
            <a:r>
              <a:rPr lang="en-US" sz="800" dirty="0">
                <a:solidFill>
                  <a:srgbClr val="E8F4F8"/>
                </a:solidFill>
                <a:latin typeface="Calibri" pitchFamily="34" charset="0"/>
                <a:ea typeface="Calibri" pitchFamily="34" charset="-122"/>
                <a:cs typeface="Calibri" pitchFamily="34" charset="-120"/>
              </a:rPr>
              <a:t>pd.read_csv()</a:t>
            </a:r>
            <a:endParaRPr lang="en-US" sz="800" dirty="0"/>
          </a:p>
        </p:txBody>
      </p:sp>
      <p:sp>
        <p:nvSpPr>
          <p:cNvPr id="15" name="Shape 12"/>
          <p:cNvSpPr/>
          <p:nvPr/>
        </p:nvSpPr>
        <p:spPr>
          <a:xfrm>
            <a:off x="2743200" y="3182112"/>
            <a:ext cx="1152144" cy="1737360"/>
          </a:xfrm>
          <a:prstGeom prst="roundRect">
            <a:avLst>
              <a:gd name="adj" fmla="val 7937"/>
            </a:avLst>
          </a:prstGeom>
          <a:solidFill>
            <a:srgbClr val="112B45"/>
          </a:solidFill>
          <a:ln w="12700">
            <a:solidFill>
              <a:srgbClr val="02C39A"/>
            </a:solidFill>
            <a:prstDash val="solid"/>
          </a:ln>
          <a:effectLst>
            <a:outerShdw sx="100000" sy="100000" kx="0" ky="0" algn="bl" rotWithShape="0" blurRad="127000" dist="50800" dir="2700000">
              <a:srgbClr val="000000">
                <a:alpha val="20000"/>
              </a:srgbClr>
            </a:outerShdw>
          </a:effectLst>
        </p:spPr>
      </p:sp>
      <p:sp>
        <p:nvSpPr>
          <p:cNvPr id="16" name="Shape 13"/>
          <p:cNvSpPr/>
          <p:nvPr/>
        </p:nvSpPr>
        <p:spPr>
          <a:xfrm>
            <a:off x="3090672" y="3227832"/>
            <a:ext cx="457200" cy="457200"/>
          </a:xfrm>
          <a:prstGeom prst="ellipse">
            <a:avLst/>
          </a:prstGeom>
          <a:solidFill>
            <a:srgbClr val="02C39A"/>
          </a:solidFill>
          <a:ln w="12700">
            <a:solidFill>
              <a:srgbClr val="02C39A"/>
            </a:solidFill>
            <a:prstDash val="solid"/>
          </a:ln>
        </p:spPr>
      </p:sp>
      <p:sp>
        <p:nvSpPr>
          <p:cNvPr id="17" name="Text 14"/>
          <p:cNvSpPr/>
          <p:nvPr/>
        </p:nvSpPr>
        <p:spPr>
          <a:xfrm>
            <a:off x="3090672" y="3227832"/>
            <a:ext cx="457200" cy="457200"/>
          </a:xfrm>
          <a:prstGeom prst="rect">
            <a:avLst/>
          </a:prstGeom>
          <a:noFill/>
          <a:ln/>
        </p:spPr>
        <p:txBody>
          <a:bodyPr wrap="square" rtlCol="0" anchor="ctr"/>
          <a:lstStyle/>
          <a:p>
            <a:pPr algn="ctr" indent="0" marL="0">
              <a:buNone/>
            </a:pPr>
            <a:r>
              <a:rPr lang="en-US" sz="1300" b="1" dirty="0">
                <a:solidFill>
                  <a:srgbClr val="0D2137"/>
                </a:solidFill>
              </a:rPr>
              <a:t>3</a:t>
            </a:r>
            <a:endParaRPr lang="en-US" sz="1300" dirty="0"/>
          </a:p>
        </p:txBody>
      </p:sp>
      <p:sp>
        <p:nvSpPr>
          <p:cNvPr id="18" name="Text 15"/>
          <p:cNvSpPr/>
          <p:nvPr/>
        </p:nvSpPr>
        <p:spPr>
          <a:xfrm>
            <a:off x="2743200" y="3749040"/>
            <a:ext cx="1152144" cy="292608"/>
          </a:xfrm>
          <a:prstGeom prst="rect">
            <a:avLst/>
          </a:prstGeom>
          <a:noFill/>
          <a:ln/>
        </p:spPr>
        <p:txBody>
          <a:bodyPr wrap="square" rtlCol="0" anchor="ctr"/>
          <a:lstStyle/>
          <a:p>
            <a:pPr algn="ctr" indent="0" marL="0">
              <a:buNone/>
            </a:pPr>
            <a:r>
              <a:rPr lang="en-US" sz="800" b="1" dirty="0">
                <a:solidFill>
                  <a:srgbClr val="02C39A"/>
                </a:solidFill>
                <a:latin typeface="Calibri" pitchFamily="34" charset="0"/>
                <a:ea typeface="Calibri" pitchFamily="34" charset="-122"/>
                <a:cs typeface="Calibri" pitchFamily="34" charset="-120"/>
              </a:rPr>
              <a:t>TRANSFORM</a:t>
            </a:r>
            <a:endParaRPr lang="en-US" sz="800" dirty="0"/>
          </a:p>
        </p:txBody>
      </p:sp>
      <p:sp>
        <p:nvSpPr>
          <p:cNvPr id="19" name="Text 16"/>
          <p:cNvSpPr/>
          <p:nvPr/>
        </p:nvSpPr>
        <p:spPr>
          <a:xfrm>
            <a:off x="2743200" y="4041648"/>
            <a:ext cx="1152144" cy="777240"/>
          </a:xfrm>
          <a:prstGeom prst="rect">
            <a:avLst/>
          </a:prstGeom>
          <a:noFill/>
          <a:ln/>
        </p:spPr>
        <p:txBody>
          <a:bodyPr wrap="square" rtlCol="0" anchor="ctr"/>
          <a:lstStyle/>
          <a:p>
            <a:pPr algn="ctr" indent="0" marL="0">
              <a:buNone/>
            </a:pPr>
            <a:r>
              <a:rPr lang="en-US" sz="800" dirty="0">
                <a:solidFill>
                  <a:srgbClr val="E8F4F8"/>
                </a:solidFill>
                <a:latin typeface="Calibri" pitchFamily="34" charset="0"/>
                <a:ea typeface="Calibri" pitchFamily="34" charset="-122"/>
                <a:cs typeface="Calibri" pitchFamily="34" charset="-120"/>
              </a:rPr>
              <a:t>Pandas</a:t>
            </a:r>
            <a:endParaRPr lang="en-US" sz="800" dirty="0"/>
          </a:p>
          <a:p>
            <a:pPr algn="ctr" indent="0" marL="0">
              <a:buNone/>
            </a:pPr>
            <a:r>
              <a:rPr lang="en-US" sz="800" dirty="0">
                <a:solidFill>
                  <a:srgbClr val="E8F4F8"/>
                </a:solidFill>
                <a:latin typeface="Calibri" pitchFamily="34" charset="0"/>
                <a:ea typeface="Calibri" pitchFamily="34" charset="-122"/>
                <a:cs typeface="Calibri" pitchFamily="34" charset="-120"/>
              </a:rPr>
              <a:t>Null/Dedup/Cast</a:t>
            </a:r>
            <a:endParaRPr lang="en-US" sz="800" dirty="0"/>
          </a:p>
        </p:txBody>
      </p:sp>
      <p:sp>
        <p:nvSpPr>
          <p:cNvPr id="20" name="Shape 17"/>
          <p:cNvSpPr/>
          <p:nvPr/>
        </p:nvSpPr>
        <p:spPr>
          <a:xfrm>
            <a:off x="3986784" y="3182112"/>
            <a:ext cx="1152144" cy="1737360"/>
          </a:xfrm>
          <a:prstGeom prst="roundRect">
            <a:avLst>
              <a:gd name="adj" fmla="val 7937"/>
            </a:avLst>
          </a:prstGeom>
          <a:solidFill>
            <a:srgbClr val="112B45"/>
          </a:solidFill>
          <a:ln w="12700">
            <a:solidFill>
              <a:srgbClr val="A8DADC"/>
            </a:solidFill>
            <a:prstDash val="solid"/>
          </a:ln>
          <a:effectLst>
            <a:outerShdw sx="100000" sy="100000" kx="0" ky="0" algn="bl" rotWithShape="0" blurRad="127000" dist="50800" dir="2700000">
              <a:srgbClr val="000000">
                <a:alpha val="20000"/>
              </a:srgbClr>
            </a:outerShdw>
          </a:effectLst>
        </p:spPr>
      </p:sp>
      <p:sp>
        <p:nvSpPr>
          <p:cNvPr id="21" name="Shape 18"/>
          <p:cNvSpPr/>
          <p:nvPr/>
        </p:nvSpPr>
        <p:spPr>
          <a:xfrm>
            <a:off x="4334256" y="3227832"/>
            <a:ext cx="457200" cy="457200"/>
          </a:xfrm>
          <a:prstGeom prst="ellipse">
            <a:avLst/>
          </a:prstGeom>
          <a:solidFill>
            <a:srgbClr val="A8DADC"/>
          </a:solidFill>
          <a:ln w="12700">
            <a:solidFill>
              <a:srgbClr val="A8DADC"/>
            </a:solidFill>
            <a:prstDash val="solid"/>
          </a:ln>
        </p:spPr>
      </p:sp>
      <p:sp>
        <p:nvSpPr>
          <p:cNvPr id="22" name="Text 19"/>
          <p:cNvSpPr/>
          <p:nvPr/>
        </p:nvSpPr>
        <p:spPr>
          <a:xfrm>
            <a:off x="4334256" y="3227832"/>
            <a:ext cx="457200" cy="457200"/>
          </a:xfrm>
          <a:prstGeom prst="rect">
            <a:avLst/>
          </a:prstGeom>
          <a:noFill/>
          <a:ln/>
        </p:spPr>
        <p:txBody>
          <a:bodyPr wrap="square" rtlCol="0" anchor="ctr"/>
          <a:lstStyle/>
          <a:p>
            <a:pPr algn="ctr" indent="0" marL="0">
              <a:buNone/>
            </a:pPr>
            <a:r>
              <a:rPr lang="en-US" sz="1300" b="1" dirty="0">
                <a:solidFill>
                  <a:srgbClr val="0D2137"/>
                </a:solidFill>
              </a:rPr>
              <a:t>4</a:t>
            </a:r>
            <a:endParaRPr lang="en-US" sz="1300" dirty="0"/>
          </a:p>
        </p:txBody>
      </p:sp>
      <p:sp>
        <p:nvSpPr>
          <p:cNvPr id="23" name="Text 20"/>
          <p:cNvSpPr/>
          <p:nvPr/>
        </p:nvSpPr>
        <p:spPr>
          <a:xfrm>
            <a:off x="3986784" y="3749040"/>
            <a:ext cx="1152144" cy="292608"/>
          </a:xfrm>
          <a:prstGeom prst="rect">
            <a:avLst/>
          </a:prstGeom>
          <a:noFill/>
          <a:ln/>
        </p:spPr>
        <p:txBody>
          <a:bodyPr wrap="square" rtlCol="0" anchor="ctr"/>
          <a:lstStyle/>
          <a:p>
            <a:pPr algn="ctr" indent="0" marL="0">
              <a:buNone/>
            </a:pPr>
            <a:r>
              <a:rPr lang="en-US" sz="800" b="1" dirty="0">
                <a:solidFill>
                  <a:srgbClr val="A8DADC"/>
                </a:solidFill>
                <a:latin typeface="Calibri" pitchFamily="34" charset="0"/>
                <a:ea typeface="Calibri" pitchFamily="34" charset="-122"/>
                <a:cs typeface="Calibri" pitchFamily="34" charset="-120"/>
              </a:rPr>
              <a:t>LOAD</a:t>
            </a:r>
            <a:endParaRPr lang="en-US" sz="800" dirty="0"/>
          </a:p>
        </p:txBody>
      </p:sp>
      <p:sp>
        <p:nvSpPr>
          <p:cNvPr id="24" name="Text 21"/>
          <p:cNvSpPr/>
          <p:nvPr/>
        </p:nvSpPr>
        <p:spPr>
          <a:xfrm>
            <a:off x="3986784" y="4041648"/>
            <a:ext cx="1152144" cy="777240"/>
          </a:xfrm>
          <a:prstGeom prst="rect">
            <a:avLst/>
          </a:prstGeom>
          <a:noFill/>
          <a:ln/>
        </p:spPr>
        <p:txBody>
          <a:bodyPr wrap="square" rtlCol="0" anchor="ctr"/>
          <a:lstStyle/>
          <a:p>
            <a:pPr algn="ctr" indent="0" marL="0">
              <a:buNone/>
            </a:pPr>
            <a:r>
              <a:rPr lang="en-US" sz="800" dirty="0">
                <a:solidFill>
                  <a:srgbClr val="E8F4F8"/>
                </a:solidFill>
                <a:latin typeface="Calibri" pitchFamily="34" charset="0"/>
                <a:ea typeface="Calibri" pitchFamily="34" charset="-122"/>
                <a:cs typeface="Calibri" pitchFamily="34" charset="-120"/>
              </a:rPr>
              <a:t>SQLAlchemy</a:t>
            </a:r>
            <a:endParaRPr lang="en-US" sz="800" dirty="0"/>
          </a:p>
          <a:p>
            <a:pPr algn="ctr" indent="0" marL="0">
              <a:buNone/>
            </a:pPr>
            <a:r>
              <a:rPr lang="en-US" sz="800" dirty="0">
                <a:solidFill>
                  <a:srgbClr val="E8F4F8"/>
                </a:solidFill>
                <a:latin typeface="Calibri" pitchFamily="34" charset="0"/>
                <a:ea typeface="Calibri" pitchFamily="34" charset="-122"/>
                <a:cs typeface="Calibri" pitchFamily="34" charset="-120"/>
              </a:rPr>
              <a:t>PostgreSQL 18</a:t>
            </a:r>
            <a:endParaRPr lang="en-US" sz="800" dirty="0"/>
          </a:p>
        </p:txBody>
      </p:sp>
      <p:sp>
        <p:nvSpPr>
          <p:cNvPr id="25" name="Shape 22"/>
          <p:cNvSpPr/>
          <p:nvPr/>
        </p:nvSpPr>
        <p:spPr>
          <a:xfrm>
            <a:off x="5230368" y="3182112"/>
            <a:ext cx="1152144" cy="1737360"/>
          </a:xfrm>
          <a:prstGeom prst="roundRect">
            <a:avLst>
              <a:gd name="adj" fmla="val 7937"/>
            </a:avLst>
          </a:prstGeom>
          <a:solidFill>
            <a:srgbClr val="112B45"/>
          </a:solidFill>
          <a:ln w="12700">
            <a:solidFill>
              <a:srgbClr val="F4A261"/>
            </a:solidFill>
            <a:prstDash val="solid"/>
          </a:ln>
          <a:effectLst>
            <a:outerShdw sx="100000" sy="100000" kx="0" ky="0" algn="bl" rotWithShape="0" blurRad="127000" dist="50800" dir="2700000">
              <a:srgbClr val="000000">
                <a:alpha val="20000"/>
              </a:srgbClr>
            </a:outerShdw>
          </a:effectLst>
        </p:spPr>
      </p:sp>
      <p:sp>
        <p:nvSpPr>
          <p:cNvPr id="26" name="Shape 23"/>
          <p:cNvSpPr/>
          <p:nvPr/>
        </p:nvSpPr>
        <p:spPr>
          <a:xfrm>
            <a:off x="5577840" y="3227832"/>
            <a:ext cx="457200" cy="457200"/>
          </a:xfrm>
          <a:prstGeom prst="ellipse">
            <a:avLst/>
          </a:prstGeom>
          <a:solidFill>
            <a:srgbClr val="F4A261"/>
          </a:solidFill>
          <a:ln w="12700">
            <a:solidFill>
              <a:srgbClr val="F4A261"/>
            </a:solidFill>
            <a:prstDash val="solid"/>
          </a:ln>
        </p:spPr>
      </p:sp>
      <p:sp>
        <p:nvSpPr>
          <p:cNvPr id="27" name="Text 24"/>
          <p:cNvSpPr/>
          <p:nvPr/>
        </p:nvSpPr>
        <p:spPr>
          <a:xfrm>
            <a:off x="5577840" y="3227832"/>
            <a:ext cx="457200" cy="457200"/>
          </a:xfrm>
          <a:prstGeom prst="rect">
            <a:avLst/>
          </a:prstGeom>
          <a:noFill/>
          <a:ln/>
        </p:spPr>
        <p:txBody>
          <a:bodyPr wrap="square" rtlCol="0" anchor="ctr"/>
          <a:lstStyle/>
          <a:p>
            <a:pPr algn="ctr" indent="0" marL="0">
              <a:buNone/>
            </a:pPr>
            <a:r>
              <a:rPr lang="en-US" sz="1300" b="1" dirty="0">
                <a:solidFill>
                  <a:srgbClr val="0D2137"/>
                </a:solidFill>
              </a:rPr>
              <a:t>5</a:t>
            </a:r>
            <a:endParaRPr lang="en-US" sz="1300" dirty="0"/>
          </a:p>
        </p:txBody>
      </p:sp>
      <p:sp>
        <p:nvSpPr>
          <p:cNvPr id="28" name="Text 25"/>
          <p:cNvSpPr/>
          <p:nvPr/>
        </p:nvSpPr>
        <p:spPr>
          <a:xfrm>
            <a:off x="5230368" y="3749040"/>
            <a:ext cx="1152144" cy="292608"/>
          </a:xfrm>
          <a:prstGeom prst="rect">
            <a:avLst/>
          </a:prstGeom>
          <a:noFill/>
          <a:ln/>
        </p:spPr>
        <p:txBody>
          <a:bodyPr wrap="square" rtlCol="0" anchor="ctr"/>
          <a:lstStyle/>
          <a:p>
            <a:pPr algn="ctr" indent="0" marL="0">
              <a:buNone/>
            </a:pPr>
            <a:r>
              <a:rPr lang="en-US" sz="800" b="1" dirty="0">
                <a:solidFill>
                  <a:srgbClr val="F4A261"/>
                </a:solidFill>
                <a:latin typeface="Calibri" pitchFamily="34" charset="0"/>
                <a:ea typeface="Calibri" pitchFamily="34" charset="-122"/>
                <a:cs typeface="Calibri" pitchFamily="34" charset="-120"/>
              </a:rPr>
              <a:t>VALIDATE</a:t>
            </a:r>
            <a:endParaRPr lang="en-US" sz="800" dirty="0"/>
          </a:p>
        </p:txBody>
      </p:sp>
      <p:sp>
        <p:nvSpPr>
          <p:cNvPr id="29" name="Text 26"/>
          <p:cNvSpPr/>
          <p:nvPr/>
        </p:nvSpPr>
        <p:spPr>
          <a:xfrm>
            <a:off x="5230368" y="4041648"/>
            <a:ext cx="1152144" cy="777240"/>
          </a:xfrm>
          <a:prstGeom prst="rect">
            <a:avLst/>
          </a:prstGeom>
          <a:noFill/>
          <a:ln/>
        </p:spPr>
        <p:txBody>
          <a:bodyPr wrap="square" rtlCol="0" anchor="ctr"/>
          <a:lstStyle/>
          <a:p>
            <a:pPr algn="ctr" indent="0" marL="0">
              <a:buNone/>
            </a:pPr>
            <a:r>
              <a:rPr lang="en-US" sz="800" dirty="0">
                <a:solidFill>
                  <a:srgbClr val="E8F4F8"/>
                </a:solidFill>
                <a:latin typeface="Calibri" pitchFamily="34" charset="0"/>
                <a:ea typeface="Calibri" pitchFamily="34" charset="-122"/>
                <a:cs typeface="Calibri" pitchFamily="34" charset="-120"/>
              </a:rPr>
              <a:t>SQL Checks</a:t>
            </a:r>
            <a:endParaRPr lang="en-US" sz="800" dirty="0"/>
          </a:p>
          <a:p>
            <a:pPr algn="ctr" indent="0" marL="0">
              <a:buNone/>
            </a:pPr>
            <a:r>
              <a:rPr lang="en-US" sz="800" dirty="0">
                <a:solidFill>
                  <a:srgbClr val="E8F4F8"/>
                </a:solidFill>
                <a:latin typeface="Calibri" pitchFamily="34" charset="0"/>
                <a:ea typeface="Calibri" pitchFamily="34" charset="-122"/>
                <a:cs typeface="Calibri" pitchFamily="34" charset="-120"/>
              </a:rPr>
              <a:t>FK + ACID</a:t>
            </a:r>
            <a:endParaRPr lang="en-US" sz="800" dirty="0"/>
          </a:p>
        </p:txBody>
      </p:sp>
      <p:sp>
        <p:nvSpPr>
          <p:cNvPr id="30" name="Shape 27"/>
          <p:cNvSpPr/>
          <p:nvPr/>
        </p:nvSpPr>
        <p:spPr>
          <a:xfrm>
            <a:off x="6473952" y="3182112"/>
            <a:ext cx="1152144" cy="1737360"/>
          </a:xfrm>
          <a:prstGeom prst="roundRect">
            <a:avLst>
              <a:gd name="adj" fmla="val 7937"/>
            </a:avLst>
          </a:prstGeom>
          <a:solidFill>
            <a:srgbClr val="112B45"/>
          </a:solidFill>
          <a:ln w="12700">
            <a:solidFill>
              <a:srgbClr val="E9C46A"/>
            </a:solidFill>
            <a:prstDash val="solid"/>
          </a:ln>
          <a:effectLst>
            <a:outerShdw sx="100000" sy="100000" kx="0" ky="0" algn="bl" rotWithShape="0" blurRad="127000" dist="50800" dir="2700000">
              <a:srgbClr val="000000">
                <a:alpha val="20000"/>
              </a:srgbClr>
            </a:outerShdw>
          </a:effectLst>
        </p:spPr>
      </p:sp>
      <p:sp>
        <p:nvSpPr>
          <p:cNvPr id="31" name="Shape 28"/>
          <p:cNvSpPr/>
          <p:nvPr/>
        </p:nvSpPr>
        <p:spPr>
          <a:xfrm>
            <a:off x="6821424" y="3227832"/>
            <a:ext cx="457200" cy="457200"/>
          </a:xfrm>
          <a:prstGeom prst="ellipse">
            <a:avLst/>
          </a:prstGeom>
          <a:solidFill>
            <a:srgbClr val="E9C46A"/>
          </a:solidFill>
          <a:ln w="12700">
            <a:solidFill>
              <a:srgbClr val="E9C46A"/>
            </a:solidFill>
            <a:prstDash val="solid"/>
          </a:ln>
        </p:spPr>
      </p:sp>
      <p:sp>
        <p:nvSpPr>
          <p:cNvPr id="32" name="Text 29"/>
          <p:cNvSpPr/>
          <p:nvPr/>
        </p:nvSpPr>
        <p:spPr>
          <a:xfrm>
            <a:off x="6821424" y="3227832"/>
            <a:ext cx="457200" cy="457200"/>
          </a:xfrm>
          <a:prstGeom prst="rect">
            <a:avLst/>
          </a:prstGeom>
          <a:noFill/>
          <a:ln/>
        </p:spPr>
        <p:txBody>
          <a:bodyPr wrap="square" rtlCol="0" anchor="ctr"/>
          <a:lstStyle/>
          <a:p>
            <a:pPr algn="ctr" indent="0" marL="0">
              <a:buNone/>
            </a:pPr>
            <a:r>
              <a:rPr lang="en-US" sz="1300" b="1" dirty="0">
                <a:solidFill>
                  <a:srgbClr val="0D2137"/>
                </a:solidFill>
              </a:rPr>
              <a:t>6</a:t>
            </a:r>
            <a:endParaRPr lang="en-US" sz="1300" dirty="0"/>
          </a:p>
        </p:txBody>
      </p:sp>
      <p:sp>
        <p:nvSpPr>
          <p:cNvPr id="33" name="Text 30"/>
          <p:cNvSpPr/>
          <p:nvPr/>
        </p:nvSpPr>
        <p:spPr>
          <a:xfrm>
            <a:off x="6473952" y="3749040"/>
            <a:ext cx="1152144" cy="292608"/>
          </a:xfrm>
          <a:prstGeom prst="rect">
            <a:avLst/>
          </a:prstGeom>
          <a:noFill/>
          <a:ln/>
        </p:spPr>
        <p:txBody>
          <a:bodyPr wrap="square" rtlCol="0" anchor="ctr"/>
          <a:lstStyle/>
          <a:p>
            <a:pPr algn="ctr" indent="0" marL="0">
              <a:buNone/>
            </a:pPr>
            <a:r>
              <a:rPr lang="en-US" sz="800" b="1" dirty="0">
                <a:solidFill>
                  <a:srgbClr val="E9C46A"/>
                </a:solidFill>
                <a:latin typeface="Calibri" pitchFamily="34" charset="0"/>
                <a:ea typeface="Calibri" pitchFamily="34" charset="-122"/>
                <a:cs typeface="Calibri" pitchFamily="34" charset="-120"/>
              </a:rPr>
              <a:t>ORCHESTRATE</a:t>
            </a:r>
            <a:endParaRPr lang="en-US" sz="800" dirty="0"/>
          </a:p>
        </p:txBody>
      </p:sp>
      <p:sp>
        <p:nvSpPr>
          <p:cNvPr id="34" name="Text 31"/>
          <p:cNvSpPr/>
          <p:nvPr/>
        </p:nvSpPr>
        <p:spPr>
          <a:xfrm>
            <a:off x="6473952" y="4041648"/>
            <a:ext cx="1152144" cy="777240"/>
          </a:xfrm>
          <a:prstGeom prst="rect">
            <a:avLst/>
          </a:prstGeom>
          <a:noFill/>
          <a:ln/>
        </p:spPr>
        <p:txBody>
          <a:bodyPr wrap="square" rtlCol="0" anchor="ctr"/>
          <a:lstStyle/>
          <a:p>
            <a:pPr algn="ctr" indent="0" marL="0">
              <a:buNone/>
            </a:pPr>
            <a:r>
              <a:rPr lang="en-US" sz="800" dirty="0">
                <a:solidFill>
                  <a:srgbClr val="E8F4F8"/>
                </a:solidFill>
                <a:latin typeface="Calibri" pitchFamily="34" charset="0"/>
                <a:ea typeface="Calibri" pitchFamily="34" charset="-122"/>
                <a:cs typeface="Calibri" pitchFamily="34" charset="-120"/>
              </a:rPr>
              <a:t>Airflow DAG</a:t>
            </a:r>
            <a:endParaRPr lang="en-US" sz="800" dirty="0"/>
          </a:p>
          <a:p>
            <a:pPr algn="ctr" indent="0" marL="0">
              <a:buNone/>
            </a:pPr>
            <a:r>
              <a:rPr lang="en-US" sz="800" dirty="0">
                <a:solidFill>
                  <a:srgbClr val="E8F4F8"/>
                </a:solidFill>
                <a:latin typeface="Calibri" pitchFamily="34" charset="0"/>
                <a:ea typeface="Calibri" pitchFamily="34" charset="-122"/>
                <a:cs typeface="Calibri" pitchFamily="34" charset="-120"/>
              </a:rPr>
              <a:t>@daily</a:t>
            </a:r>
            <a:endParaRPr lang="en-US" sz="800" dirty="0"/>
          </a:p>
        </p:txBody>
      </p:sp>
      <p:sp>
        <p:nvSpPr>
          <p:cNvPr id="35" name="Shape 32"/>
          <p:cNvSpPr/>
          <p:nvPr/>
        </p:nvSpPr>
        <p:spPr>
          <a:xfrm>
            <a:off x="7717536" y="3182112"/>
            <a:ext cx="1152144" cy="1737360"/>
          </a:xfrm>
          <a:prstGeom prst="roundRect">
            <a:avLst>
              <a:gd name="adj" fmla="val 7937"/>
            </a:avLst>
          </a:prstGeom>
          <a:solidFill>
            <a:srgbClr val="112B45"/>
          </a:solidFill>
          <a:ln w="12700">
            <a:solidFill>
              <a:srgbClr val="C084FC"/>
            </a:solidFill>
            <a:prstDash val="solid"/>
          </a:ln>
          <a:effectLst>
            <a:outerShdw sx="100000" sy="100000" kx="0" ky="0" algn="bl" rotWithShape="0" blurRad="127000" dist="50800" dir="2700000">
              <a:srgbClr val="000000">
                <a:alpha val="20000"/>
              </a:srgbClr>
            </a:outerShdw>
          </a:effectLst>
        </p:spPr>
      </p:sp>
      <p:sp>
        <p:nvSpPr>
          <p:cNvPr id="36" name="Shape 33"/>
          <p:cNvSpPr/>
          <p:nvPr/>
        </p:nvSpPr>
        <p:spPr>
          <a:xfrm>
            <a:off x="8065008" y="3227832"/>
            <a:ext cx="457200" cy="457200"/>
          </a:xfrm>
          <a:prstGeom prst="ellipse">
            <a:avLst/>
          </a:prstGeom>
          <a:solidFill>
            <a:srgbClr val="C084FC"/>
          </a:solidFill>
          <a:ln w="12700">
            <a:solidFill>
              <a:srgbClr val="C084FC"/>
            </a:solidFill>
            <a:prstDash val="solid"/>
          </a:ln>
        </p:spPr>
      </p:sp>
      <p:sp>
        <p:nvSpPr>
          <p:cNvPr id="37" name="Text 34"/>
          <p:cNvSpPr/>
          <p:nvPr/>
        </p:nvSpPr>
        <p:spPr>
          <a:xfrm>
            <a:off x="8065008" y="3227832"/>
            <a:ext cx="457200" cy="457200"/>
          </a:xfrm>
          <a:prstGeom prst="rect">
            <a:avLst/>
          </a:prstGeom>
          <a:noFill/>
          <a:ln/>
        </p:spPr>
        <p:txBody>
          <a:bodyPr wrap="square" rtlCol="0" anchor="ctr"/>
          <a:lstStyle/>
          <a:p>
            <a:pPr algn="ctr" indent="0" marL="0">
              <a:buNone/>
            </a:pPr>
            <a:r>
              <a:rPr lang="en-US" sz="1300" b="1" dirty="0">
                <a:solidFill>
                  <a:srgbClr val="0D2137"/>
                </a:solidFill>
              </a:rPr>
              <a:t>7</a:t>
            </a:r>
            <a:endParaRPr lang="en-US" sz="1300" dirty="0"/>
          </a:p>
        </p:txBody>
      </p:sp>
      <p:sp>
        <p:nvSpPr>
          <p:cNvPr id="38" name="Text 35"/>
          <p:cNvSpPr/>
          <p:nvPr/>
        </p:nvSpPr>
        <p:spPr>
          <a:xfrm>
            <a:off x="7717536" y="3749040"/>
            <a:ext cx="1152144" cy="292608"/>
          </a:xfrm>
          <a:prstGeom prst="rect">
            <a:avLst/>
          </a:prstGeom>
          <a:noFill/>
          <a:ln/>
        </p:spPr>
        <p:txBody>
          <a:bodyPr wrap="square" rtlCol="0" anchor="ctr"/>
          <a:lstStyle/>
          <a:p>
            <a:pPr algn="ctr" indent="0" marL="0">
              <a:buNone/>
            </a:pPr>
            <a:r>
              <a:rPr lang="en-US" sz="800" b="1" dirty="0">
                <a:solidFill>
                  <a:srgbClr val="C084FC"/>
                </a:solidFill>
                <a:latin typeface="Calibri" pitchFamily="34" charset="0"/>
                <a:ea typeface="Calibri" pitchFamily="34" charset="-122"/>
                <a:cs typeface="Calibri" pitchFamily="34" charset="-120"/>
              </a:rPr>
              <a:t>VISUALIZE</a:t>
            </a:r>
            <a:endParaRPr lang="en-US" sz="800" dirty="0"/>
          </a:p>
        </p:txBody>
      </p:sp>
      <p:sp>
        <p:nvSpPr>
          <p:cNvPr id="39" name="Text 36"/>
          <p:cNvSpPr/>
          <p:nvPr/>
        </p:nvSpPr>
        <p:spPr>
          <a:xfrm>
            <a:off x="7717536" y="4041648"/>
            <a:ext cx="1152144" cy="777240"/>
          </a:xfrm>
          <a:prstGeom prst="rect">
            <a:avLst/>
          </a:prstGeom>
          <a:noFill/>
          <a:ln/>
        </p:spPr>
        <p:txBody>
          <a:bodyPr wrap="square" rtlCol="0" anchor="ctr"/>
          <a:lstStyle/>
          <a:p>
            <a:pPr algn="ctr" indent="0" marL="0">
              <a:buNone/>
            </a:pPr>
            <a:r>
              <a:rPr lang="en-US" sz="800" dirty="0">
                <a:solidFill>
                  <a:srgbClr val="E8F4F8"/>
                </a:solidFill>
                <a:latin typeface="Calibri" pitchFamily="34" charset="0"/>
                <a:ea typeface="Calibri" pitchFamily="34" charset="-122"/>
                <a:cs typeface="Calibri" pitchFamily="34" charset="-120"/>
              </a:rPr>
              <a:t>Power BI</a:t>
            </a:r>
            <a:endParaRPr lang="en-US" sz="800" dirty="0"/>
          </a:p>
          <a:p>
            <a:pPr algn="ctr" indent="0" marL="0">
              <a:buNone/>
            </a:pPr>
            <a:r>
              <a:rPr lang="en-US" sz="800" dirty="0">
                <a:solidFill>
                  <a:srgbClr val="E8F4F8"/>
                </a:solidFill>
                <a:latin typeface="Calibri" pitchFamily="34" charset="0"/>
                <a:ea typeface="Calibri" pitchFamily="34" charset="-122"/>
                <a:cs typeface="Calibri" pitchFamily="34" charset="-120"/>
              </a:rPr>
              <a:t>KPI Dashboard</a:t>
            </a:r>
            <a:endParaRPr lang="en-US" sz="800" dirty="0"/>
          </a:p>
        </p:txBody>
      </p:sp>
      <p:sp>
        <p:nvSpPr>
          <p:cNvPr id="40" name="Shape 37"/>
          <p:cNvSpPr/>
          <p:nvPr/>
        </p:nvSpPr>
        <p:spPr>
          <a:xfrm>
            <a:off x="0" y="5047488"/>
            <a:ext cx="9144000" cy="91440"/>
          </a:xfrm>
          <a:prstGeom prst="rect">
            <a:avLst/>
          </a:prstGeom>
          <a:solidFill>
            <a:srgbClr val="14345A"/>
          </a:solidFill>
          <a:ln w="12700">
            <a:solidFill>
              <a:srgbClr val="14345A"/>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2137"/>
          </a:solidFill>
          <a:ln w="12700">
            <a:solidFill>
              <a:srgbClr val="0D2137"/>
            </a:solidFill>
            <a:prstDash val="solid"/>
          </a:ln>
        </p:spPr>
      </p:sp>
      <p:sp>
        <p:nvSpPr>
          <p:cNvPr id="3" name="Text 1"/>
          <p:cNvSpPr/>
          <p:nvPr/>
        </p:nvSpPr>
        <p:spPr>
          <a:xfrm>
            <a:off x="411480" y="109728"/>
            <a:ext cx="8229600" cy="502920"/>
          </a:xfrm>
          <a:prstGeom prst="rect">
            <a:avLst/>
          </a:prstGeom>
          <a:noFill/>
          <a:ln/>
        </p:spPr>
        <p:txBody>
          <a:bodyPr wrap="square" rtlCol="0" anchor="ctr"/>
          <a:lstStyle/>
          <a:p>
            <a:pPr indent="0" marL="0">
              <a:buNone/>
            </a:pPr>
            <a:r>
              <a:rPr lang="en-US" sz="2600" b="1" dirty="0">
                <a:solidFill>
                  <a:srgbClr val="0D2137"/>
                </a:solidFill>
                <a:latin typeface="Calibri" pitchFamily="34" charset="0"/>
                <a:ea typeface="Calibri" pitchFamily="34" charset="-122"/>
                <a:cs typeface="Calibri" pitchFamily="34" charset="-120"/>
              </a:rPr>
              <a:t>Data Quality — What We Found &amp; Fixed</a:t>
            </a:r>
            <a:endParaRPr lang="en-US" sz="2600" dirty="0"/>
          </a:p>
        </p:txBody>
      </p:sp>
      <p:sp>
        <p:nvSpPr>
          <p:cNvPr id="4" name="Shape 2"/>
          <p:cNvSpPr/>
          <p:nvPr/>
        </p:nvSpPr>
        <p:spPr>
          <a:xfrm>
            <a:off x="274320" y="713232"/>
            <a:ext cx="8595360" cy="402336"/>
          </a:xfrm>
          <a:prstGeom prst="rect">
            <a:avLst/>
          </a:prstGeom>
          <a:solidFill>
            <a:srgbClr val="0D2137"/>
          </a:solidFill>
          <a:ln w="12700">
            <a:solidFill>
              <a:srgbClr val="0D2137"/>
            </a:solidFill>
            <a:prstDash val="solid"/>
          </a:ln>
        </p:spPr>
      </p:sp>
      <p:sp>
        <p:nvSpPr>
          <p:cNvPr id="5" name="Text 3"/>
          <p:cNvSpPr/>
          <p:nvPr/>
        </p:nvSpPr>
        <p:spPr>
          <a:xfrm>
            <a:off x="320040" y="713232"/>
            <a:ext cx="1051560" cy="402336"/>
          </a:xfrm>
          <a:prstGeom prst="rect">
            <a:avLst/>
          </a:prstGeom>
          <a:noFill/>
          <a:ln/>
        </p:spPr>
        <p:txBody>
          <a:bodyPr wrap="square" rtlCol="0" anchor="ctr"/>
          <a:lstStyle/>
          <a:p>
            <a:pPr indent="0" marL="0">
              <a:buNone/>
            </a:pPr>
            <a:r>
              <a:rPr lang="en-US" sz="1050" b="1" dirty="0">
                <a:solidFill>
                  <a:srgbClr val="00B4D8"/>
                </a:solidFill>
                <a:latin typeface="Calibri" pitchFamily="34" charset="0"/>
                <a:ea typeface="Calibri" pitchFamily="34" charset="-122"/>
                <a:cs typeface="Calibri" pitchFamily="34" charset="-120"/>
              </a:rPr>
              <a:t>Table</a:t>
            </a:r>
            <a:endParaRPr lang="en-US" sz="1050" dirty="0"/>
          </a:p>
        </p:txBody>
      </p:sp>
      <p:sp>
        <p:nvSpPr>
          <p:cNvPr id="6" name="Text 4"/>
          <p:cNvSpPr/>
          <p:nvPr/>
        </p:nvSpPr>
        <p:spPr>
          <a:xfrm>
            <a:off x="1417320" y="713232"/>
            <a:ext cx="1554480" cy="402336"/>
          </a:xfrm>
          <a:prstGeom prst="rect">
            <a:avLst/>
          </a:prstGeom>
          <a:noFill/>
          <a:ln/>
        </p:spPr>
        <p:txBody>
          <a:bodyPr wrap="square" rtlCol="0" anchor="ctr"/>
          <a:lstStyle/>
          <a:p>
            <a:pPr indent="0" marL="0">
              <a:buNone/>
            </a:pPr>
            <a:r>
              <a:rPr lang="en-US" sz="1050" b="1" dirty="0">
                <a:solidFill>
                  <a:srgbClr val="00B4D8"/>
                </a:solidFill>
                <a:latin typeface="Calibri" pitchFamily="34" charset="0"/>
                <a:ea typeface="Calibri" pitchFamily="34" charset="-122"/>
                <a:cs typeface="Calibri" pitchFamily="34" charset="-120"/>
              </a:rPr>
              <a:t>Issue</a:t>
            </a:r>
            <a:endParaRPr lang="en-US" sz="1050" dirty="0"/>
          </a:p>
        </p:txBody>
      </p:sp>
      <p:sp>
        <p:nvSpPr>
          <p:cNvPr id="7" name="Text 5"/>
          <p:cNvSpPr/>
          <p:nvPr/>
        </p:nvSpPr>
        <p:spPr>
          <a:xfrm>
            <a:off x="3017520" y="713232"/>
            <a:ext cx="1005840" cy="402336"/>
          </a:xfrm>
          <a:prstGeom prst="rect">
            <a:avLst/>
          </a:prstGeom>
          <a:noFill/>
          <a:ln/>
        </p:spPr>
        <p:txBody>
          <a:bodyPr wrap="square" rtlCol="0" anchor="ctr"/>
          <a:lstStyle/>
          <a:p>
            <a:pPr indent="0" marL="0">
              <a:buNone/>
            </a:pPr>
            <a:r>
              <a:rPr lang="en-US" sz="1050" b="1" dirty="0">
                <a:solidFill>
                  <a:srgbClr val="00B4D8"/>
                </a:solidFill>
                <a:latin typeface="Calibri" pitchFamily="34" charset="0"/>
                <a:ea typeface="Calibri" pitchFamily="34" charset="-122"/>
                <a:cs typeface="Calibri" pitchFamily="34" charset="-120"/>
              </a:rPr>
              <a:t>Scale</a:t>
            </a:r>
            <a:endParaRPr lang="en-US" sz="1050" dirty="0"/>
          </a:p>
        </p:txBody>
      </p:sp>
      <p:sp>
        <p:nvSpPr>
          <p:cNvPr id="8" name="Text 6"/>
          <p:cNvSpPr/>
          <p:nvPr/>
        </p:nvSpPr>
        <p:spPr>
          <a:xfrm>
            <a:off x="4069080" y="713232"/>
            <a:ext cx="1874520" cy="402336"/>
          </a:xfrm>
          <a:prstGeom prst="rect">
            <a:avLst/>
          </a:prstGeom>
          <a:noFill/>
          <a:ln/>
        </p:spPr>
        <p:txBody>
          <a:bodyPr wrap="square" rtlCol="0" anchor="ctr"/>
          <a:lstStyle/>
          <a:p>
            <a:pPr indent="0" marL="0">
              <a:buNone/>
            </a:pPr>
            <a:r>
              <a:rPr lang="en-US" sz="1050" b="1" dirty="0">
                <a:solidFill>
                  <a:srgbClr val="00B4D8"/>
                </a:solidFill>
                <a:latin typeface="Calibri" pitchFamily="34" charset="0"/>
                <a:ea typeface="Calibri" pitchFamily="34" charset="-122"/>
                <a:cs typeface="Calibri" pitchFamily="34" charset="-120"/>
              </a:rPr>
              <a:t>Decision</a:t>
            </a:r>
            <a:endParaRPr lang="en-US" sz="1050" dirty="0"/>
          </a:p>
        </p:txBody>
      </p:sp>
      <p:sp>
        <p:nvSpPr>
          <p:cNvPr id="9" name="Text 7"/>
          <p:cNvSpPr/>
          <p:nvPr/>
        </p:nvSpPr>
        <p:spPr>
          <a:xfrm>
            <a:off x="5989320" y="713232"/>
            <a:ext cx="2834640" cy="402336"/>
          </a:xfrm>
          <a:prstGeom prst="rect">
            <a:avLst/>
          </a:prstGeom>
          <a:noFill/>
          <a:ln/>
        </p:spPr>
        <p:txBody>
          <a:bodyPr wrap="square" rtlCol="0" anchor="ctr"/>
          <a:lstStyle/>
          <a:p>
            <a:pPr indent="0" marL="0">
              <a:buNone/>
            </a:pPr>
            <a:r>
              <a:rPr lang="en-US" sz="1050" b="1" dirty="0">
                <a:solidFill>
                  <a:srgbClr val="00B4D8"/>
                </a:solidFill>
                <a:latin typeface="Calibri" pitchFamily="34" charset="0"/>
                <a:ea typeface="Calibri" pitchFamily="34" charset="-122"/>
                <a:cs typeface="Calibri" pitchFamily="34" charset="-120"/>
              </a:rPr>
              <a:t>Reason</a:t>
            </a:r>
            <a:endParaRPr lang="en-US" sz="1050" dirty="0"/>
          </a:p>
        </p:txBody>
      </p:sp>
      <p:sp>
        <p:nvSpPr>
          <p:cNvPr id="10" name="Shape 8"/>
          <p:cNvSpPr/>
          <p:nvPr/>
        </p:nvSpPr>
        <p:spPr>
          <a:xfrm>
            <a:off x="274320" y="1115568"/>
            <a:ext cx="8595360" cy="475488"/>
          </a:xfrm>
          <a:prstGeom prst="rect">
            <a:avLst/>
          </a:prstGeom>
          <a:solidFill>
            <a:srgbClr val="FFFFFF"/>
          </a:solidFill>
          <a:ln w="12700">
            <a:solidFill>
              <a:srgbClr val="D0DCF0"/>
            </a:solidFill>
            <a:prstDash val="solid"/>
          </a:ln>
        </p:spPr>
      </p:sp>
      <p:sp>
        <p:nvSpPr>
          <p:cNvPr id="11" name="Shape 9"/>
          <p:cNvSpPr/>
          <p:nvPr/>
        </p:nvSpPr>
        <p:spPr>
          <a:xfrm>
            <a:off x="347472" y="1207008"/>
            <a:ext cx="914400" cy="292608"/>
          </a:xfrm>
          <a:prstGeom prst="roundRect">
            <a:avLst>
              <a:gd name="adj" fmla="val 18750"/>
            </a:avLst>
          </a:prstGeom>
          <a:solidFill>
            <a:srgbClr val="0D2137"/>
          </a:solidFill>
          <a:ln w="12700">
            <a:solidFill>
              <a:srgbClr val="00B4D8"/>
            </a:solidFill>
            <a:prstDash val="solid"/>
          </a:ln>
        </p:spPr>
      </p:sp>
      <p:sp>
        <p:nvSpPr>
          <p:cNvPr id="12" name="Text 10"/>
          <p:cNvSpPr/>
          <p:nvPr/>
        </p:nvSpPr>
        <p:spPr>
          <a:xfrm>
            <a:off x="347472" y="1207008"/>
            <a:ext cx="914400" cy="292608"/>
          </a:xfrm>
          <a:prstGeom prst="rect">
            <a:avLst/>
          </a:prstGeom>
          <a:noFill/>
          <a:ln/>
        </p:spPr>
        <p:txBody>
          <a:bodyPr wrap="square" rtlCol="0" anchor="ctr"/>
          <a:lstStyle/>
          <a:p>
            <a:pPr algn="ctr" indent="0" marL="0">
              <a:buNone/>
            </a:pPr>
            <a:r>
              <a:rPr lang="en-US" sz="850" b="1" dirty="0">
                <a:solidFill>
                  <a:srgbClr val="00B4D8"/>
                </a:solidFill>
                <a:latin typeface="Calibri" pitchFamily="34" charset="0"/>
                <a:ea typeface="Calibri" pitchFamily="34" charset="-122"/>
                <a:cs typeface="Calibri" pitchFamily="34" charset="-120"/>
              </a:rPr>
              <a:t>orders</a:t>
            </a:r>
            <a:endParaRPr lang="en-US" sz="850" dirty="0"/>
          </a:p>
        </p:txBody>
      </p:sp>
      <p:sp>
        <p:nvSpPr>
          <p:cNvPr id="13" name="Text 11"/>
          <p:cNvSpPr/>
          <p:nvPr/>
        </p:nvSpPr>
        <p:spPr>
          <a:xfrm>
            <a:off x="1417320" y="1115568"/>
            <a:ext cx="1554480" cy="475488"/>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Null delivery dates</a:t>
            </a:r>
            <a:endParaRPr lang="en-US" sz="950" dirty="0"/>
          </a:p>
        </p:txBody>
      </p:sp>
      <p:sp>
        <p:nvSpPr>
          <p:cNvPr id="14" name="Text 12"/>
          <p:cNvSpPr/>
          <p:nvPr/>
        </p:nvSpPr>
        <p:spPr>
          <a:xfrm>
            <a:off x="3017520" y="1115568"/>
            <a:ext cx="1005840" cy="475488"/>
          </a:xfrm>
          <a:prstGeom prst="rect">
            <a:avLst/>
          </a:prstGeom>
          <a:noFill/>
          <a:ln/>
        </p:spPr>
        <p:txBody>
          <a:bodyPr wrap="square" rtlCol="0" anchor="ctr"/>
          <a:lstStyle/>
          <a:p>
            <a:pPr algn="ctr" indent="0" marL="0">
              <a:buNone/>
            </a:pPr>
            <a:r>
              <a:rPr lang="en-US" sz="950" b="1" dirty="0">
                <a:solidFill>
                  <a:srgbClr val="E63946"/>
                </a:solidFill>
                <a:latin typeface="Calibri" pitchFamily="34" charset="0"/>
                <a:ea typeface="Calibri" pitchFamily="34" charset="-122"/>
                <a:cs typeface="Calibri" pitchFamily="34" charset="-120"/>
              </a:rPr>
              <a:t>2,965</a:t>
            </a:r>
            <a:endParaRPr lang="en-US" sz="950" dirty="0"/>
          </a:p>
        </p:txBody>
      </p:sp>
      <p:sp>
        <p:nvSpPr>
          <p:cNvPr id="15" name="Text 13"/>
          <p:cNvSpPr/>
          <p:nvPr/>
        </p:nvSpPr>
        <p:spPr>
          <a:xfrm>
            <a:off x="4069080" y="1115568"/>
            <a:ext cx="1874520" cy="475488"/>
          </a:xfrm>
          <a:prstGeom prst="rect">
            <a:avLst/>
          </a:prstGeom>
          <a:noFill/>
          <a:ln/>
        </p:spPr>
        <p:txBody>
          <a:bodyPr wrap="square" rtlCol="0" anchor="ctr"/>
          <a:lstStyle/>
          <a:p>
            <a:pPr indent="0" marL="0">
              <a:buNone/>
            </a:pPr>
            <a:r>
              <a:rPr lang="en-US" sz="950" b="1" dirty="0">
                <a:solidFill>
                  <a:srgbClr val="14345A"/>
                </a:solidFill>
                <a:latin typeface="Calibri" pitchFamily="34" charset="0"/>
                <a:ea typeface="Calibri" pitchFamily="34" charset="-122"/>
                <a:cs typeface="Calibri" pitchFamily="34" charset="-120"/>
              </a:rPr>
              <a:t>Preserved</a:t>
            </a:r>
            <a:endParaRPr lang="en-US" sz="950" dirty="0"/>
          </a:p>
        </p:txBody>
      </p:sp>
      <p:sp>
        <p:nvSpPr>
          <p:cNvPr id="16" name="Text 14"/>
          <p:cNvSpPr/>
          <p:nvPr/>
        </p:nvSpPr>
        <p:spPr>
          <a:xfrm>
            <a:off x="5989320" y="1115568"/>
            <a:ext cx="2834640" cy="475488"/>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Valid undelivered orders — dropping distorts KPIs</a:t>
            </a:r>
            <a:endParaRPr lang="en-US" sz="900" dirty="0"/>
          </a:p>
        </p:txBody>
      </p:sp>
      <p:sp>
        <p:nvSpPr>
          <p:cNvPr id="17" name="Shape 15"/>
          <p:cNvSpPr/>
          <p:nvPr/>
        </p:nvSpPr>
        <p:spPr>
          <a:xfrm>
            <a:off x="274320" y="1591056"/>
            <a:ext cx="8595360" cy="475488"/>
          </a:xfrm>
          <a:prstGeom prst="rect">
            <a:avLst/>
          </a:prstGeom>
          <a:solidFill>
            <a:srgbClr val="EEF6FB"/>
          </a:solidFill>
          <a:ln w="12700">
            <a:solidFill>
              <a:srgbClr val="D0DCF0"/>
            </a:solidFill>
            <a:prstDash val="solid"/>
          </a:ln>
        </p:spPr>
      </p:sp>
      <p:sp>
        <p:nvSpPr>
          <p:cNvPr id="18" name="Shape 16"/>
          <p:cNvSpPr/>
          <p:nvPr/>
        </p:nvSpPr>
        <p:spPr>
          <a:xfrm>
            <a:off x="347472" y="1682496"/>
            <a:ext cx="914400" cy="292608"/>
          </a:xfrm>
          <a:prstGeom prst="roundRect">
            <a:avLst>
              <a:gd name="adj" fmla="val 18750"/>
            </a:avLst>
          </a:prstGeom>
          <a:solidFill>
            <a:srgbClr val="0D2137"/>
          </a:solidFill>
          <a:ln w="12700">
            <a:solidFill>
              <a:srgbClr val="00B4D8"/>
            </a:solidFill>
            <a:prstDash val="solid"/>
          </a:ln>
        </p:spPr>
      </p:sp>
      <p:sp>
        <p:nvSpPr>
          <p:cNvPr id="19" name="Text 17"/>
          <p:cNvSpPr/>
          <p:nvPr/>
        </p:nvSpPr>
        <p:spPr>
          <a:xfrm>
            <a:off x="347472" y="1682496"/>
            <a:ext cx="914400" cy="292608"/>
          </a:xfrm>
          <a:prstGeom prst="rect">
            <a:avLst/>
          </a:prstGeom>
          <a:noFill/>
          <a:ln/>
        </p:spPr>
        <p:txBody>
          <a:bodyPr wrap="square" rtlCol="0" anchor="ctr"/>
          <a:lstStyle/>
          <a:p>
            <a:pPr algn="ctr" indent="0" marL="0">
              <a:buNone/>
            </a:pPr>
            <a:r>
              <a:rPr lang="en-US" sz="850" b="1" dirty="0">
                <a:solidFill>
                  <a:srgbClr val="00B4D8"/>
                </a:solidFill>
                <a:latin typeface="Calibri" pitchFamily="34" charset="0"/>
                <a:ea typeface="Calibri" pitchFamily="34" charset="-122"/>
                <a:cs typeface="Calibri" pitchFamily="34" charset="-120"/>
              </a:rPr>
              <a:t>products</a:t>
            </a:r>
            <a:endParaRPr lang="en-US" sz="850" dirty="0"/>
          </a:p>
        </p:txBody>
      </p:sp>
      <p:sp>
        <p:nvSpPr>
          <p:cNvPr id="20" name="Text 18"/>
          <p:cNvSpPr/>
          <p:nvPr/>
        </p:nvSpPr>
        <p:spPr>
          <a:xfrm>
            <a:off x="1417320" y="1591056"/>
            <a:ext cx="1554480" cy="475488"/>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Missing category names</a:t>
            </a:r>
            <a:endParaRPr lang="en-US" sz="950" dirty="0"/>
          </a:p>
        </p:txBody>
      </p:sp>
      <p:sp>
        <p:nvSpPr>
          <p:cNvPr id="21" name="Text 19"/>
          <p:cNvSpPr/>
          <p:nvPr/>
        </p:nvSpPr>
        <p:spPr>
          <a:xfrm>
            <a:off x="3017520" y="1591056"/>
            <a:ext cx="1005840" cy="475488"/>
          </a:xfrm>
          <a:prstGeom prst="rect">
            <a:avLst/>
          </a:prstGeom>
          <a:noFill/>
          <a:ln/>
        </p:spPr>
        <p:txBody>
          <a:bodyPr wrap="square" rtlCol="0" anchor="ctr"/>
          <a:lstStyle/>
          <a:p>
            <a:pPr algn="ctr" indent="0" marL="0">
              <a:buNone/>
            </a:pPr>
            <a:r>
              <a:rPr lang="en-US" sz="950" b="1" dirty="0">
                <a:solidFill>
                  <a:srgbClr val="E63946"/>
                </a:solidFill>
                <a:latin typeface="Calibri" pitchFamily="34" charset="0"/>
                <a:ea typeface="Calibri" pitchFamily="34" charset="-122"/>
                <a:cs typeface="Calibri" pitchFamily="34" charset="-120"/>
              </a:rPr>
              <a:t>610</a:t>
            </a:r>
            <a:endParaRPr lang="en-US" sz="950" dirty="0"/>
          </a:p>
        </p:txBody>
      </p:sp>
      <p:sp>
        <p:nvSpPr>
          <p:cNvPr id="22" name="Text 20"/>
          <p:cNvSpPr/>
          <p:nvPr/>
        </p:nvSpPr>
        <p:spPr>
          <a:xfrm>
            <a:off x="4069080" y="1591056"/>
            <a:ext cx="1874520" cy="475488"/>
          </a:xfrm>
          <a:prstGeom prst="rect">
            <a:avLst/>
          </a:prstGeom>
          <a:noFill/>
          <a:ln/>
        </p:spPr>
        <p:txBody>
          <a:bodyPr wrap="square" rtlCol="0" anchor="ctr"/>
          <a:lstStyle/>
          <a:p>
            <a:pPr indent="0" marL="0">
              <a:buNone/>
            </a:pPr>
            <a:r>
              <a:rPr lang="en-US" sz="950" b="1" dirty="0">
                <a:solidFill>
                  <a:srgbClr val="14345A"/>
                </a:solidFill>
                <a:latin typeface="Calibri" pitchFamily="34" charset="0"/>
                <a:ea typeface="Calibri" pitchFamily="34" charset="-122"/>
                <a:cs typeface="Calibri" pitchFamily="34" charset="-120"/>
              </a:rPr>
              <a:t>Fill 'unknown' + add to</a:t>
            </a:r>
            <a:endParaRPr lang="en-US" sz="950" dirty="0"/>
          </a:p>
          <a:p>
            <a:pPr indent="0" marL="0">
              <a:buNone/>
            </a:pPr>
            <a:r>
              <a:rPr lang="en-US" sz="950" b="1" dirty="0">
                <a:solidFill>
                  <a:srgbClr val="14345A"/>
                </a:solidFill>
                <a:latin typeface="Calibri" pitchFamily="34" charset="0"/>
                <a:ea typeface="Calibri" pitchFamily="34" charset="-122"/>
                <a:cs typeface="Calibri" pitchFamily="34" charset="-120"/>
              </a:rPr>
              <a:t>translation table</a:t>
            </a:r>
            <a:endParaRPr lang="en-US" sz="950" dirty="0"/>
          </a:p>
        </p:txBody>
      </p:sp>
      <p:sp>
        <p:nvSpPr>
          <p:cNvPr id="23" name="Text 21"/>
          <p:cNvSpPr/>
          <p:nvPr/>
        </p:nvSpPr>
        <p:spPr>
          <a:xfrm>
            <a:off x="5989320" y="1591056"/>
            <a:ext cx="2834640" cy="475488"/>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FK constraint requires category to exist</a:t>
            </a:r>
            <a:endParaRPr lang="en-US" sz="900" dirty="0"/>
          </a:p>
        </p:txBody>
      </p:sp>
      <p:sp>
        <p:nvSpPr>
          <p:cNvPr id="24" name="Shape 22"/>
          <p:cNvSpPr/>
          <p:nvPr/>
        </p:nvSpPr>
        <p:spPr>
          <a:xfrm>
            <a:off x="274320" y="2066544"/>
            <a:ext cx="8595360" cy="475488"/>
          </a:xfrm>
          <a:prstGeom prst="rect">
            <a:avLst/>
          </a:prstGeom>
          <a:solidFill>
            <a:srgbClr val="FFFFFF"/>
          </a:solidFill>
          <a:ln w="12700">
            <a:solidFill>
              <a:srgbClr val="D0DCF0"/>
            </a:solidFill>
            <a:prstDash val="solid"/>
          </a:ln>
        </p:spPr>
      </p:sp>
      <p:sp>
        <p:nvSpPr>
          <p:cNvPr id="25" name="Shape 23"/>
          <p:cNvSpPr/>
          <p:nvPr/>
        </p:nvSpPr>
        <p:spPr>
          <a:xfrm>
            <a:off x="347472" y="2157984"/>
            <a:ext cx="914400" cy="292608"/>
          </a:xfrm>
          <a:prstGeom prst="roundRect">
            <a:avLst>
              <a:gd name="adj" fmla="val 18750"/>
            </a:avLst>
          </a:prstGeom>
          <a:solidFill>
            <a:srgbClr val="0D2137"/>
          </a:solidFill>
          <a:ln w="12700">
            <a:solidFill>
              <a:srgbClr val="00B4D8"/>
            </a:solidFill>
            <a:prstDash val="solid"/>
          </a:ln>
        </p:spPr>
      </p:sp>
      <p:sp>
        <p:nvSpPr>
          <p:cNvPr id="26" name="Text 24"/>
          <p:cNvSpPr/>
          <p:nvPr/>
        </p:nvSpPr>
        <p:spPr>
          <a:xfrm>
            <a:off x="347472" y="2157984"/>
            <a:ext cx="914400" cy="292608"/>
          </a:xfrm>
          <a:prstGeom prst="rect">
            <a:avLst/>
          </a:prstGeom>
          <a:noFill/>
          <a:ln/>
        </p:spPr>
        <p:txBody>
          <a:bodyPr wrap="square" rtlCol="0" anchor="ctr"/>
          <a:lstStyle/>
          <a:p>
            <a:pPr algn="ctr" indent="0" marL="0">
              <a:buNone/>
            </a:pPr>
            <a:r>
              <a:rPr lang="en-US" sz="850" b="1" dirty="0">
                <a:solidFill>
                  <a:srgbClr val="00B4D8"/>
                </a:solidFill>
                <a:latin typeface="Calibri" pitchFamily="34" charset="0"/>
                <a:ea typeface="Calibri" pitchFamily="34" charset="-122"/>
                <a:cs typeface="Calibri" pitchFamily="34" charset="-120"/>
              </a:rPr>
              <a:t>products</a:t>
            </a:r>
            <a:endParaRPr lang="en-US" sz="850" dirty="0"/>
          </a:p>
        </p:txBody>
      </p:sp>
      <p:sp>
        <p:nvSpPr>
          <p:cNvPr id="27" name="Text 25"/>
          <p:cNvSpPr/>
          <p:nvPr/>
        </p:nvSpPr>
        <p:spPr>
          <a:xfrm>
            <a:off x="1417320" y="2066544"/>
            <a:ext cx="1554480" cy="475488"/>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Missing dimensions (H/W/L)</a:t>
            </a:r>
            <a:endParaRPr lang="en-US" sz="950" dirty="0"/>
          </a:p>
        </p:txBody>
      </p:sp>
      <p:sp>
        <p:nvSpPr>
          <p:cNvPr id="28" name="Text 26"/>
          <p:cNvSpPr/>
          <p:nvPr/>
        </p:nvSpPr>
        <p:spPr>
          <a:xfrm>
            <a:off x="3017520" y="2066544"/>
            <a:ext cx="1005840" cy="475488"/>
          </a:xfrm>
          <a:prstGeom prst="rect">
            <a:avLst/>
          </a:prstGeom>
          <a:noFill/>
          <a:ln/>
        </p:spPr>
        <p:txBody>
          <a:bodyPr wrap="square" rtlCol="0" anchor="ctr"/>
          <a:lstStyle/>
          <a:p>
            <a:pPr algn="ctr" indent="0" marL="0">
              <a:buNone/>
            </a:pPr>
            <a:r>
              <a:rPr lang="en-US" sz="950" b="1" dirty="0">
                <a:solidFill>
                  <a:srgbClr val="E63946"/>
                </a:solidFill>
                <a:latin typeface="Calibri" pitchFamily="34" charset="0"/>
                <a:ea typeface="Calibri" pitchFamily="34" charset="-122"/>
                <a:cs typeface="Calibri" pitchFamily="34" charset="-120"/>
              </a:rPr>
              <a:t>2</a:t>
            </a:r>
            <a:endParaRPr lang="en-US" sz="950" dirty="0"/>
          </a:p>
        </p:txBody>
      </p:sp>
      <p:sp>
        <p:nvSpPr>
          <p:cNvPr id="29" name="Text 27"/>
          <p:cNvSpPr/>
          <p:nvPr/>
        </p:nvSpPr>
        <p:spPr>
          <a:xfrm>
            <a:off x="4069080" y="2066544"/>
            <a:ext cx="1874520" cy="475488"/>
          </a:xfrm>
          <a:prstGeom prst="rect">
            <a:avLst/>
          </a:prstGeom>
          <a:noFill/>
          <a:ln/>
        </p:spPr>
        <p:txBody>
          <a:bodyPr wrap="square" rtlCol="0" anchor="ctr"/>
          <a:lstStyle/>
          <a:p>
            <a:pPr indent="0" marL="0">
              <a:buNone/>
            </a:pPr>
            <a:r>
              <a:rPr lang="en-US" sz="950" b="1" dirty="0">
                <a:solidFill>
                  <a:srgbClr val="14345A"/>
                </a:solidFill>
                <a:latin typeface="Calibri" pitchFamily="34" charset="0"/>
                <a:ea typeface="Calibri" pitchFamily="34" charset="-122"/>
                <a:cs typeface="Calibri" pitchFamily="34" charset="-120"/>
              </a:rPr>
              <a:t>Median fill</a:t>
            </a:r>
            <a:endParaRPr lang="en-US" sz="950" dirty="0"/>
          </a:p>
        </p:txBody>
      </p:sp>
      <p:sp>
        <p:nvSpPr>
          <p:cNvPr id="30" name="Text 28"/>
          <p:cNvSpPr/>
          <p:nvPr/>
        </p:nvSpPr>
        <p:spPr>
          <a:xfrm>
            <a:off x="5989320" y="2066544"/>
            <a:ext cx="2834640" cy="475488"/>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Median avoids skew; mean distorted by outliers</a:t>
            </a:r>
            <a:endParaRPr lang="en-US" sz="900" dirty="0"/>
          </a:p>
        </p:txBody>
      </p:sp>
      <p:sp>
        <p:nvSpPr>
          <p:cNvPr id="31" name="Shape 29"/>
          <p:cNvSpPr/>
          <p:nvPr/>
        </p:nvSpPr>
        <p:spPr>
          <a:xfrm>
            <a:off x="274320" y="2542032"/>
            <a:ext cx="8595360" cy="475488"/>
          </a:xfrm>
          <a:prstGeom prst="rect">
            <a:avLst/>
          </a:prstGeom>
          <a:solidFill>
            <a:srgbClr val="EEF6FB"/>
          </a:solidFill>
          <a:ln w="12700">
            <a:solidFill>
              <a:srgbClr val="D0DCF0"/>
            </a:solidFill>
            <a:prstDash val="solid"/>
          </a:ln>
        </p:spPr>
      </p:sp>
      <p:sp>
        <p:nvSpPr>
          <p:cNvPr id="32" name="Shape 30"/>
          <p:cNvSpPr/>
          <p:nvPr/>
        </p:nvSpPr>
        <p:spPr>
          <a:xfrm>
            <a:off x="347472" y="2633472"/>
            <a:ext cx="914400" cy="292608"/>
          </a:xfrm>
          <a:prstGeom prst="roundRect">
            <a:avLst>
              <a:gd name="adj" fmla="val 18750"/>
            </a:avLst>
          </a:prstGeom>
          <a:solidFill>
            <a:srgbClr val="0D2137"/>
          </a:solidFill>
          <a:ln w="12700">
            <a:solidFill>
              <a:srgbClr val="00B4D8"/>
            </a:solidFill>
            <a:prstDash val="solid"/>
          </a:ln>
        </p:spPr>
      </p:sp>
      <p:sp>
        <p:nvSpPr>
          <p:cNvPr id="33" name="Text 31"/>
          <p:cNvSpPr/>
          <p:nvPr/>
        </p:nvSpPr>
        <p:spPr>
          <a:xfrm>
            <a:off x="347472" y="2633472"/>
            <a:ext cx="914400" cy="292608"/>
          </a:xfrm>
          <a:prstGeom prst="rect">
            <a:avLst/>
          </a:prstGeom>
          <a:noFill/>
          <a:ln/>
        </p:spPr>
        <p:txBody>
          <a:bodyPr wrap="square" rtlCol="0" anchor="ctr"/>
          <a:lstStyle/>
          <a:p>
            <a:pPr algn="ctr" indent="0" marL="0">
              <a:buNone/>
            </a:pPr>
            <a:r>
              <a:rPr lang="en-US" sz="850" b="1" dirty="0">
                <a:solidFill>
                  <a:srgbClr val="00B4D8"/>
                </a:solidFill>
                <a:latin typeface="Calibri" pitchFamily="34" charset="0"/>
                <a:ea typeface="Calibri" pitchFamily="34" charset="-122"/>
                <a:cs typeface="Calibri" pitchFamily="34" charset="-120"/>
              </a:rPr>
              <a:t>reviews</a:t>
            </a:r>
            <a:endParaRPr lang="en-US" sz="850" dirty="0"/>
          </a:p>
        </p:txBody>
      </p:sp>
      <p:sp>
        <p:nvSpPr>
          <p:cNvPr id="34" name="Text 32"/>
          <p:cNvSpPr/>
          <p:nvPr/>
        </p:nvSpPr>
        <p:spPr>
          <a:xfrm>
            <a:off x="1417320" y="2542032"/>
            <a:ext cx="1554480" cy="475488"/>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Missing comment titles</a:t>
            </a:r>
            <a:endParaRPr lang="en-US" sz="950" dirty="0"/>
          </a:p>
        </p:txBody>
      </p:sp>
      <p:sp>
        <p:nvSpPr>
          <p:cNvPr id="35" name="Text 33"/>
          <p:cNvSpPr/>
          <p:nvPr/>
        </p:nvSpPr>
        <p:spPr>
          <a:xfrm>
            <a:off x="3017520" y="2542032"/>
            <a:ext cx="1005840" cy="475488"/>
          </a:xfrm>
          <a:prstGeom prst="rect">
            <a:avLst/>
          </a:prstGeom>
          <a:noFill/>
          <a:ln/>
        </p:spPr>
        <p:txBody>
          <a:bodyPr wrap="square" rtlCol="0" anchor="ctr"/>
          <a:lstStyle/>
          <a:p>
            <a:pPr algn="ctr" indent="0" marL="0">
              <a:buNone/>
            </a:pPr>
            <a:r>
              <a:rPr lang="en-US" sz="950" b="1" dirty="0">
                <a:solidFill>
                  <a:srgbClr val="E63946"/>
                </a:solidFill>
                <a:latin typeface="Calibri" pitchFamily="34" charset="0"/>
                <a:ea typeface="Calibri" pitchFamily="34" charset="-122"/>
                <a:cs typeface="Calibri" pitchFamily="34" charset="-120"/>
              </a:rPr>
              <a:t>87,656</a:t>
            </a:r>
            <a:endParaRPr lang="en-US" sz="950" dirty="0"/>
          </a:p>
        </p:txBody>
      </p:sp>
      <p:sp>
        <p:nvSpPr>
          <p:cNvPr id="36" name="Text 34"/>
          <p:cNvSpPr/>
          <p:nvPr/>
        </p:nvSpPr>
        <p:spPr>
          <a:xfrm>
            <a:off x="4069080" y="2542032"/>
            <a:ext cx="1874520" cy="475488"/>
          </a:xfrm>
          <a:prstGeom prst="rect">
            <a:avLst/>
          </a:prstGeom>
          <a:noFill/>
          <a:ln/>
        </p:spPr>
        <p:txBody>
          <a:bodyPr wrap="square" rtlCol="0" anchor="ctr"/>
          <a:lstStyle/>
          <a:p>
            <a:pPr indent="0" marL="0">
              <a:buNone/>
            </a:pPr>
            <a:r>
              <a:rPr lang="en-US" sz="950" b="1" dirty="0">
                <a:solidFill>
                  <a:srgbClr val="14345A"/>
                </a:solidFill>
                <a:latin typeface="Calibri" pitchFamily="34" charset="0"/>
                <a:ea typeface="Calibri" pitchFamily="34" charset="-122"/>
                <a:cs typeface="Calibri" pitchFamily="34" charset="-120"/>
              </a:rPr>
              <a:t>Fill 'No title'</a:t>
            </a:r>
            <a:endParaRPr lang="en-US" sz="950" dirty="0"/>
          </a:p>
        </p:txBody>
      </p:sp>
      <p:sp>
        <p:nvSpPr>
          <p:cNvPr id="37" name="Text 35"/>
          <p:cNvSpPr/>
          <p:nvPr/>
        </p:nvSpPr>
        <p:spPr>
          <a:xfrm>
            <a:off x="5989320" y="2542032"/>
            <a:ext cx="2834640" cy="475488"/>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Expected — Olist platform doesn't mandate text</a:t>
            </a:r>
            <a:endParaRPr lang="en-US" sz="900" dirty="0"/>
          </a:p>
        </p:txBody>
      </p:sp>
      <p:sp>
        <p:nvSpPr>
          <p:cNvPr id="38" name="Shape 36"/>
          <p:cNvSpPr/>
          <p:nvPr/>
        </p:nvSpPr>
        <p:spPr>
          <a:xfrm>
            <a:off x="274320" y="3017520"/>
            <a:ext cx="8595360" cy="475488"/>
          </a:xfrm>
          <a:prstGeom prst="rect">
            <a:avLst/>
          </a:prstGeom>
          <a:solidFill>
            <a:srgbClr val="FFFFFF"/>
          </a:solidFill>
          <a:ln w="12700">
            <a:solidFill>
              <a:srgbClr val="D0DCF0"/>
            </a:solidFill>
            <a:prstDash val="solid"/>
          </a:ln>
        </p:spPr>
      </p:sp>
      <p:sp>
        <p:nvSpPr>
          <p:cNvPr id="39" name="Shape 37"/>
          <p:cNvSpPr/>
          <p:nvPr/>
        </p:nvSpPr>
        <p:spPr>
          <a:xfrm>
            <a:off x="347472" y="3108960"/>
            <a:ext cx="914400" cy="292608"/>
          </a:xfrm>
          <a:prstGeom prst="roundRect">
            <a:avLst>
              <a:gd name="adj" fmla="val 18750"/>
            </a:avLst>
          </a:prstGeom>
          <a:solidFill>
            <a:srgbClr val="0D2137"/>
          </a:solidFill>
          <a:ln w="12700">
            <a:solidFill>
              <a:srgbClr val="00B4D8"/>
            </a:solidFill>
            <a:prstDash val="solid"/>
          </a:ln>
        </p:spPr>
      </p:sp>
      <p:sp>
        <p:nvSpPr>
          <p:cNvPr id="40" name="Text 38"/>
          <p:cNvSpPr/>
          <p:nvPr/>
        </p:nvSpPr>
        <p:spPr>
          <a:xfrm>
            <a:off x="347472" y="3108960"/>
            <a:ext cx="914400" cy="292608"/>
          </a:xfrm>
          <a:prstGeom prst="rect">
            <a:avLst/>
          </a:prstGeom>
          <a:noFill/>
          <a:ln/>
        </p:spPr>
        <p:txBody>
          <a:bodyPr wrap="square" rtlCol="0" anchor="ctr"/>
          <a:lstStyle/>
          <a:p>
            <a:pPr algn="ctr" indent="0" marL="0">
              <a:buNone/>
            </a:pPr>
            <a:r>
              <a:rPr lang="en-US" sz="850" b="1" dirty="0">
                <a:solidFill>
                  <a:srgbClr val="00B4D8"/>
                </a:solidFill>
                <a:latin typeface="Calibri" pitchFamily="34" charset="0"/>
                <a:ea typeface="Calibri" pitchFamily="34" charset="-122"/>
                <a:cs typeface="Calibri" pitchFamily="34" charset="-120"/>
              </a:rPr>
              <a:t>reviews</a:t>
            </a:r>
            <a:endParaRPr lang="en-US" sz="850" dirty="0"/>
          </a:p>
        </p:txBody>
      </p:sp>
      <p:sp>
        <p:nvSpPr>
          <p:cNvPr id="41" name="Text 39"/>
          <p:cNvSpPr/>
          <p:nvPr/>
        </p:nvSpPr>
        <p:spPr>
          <a:xfrm>
            <a:off x="1417320" y="3017520"/>
            <a:ext cx="1554480" cy="475488"/>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Missing comment messages</a:t>
            </a:r>
            <a:endParaRPr lang="en-US" sz="950" dirty="0"/>
          </a:p>
        </p:txBody>
      </p:sp>
      <p:sp>
        <p:nvSpPr>
          <p:cNvPr id="42" name="Text 40"/>
          <p:cNvSpPr/>
          <p:nvPr/>
        </p:nvSpPr>
        <p:spPr>
          <a:xfrm>
            <a:off x="3017520" y="3017520"/>
            <a:ext cx="1005840" cy="475488"/>
          </a:xfrm>
          <a:prstGeom prst="rect">
            <a:avLst/>
          </a:prstGeom>
          <a:noFill/>
          <a:ln/>
        </p:spPr>
        <p:txBody>
          <a:bodyPr wrap="square" rtlCol="0" anchor="ctr"/>
          <a:lstStyle/>
          <a:p>
            <a:pPr algn="ctr" indent="0" marL="0">
              <a:buNone/>
            </a:pPr>
            <a:r>
              <a:rPr lang="en-US" sz="950" b="1" dirty="0">
                <a:solidFill>
                  <a:srgbClr val="E63946"/>
                </a:solidFill>
                <a:latin typeface="Calibri" pitchFamily="34" charset="0"/>
                <a:ea typeface="Calibri" pitchFamily="34" charset="-122"/>
                <a:cs typeface="Calibri" pitchFamily="34" charset="-120"/>
              </a:rPr>
              <a:t>58,247</a:t>
            </a:r>
            <a:endParaRPr lang="en-US" sz="950" dirty="0"/>
          </a:p>
        </p:txBody>
      </p:sp>
      <p:sp>
        <p:nvSpPr>
          <p:cNvPr id="43" name="Text 41"/>
          <p:cNvSpPr/>
          <p:nvPr/>
        </p:nvSpPr>
        <p:spPr>
          <a:xfrm>
            <a:off x="4069080" y="3017520"/>
            <a:ext cx="1874520" cy="475488"/>
          </a:xfrm>
          <a:prstGeom prst="rect">
            <a:avLst/>
          </a:prstGeom>
          <a:noFill/>
          <a:ln/>
        </p:spPr>
        <p:txBody>
          <a:bodyPr wrap="square" rtlCol="0" anchor="ctr"/>
          <a:lstStyle/>
          <a:p>
            <a:pPr indent="0" marL="0">
              <a:buNone/>
            </a:pPr>
            <a:r>
              <a:rPr lang="en-US" sz="950" b="1" dirty="0">
                <a:solidFill>
                  <a:srgbClr val="14345A"/>
                </a:solidFill>
                <a:latin typeface="Calibri" pitchFamily="34" charset="0"/>
                <a:ea typeface="Calibri" pitchFamily="34" charset="-122"/>
                <a:cs typeface="Calibri" pitchFamily="34" charset="-120"/>
              </a:rPr>
              <a:t>Fill 'No comment'</a:t>
            </a:r>
            <a:endParaRPr lang="en-US" sz="950" dirty="0"/>
          </a:p>
        </p:txBody>
      </p:sp>
      <p:sp>
        <p:nvSpPr>
          <p:cNvPr id="44" name="Text 42"/>
          <p:cNvSpPr/>
          <p:nvPr/>
        </p:nvSpPr>
        <p:spPr>
          <a:xfrm>
            <a:off x="5989320" y="3017520"/>
            <a:ext cx="2834640" cy="475488"/>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Same platform behavior — optional text field</a:t>
            </a:r>
            <a:endParaRPr lang="en-US" sz="900" dirty="0"/>
          </a:p>
        </p:txBody>
      </p:sp>
      <p:sp>
        <p:nvSpPr>
          <p:cNvPr id="45" name="Shape 43"/>
          <p:cNvSpPr/>
          <p:nvPr/>
        </p:nvSpPr>
        <p:spPr>
          <a:xfrm>
            <a:off x="274320" y="3493008"/>
            <a:ext cx="8595360" cy="530352"/>
          </a:xfrm>
          <a:prstGeom prst="rect">
            <a:avLst/>
          </a:prstGeom>
          <a:solidFill>
            <a:srgbClr val="EEF6FB"/>
          </a:solidFill>
          <a:ln w="12700">
            <a:solidFill>
              <a:srgbClr val="D0DCF0"/>
            </a:solidFill>
            <a:prstDash val="solid"/>
          </a:ln>
        </p:spPr>
      </p:sp>
      <p:sp>
        <p:nvSpPr>
          <p:cNvPr id="46" name="Shape 44"/>
          <p:cNvSpPr/>
          <p:nvPr/>
        </p:nvSpPr>
        <p:spPr>
          <a:xfrm>
            <a:off x="347472" y="3584448"/>
            <a:ext cx="914400" cy="347472"/>
          </a:xfrm>
          <a:prstGeom prst="roundRect">
            <a:avLst>
              <a:gd name="adj" fmla="val 15789"/>
            </a:avLst>
          </a:prstGeom>
          <a:solidFill>
            <a:srgbClr val="0D2137"/>
          </a:solidFill>
          <a:ln w="12700">
            <a:solidFill>
              <a:srgbClr val="00B4D8"/>
            </a:solidFill>
            <a:prstDash val="solid"/>
          </a:ln>
        </p:spPr>
      </p:sp>
      <p:sp>
        <p:nvSpPr>
          <p:cNvPr id="47" name="Text 45"/>
          <p:cNvSpPr/>
          <p:nvPr/>
        </p:nvSpPr>
        <p:spPr>
          <a:xfrm>
            <a:off x="347472" y="3584448"/>
            <a:ext cx="914400" cy="347472"/>
          </a:xfrm>
          <a:prstGeom prst="rect">
            <a:avLst/>
          </a:prstGeom>
          <a:noFill/>
          <a:ln/>
        </p:spPr>
        <p:txBody>
          <a:bodyPr wrap="square" rtlCol="0" anchor="ctr"/>
          <a:lstStyle/>
          <a:p>
            <a:pPr algn="ctr" indent="0" marL="0">
              <a:buNone/>
            </a:pPr>
            <a:r>
              <a:rPr lang="en-US" sz="850" b="1" dirty="0">
                <a:solidFill>
                  <a:srgbClr val="00B4D8"/>
                </a:solidFill>
                <a:latin typeface="Calibri" pitchFamily="34" charset="0"/>
                <a:ea typeface="Calibri" pitchFamily="34" charset="-122"/>
                <a:cs typeface="Calibri" pitchFamily="34" charset="-120"/>
              </a:rPr>
              <a:t>reviews</a:t>
            </a:r>
            <a:endParaRPr lang="en-US" sz="850" dirty="0"/>
          </a:p>
        </p:txBody>
      </p:sp>
      <p:sp>
        <p:nvSpPr>
          <p:cNvPr id="48" name="Text 46"/>
          <p:cNvSpPr/>
          <p:nvPr/>
        </p:nvSpPr>
        <p:spPr>
          <a:xfrm>
            <a:off x="1417320" y="3493008"/>
            <a:ext cx="1554480" cy="530352"/>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Duplicate review IDs</a:t>
            </a:r>
            <a:endParaRPr lang="en-US" sz="950" dirty="0"/>
          </a:p>
        </p:txBody>
      </p:sp>
      <p:sp>
        <p:nvSpPr>
          <p:cNvPr id="49" name="Text 47"/>
          <p:cNvSpPr/>
          <p:nvPr/>
        </p:nvSpPr>
        <p:spPr>
          <a:xfrm>
            <a:off x="3017520" y="3493008"/>
            <a:ext cx="1005840" cy="530352"/>
          </a:xfrm>
          <a:prstGeom prst="rect">
            <a:avLst/>
          </a:prstGeom>
          <a:noFill/>
          <a:ln/>
        </p:spPr>
        <p:txBody>
          <a:bodyPr wrap="square" rtlCol="0" anchor="ctr"/>
          <a:lstStyle/>
          <a:p>
            <a:pPr algn="ctr" indent="0" marL="0">
              <a:buNone/>
            </a:pPr>
            <a:r>
              <a:rPr lang="en-US" sz="950" b="1" dirty="0">
                <a:solidFill>
                  <a:srgbClr val="E63946"/>
                </a:solidFill>
                <a:latin typeface="Calibri" pitchFamily="34" charset="0"/>
                <a:ea typeface="Calibri" pitchFamily="34" charset="-122"/>
                <a:cs typeface="Calibri" pitchFamily="34" charset="-120"/>
              </a:rPr>
              <a:t>varies</a:t>
            </a:r>
            <a:endParaRPr lang="en-US" sz="950" dirty="0"/>
          </a:p>
        </p:txBody>
      </p:sp>
      <p:sp>
        <p:nvSpPr>
          <p:cNvPr id="50" name="Text 48"/>
          <p:cNvSpPr/>
          <p:nvPr/>
        </p:nvSpPr>
        <p:spPr>
          <a:xfrm>
            <a:off x="4069080" y="3493008"/>
            <a:ext cx="1874520" cy="530352"/>
          </a:xfrm>
          <a:prstGeom prst="rect">
            <a:avLst/>
          </a:prstGeom>
          <a:noFill/>
          <a:ln/>
        </p:spPr>
        <p:txBody>
          <a:bodyPr wrap="square" rtlCol="0" anchor="ctr"/>
          <a:lstStyle/>
          <a:p>
            <a:pPr indent="0" marL="0">
              <a:buNone/>
            </a:pPr>
            <a:r>
              <a:rPr lang="en-US" sz="950" b="1" dirty="0">
                <a:solidFill>
                  <a:srgbClr val="14345A"/>
                </a:solidFill>
                <a:latin typeface="Calibri" pitchFamily="34" charset="0"/>
                <a:ea typeface="Calibri" pitchFamily="34" charset="-122"/>
                <a:cs typeface="Calibri" pitchFamily="34" charset="-120"/>
              </a:rPr>
              <a:t>Keep first, drop rest</a:t>
            </a:r>
            <a:endParaRPr lang="en-US" sz="950" dirty="0"/>
          </a:p>
        </p:txBody>
      </p:sp>
      <p:sp>
        <p:nvSpPr>
          <p:cNvPr id="51" name="Text 49"/>
          <p:cNvSpPr/>
          <p:nvPr/>
        </p:nvSpPr>
        <p:spPr>
          <a:xfrm>
            <a:off x="5989320" y="3493008"/>
            <a:ext cx="2834640" cy="530352"/>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Upstream Olist bug — same ID reused on resubmit</a:t>
            </a:r>
            <a:endParaRPr lang="en-US" sz="900" dirty="0"/>
          </a:p>
        </p:txBody>
      </p:sp>
      <p:sp>
        <p:nvSpPr>
          <p:cNvPr id="52" name="Shape 50"/>
          <p:cNvSpPr/>
          <p:nvPr/>
        </p:nvSpPr>
        <p:spPr>
          <a:xfrm>
            <a:off x="274320" y="4023360"/>
            <a:ext cx="8595360" cy="530352"/>
          </a:xfrm>
          <a:prstGeom prst="rect">
            <a:avLst/>
          </a:prstGeom>
          <a:solidFill>
            <a:srgbClr val="FFFFFF"/>
          </a:solidFill>
          <a:ln w="12700">
            <a:solidFill>
              <a:srgbClr val="D0DCF0"/>
            </a:solidFill>
            <a:prstDash val="solid"/>
          </a:ln>
        </p:spPr>
      </p:sp>
      <p:sp>
        <p:nvSpPr>
          <p:cNvPr id="53" name="Shape 51"/>
          <p:cNvSpPr/>
          <p:nvPr/>
        </p:nvSpPr>
        <p:spPr>
          <a:xfrm>
            <a:off x="347472" y="4114800"/>
            <a:ext cx="914400" cy="347472"/>
          </a:xfrm>
          <a:prstGeom prst="roundRect">
            <a:avLst>
              <a:gd name="adj" fmla="val 15789"/>
            </a:avLst>
          </a:prstGeom>
          <a:solidFill>
            <a:srgbClr val="0D2137"/>
          </a:solidFill>
          <a:ln w="12700">
            <a:solidFill>
              <a:srgbClr val="00B4D8"/>
            </a:solidFill>
            <a:prstDash val="solid"/>
          </a:ln>
        </p:spPr>
      </p:sp>
      <p:sp>
        <p:nvSpPr>
          <p:cNvPr id="54" name="Text 52"/>
          <p:cNvSpPr/>
          <p:nvPr/>
        </p:nvSpPr>
        <p:spPr>
          <a:xfrm>
            <a:off x="347472" y="4114800"/>
            <a:ext cx="914400" cy="347472"/>
          </a:xfrm>
          <a:prstGeom prst="rect">
            <a:avLst/>
          </a:prstGeom>
          <a:noFill/>
          <a:ln/>
        </p:spPr>
        <p:txBody>
          <a:bodyPr wrap="square" rtlCol="0" anchor="ctr"/>
          <a:lstStyle/>
          <a:p>
            <a:pPr algn="ctr" indent="0" marL="0">
              <a:buNone/>
            </a:pPr>
            <a:r>
              <a:rPr lang="en-US" sz="850" b="1" dirty="0">
                <a:solidFill>
                  <a:srgbClr val="00B4D8"/>
                </a:solidFill>
                <a:latin typeface="Calibri" pitchFamily="34" charset="0"/>
                <a:ea typeface="Calibri" pitchFamily="34" charset="-122"/>
                <a:cs typeface="Calibri" pitchFamily="34" charset="-120"/>
              </a:rPr>
              <a:t>category_translation</a:t>
            </a:r>
            <a:endParaRPr lang="en-US" sz="850" dirty="0"/>
          </a:p>
        </p:txBody>
      </p:sp>
      <p:sp>
        <p:nvSpPr>
          <p:cNvPr id="55" name="Text 53"/>
          <p:cNvSpPr/>
          <p:nvPr/>
        </p:nvSpPr>
        <p:spPr>
          <a:xfrm>
            <a:off x="1417320" y="4023360"/>
            <a:ext cx="1554480" cy="530352"/>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Missing FK categories</a:t>
            </a:r>
            <a:endParaRPr lang="en-US" sz="950" dirty="0"/>
          </a:p>
        </p:txBody>
      </p:sp>
      <p:sp>
        <p:nvSpPr>
          <p:cNvPr id="56" name="Text 54"/>
          <p:cNvSpPr/>
          <p:nvPr/>
        </p:nvSpPr>
        <p:spPr>
          <a:xfrm>
            <a:off x="3017520" y="4023360"/>
            <a:ext cx="1005840" cy="530352"/>
          </a:xfrm>
          <a:prstGeom prst="rect">
            <a:avLst/>
          </a:prstGeom>
          <a:noFill/>
          <a:ln/>
        </p:spPr>
        <p:txBody>
          <a:bodyPr wrap="square" rtlCol="0" anchor="ctr"/>
          <a:lstStyle/>
          <a:p>
            <a:pPr algn="ctr" indent="0" marL="0">
              <a:buNone/>
            </a:pPr>
            <a:r>
              <a:rPr lang="en-US" sz="950" b="1" dirty="0">
                <a:solidFill>
                  <a:srgbClr val="E63946"/>
                </a:solidFill>
                <a:latin typeface="Calibri" pitchFamily="34" charset="0"/>
                <a:ea typeface="Calibri" pitchFamily="34" charset="-122"/>
                <a:cs typeface="Calibri" pitchFamily="34" charset="-120"/>
              </a:rPr>
              <a:t>pc_gamer</a:t>
            </a:r>
            <a:endParaRPr lang="en-US" sz="950" dirty="0"/>
          </a:p>
          <a:p>
            <a:pPr algn="ctr" indent="0" marL="0">
              <a:buNone/>
            </a:pPr>
            <a:r>
              <a:rPr lang="en-US" sz="950" b="1" dirty="0">
                <a:solidFill>
                  <a:srgbClr val="E63946"/>
                </a:solidFill>
                <a:latin typeface="Calibri" pitchFamily="34" charset="0"/>
                <a:ea typeface="Calibri" pitchFamily="34" charset="-122"/>
                <a:cs typeface="Calibri" pitchFamily="34" charset="-120"/>
              </a:rPr>
              <a:t>+ others</a:t>
            </a:r>
            <a:endParaRPr lang="en-US" sz="950" dirty="0"/>
          </a:p>
        </p:txBody>
      </p:sp>
      <p:sp>
        <p:nvSpPr>
          <p:cNvPr id="57" name="Text 55"/>
          <p:cNvSpPr/>
          <p:nvPr/>
        </p:nvSpPr>
        <p:spPr>
          <a:xfrm>
            <a:off x="4069080" y="4023360"/>
            <a:ext cx="1874520" cy="530352"/>
          </a:xfrm>
          <a:prstGeom prst="rect">
            <a:avLst/>
          </a:prstGeom>
          <a:noFill/>
          <a:ln/>
        </p:spPr>
        <p:txBody>
          <a:bodyPr wrap="square" rtlCol="0" anchor="ctr"/>
          <a:lstStyle/>
          <a:p>
            <a:pPr indent="0" marL="0">
              <a:buNone/>
            </a:pPr>
            <a:r>
              <a:rPr lang="en-US" sz="950" b="1" dirty="0">
                <a:solidFill>
                  <a:srgbClr val="14345A"/>
                </a:solidFill>
                <a:latin typeface="Calibri" pitchFamily="34" charset="0"/>
                <a:ea typeface="Calibri" pitchFamily="34" charset="-122"/>
                <a:cs typeface="Calibri" pitchFamily="34" charset="-120"/>
              </a:rPr>
              <a:t>Added programmatically</a:t>
            </a:r>
            <a:endParaRPr lang="en-US" sz="950" dirty="0"/>
          </a:p>
        </p:txBody>
      </p:sp>
      <p:sp>
        <p:nvSpPr>
          <p:cNvPr id="58" name="Text 56"/>
          <p:cNvSpPr/>
          <p:nvPr/>
        </p:nvSpPr>
        <p:spPr>
          <a:xfrm>
            <a:off x="5989320" y="4023360"/>
            <a:ext cx="2834640" cy="530352"/>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Pre-flight check before PostgreSQL load</a:t>
            </a:r>
            <a:endParaRPr lang="en-US" sz="900" dirty="0"/>
          </a:p>
        </p:txBody>
      </p:sp>
      <p:sp>
        <p:nvSpPr>
          <p:cNvPr id="59" name="Shape 57"/>
          <p:cNvSpPr/>
          <p:nvPr/>
        </p:nvSpPr>
        <p:spPr>
          <a:xfrm>
            <a:off x="274320" y="4736592"/>
            <a:ext cx="8595360" cy="256032"/>
          </a:xfrm>
          <a:prstGeom prst="roundRect">
            <a:avLst>
              <a:gd name="adj" fmla="val 28571"/>
            </a:avLst>
          </a:prstGeom>
          <a:solidFill>
            <a:srgbClr val="0D2137"/>
          </a:solidFill>
          <a:ln w="12700">
            <a:solidFill>
              <a:srgbClr val="02C39A"/>
            </a:solidFill>
            <a:prstDash val="solid"/>
          </a:ln>
        </p:spPr>
      </p:sp>
      <p:sp>
        <p:nvSpPr>
          <p:cNvPr id="60" name="Text 58"/>
          <p:cNvSpPr/>
          <p:nvPr/>
        </p:nvSpPr>
        <p:spPr>
          <a:xfrm>
            <a:off x="365760" y="4736592"/>
            <a:ext cx="8412480" cy="256032"/>
          </a:xfrm>
          <a:prstGeom prst="rect">
            <a:avLst/>
          </a:prstGeom>
          <a:noFill/>
          <a:ln/>
        </p:spPr>
        <p:txBody>
          <a:bodyPr wrap="square" rtlCol="0" anchor="ctr"/>
          <a:lstStyle/>
          <a:p>
            <a:pPr algn="ctr" indent="0" marL="0">
              <a:buNone/>
            </a:pPr>
            <a:r>
              <a:rPr lang="en-US" sz="950" b="1" dirty="0">
                <a:solidFill>
                  <a:srgbClr val="02C39A"/>
                </a:solidFill>
                <a:latin typeface="Calibri" pitchFamily="34" charset="0"/>
                <a:ea typeface="Calibri" pitchFamily="34" charset="-122"/>
                <a:cs typeface="Calibri" pitchFamily="34" charset="-120"/>
              </a:rPr>
              <a:t>Feature Engineering:  DeliveryDays = order_delivered_customer_date − order_purchase_timestamp   |   Revenue = price + freight_value</a:t>
            </a:r>
            <a:endParaRPr lang="en-US" sz="950" dirty="0"/>
          </a:p>
        </p:txBody>
      </p:sp>
      <p:sp>
        <p:nvSpPr>
          <p:cNvPr id="61" name="Shape 59"/>
          <p:cNvSpPr/>
          <p:nvPr/>
        </p:nvSpPr>
        <p:spPr>
          <a:xfrm>
            <a:off x="0" y="5047488"/>
            <a:ext cx="9144000" cy="91440"/>
          </a:xfrm>
          <a:prstGeom prst="rect">
            <a:avLst/>
          </a:prstGeom>
          <a:solidFill>
            <a:srgbClr val="0D2137"/>
          </a:solidFill>
          <a:ln w="12700">
            <a:solidFill>
              <a:srgbClr val="0D2137"/>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sp>
      <p:sp>
        <p:nvSpPr>
          <p:cNvPr id="3" name="Text 1"/>
          <p:cNvSpPr/>
          <p:nvPr/>
        </p:nvSpPr>
        <p:spPr>
          <a:xfrm>
            <a:off x="411480" y="109728"/>
            <a:ext cx="8229600" cy="45720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Schema Design — 3NF Entity Relationship Diagram</a:t>
            </a:r>
            <a:endParaRPr lang="en-US" sz="2400" dirty="0"/>
          </a:p>
        </p:txBody>
      </p:sp>
      <p:pic>
        <p:nvPicPr>
          <p:cNvPr id="4" name="Image 0" descr="preencoded.png">    </p:cNvPr>
          <p:cNvPicPr>
            <a:picLocks noChangeAspect="1"/>
          </p:cNvPicPr>
          <p:nvPr/>
        </p:nvPicPr>
        <p:blipFill>
          <a:blip r:embed="rId1"/>
          <a:stretch>
            <a:fillRect/>
          </a:stretch>
        </p:blipFill>
        <p:spPr>
          <a:xfrm>
            <a:off x="182880" y="658368"/>
            <a:ext cx="5577840" cy="4187952"/>
          </a:xfrm>
          <a:prstGeom prst="rect">
            <a:avLst/>
          </a:prstGeom>
          <a:effectLst>
            <a:outerShdw sx="100000" sy="100000" kx="0" ky="0" algn="bl" rotWithShape="0" blurRad="127000" dist="50800" dir="2700000">
              <a:srgbClr val="000000">
                <a:alpha val="20000"/>
              </a:srgbClr>
            </a:outerShdw>
          </a:effectLst>
        </p:spPr>
      </p:pic>
      <p:sp>
        <p:nvSpPr>
          <p:cNvPr id="5" name="Shape 2"/>
          <p:cNvSpPr/>
          <p:nvPr/>
        </p:nvSpPr>
        <p:spPr>
          <a:xfrm>
            <a:off x="5989320" y="658368"/>
            <a:ext cx="2971800" cy="987552"/>
          </a:xfrm>
          <a:prstGeom prst="roundRect">
            <a:avLst>
              <a:gd name="adj" fmla="val 9259"/>
            </a:avLst>
          </a:prstGeom>
          <a:solidFill>
            <a:srgbClr val="112B45"/>
          </a:solidFill>
          <a:ln w="12700">
            <a:solidFill>
              <a:srgbClr val="00B4D8"/>
            </a:solidFill>
            <a:prstDash val="solid"/>
          </a:ln>
          <a:effectLst>
            <a:outerShdw sx="100000" sy="100000" kx="0" ky="0" algn="bl" rotWithShape="0" blurRad="127000" dist="50800" dir="2700000">
              <a:srgbClr val="000000">
                <a:alpha val="20000"/>
              </a:srgbClr>
            </a:outerShdw>
          </a:effectLst>
        </p:spPr>
      </p:sp>
      <p:sp>
        <p:nvSpPr>
          <p:cNvPr id="6" name="Text 3"/>
          <p:cNvSpPr/>
          <p:nvPr/>
        </p:nvSpPr>
        <p:spPr>
          <a:xfrm>
            <a:off x="6035040" y="859536"/>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7" name="Text 4"/>
          <p:cNvSpPr/>
          <p:nvPr/>
        </p:nvSpPr>
        <p:spPr>
          <a:xfrm>
            <a:off x="6583680" y="722376"/>
            <a:ext cx="2240280" cy="301752"/>
          </a:xfrm>
          <a:prstGeom prst="rect">
            <a:avLst/>
          </a:prstGeom>
          <a:noFill/>
          <a:ln/>
        </p:spPr>
        <p:txBody>
          <a:bodyPr wrap="square" rtlCol="0" anchor="ctr"/>
          <a:lstStyle/>
          <a:p>
            <a:pPr indent="0" marL="0">
              <a:buNone/>
            </a:pPr>
            <a:r>
              <a:rPr lang="en-US" sz="1150" b="1" dirty="0">
                <a:solidFill>
                  <a:srgbClr val="00B4D8"/>
                </a:solidFill>
                <a:latin typeface="Calibri" pitchFamily="34" charset="0"/>
                <a:ea typeface="Calibri" pitchFamily="34" charset="-122"/>
                <a:cs typeface="Calibri" pitchFamily="34" charset="-120"/>
              </a:rPr>
              <a:t>3NF Schema</a:t>
            </a:r>
            <a:endParaRPr lang="en-US" sz="1150" dirty="0"/>
          </a:p>
        </p:txBody>
      </p:sp>
      <p:sp>
        <p:nvSpPr>
          <p:cNvPr id="8" name="Text 5"/>
          <p:cNvSpPr/>
          <p:nvPr/>
        </p:nvSpPr>
        <p:spPr>
          <a:xfrm>
            <a:off x="6583680" y="1024128"/>
            <a:ext cx="2286000" cy="548640"/>
          </a:xfrm>
          <a:prstGeom prst="rect">
            <a:avLst/>
          </a:prstGeom>
          <a:noFill/>
          <a:ln/>
        </p:spPr>
        <p:txBody>
          <a:bodyPr wrap="square" rtlCol="0" anchor="ctr"/>
          <a:lstStyle/>
          <a:p>
            <a:pPr indent="0" marL="0">
              <a:buNone/>
            </a:pPr>
            <a:r>
              <a:rPr lang="en-US" sz="900" dirty="0">
                <a:solidFill>
                  <a:srgbClr val="E8F4F8"/>
                </a:solidFill>
                <a:latin typeface="Calibri" pitchFamily="34" charset="0"/>
                <a:ea typeface="Calibri" pitchFamily="34" charset="-122"/>
                <a:cs typeface="Calibri" pitchFamily="34" charset="-120"/>
              </a:rPr>
              <a:t>Each fact in exactly one table. No redundancy — a seller's city stored once, not repeated on every order row.</a:t>
            </a:r>
            <a:endParaRPr lang="en-US" sz="900" dirty="0"/>
          </a:p>
        </p:txBody>
      </p:sp>
      <p:sp>
        <p:nvSpPr>
          <p:cNvPr id="9" name="Shape 6"/>
          <p:cNvSpPr/>
          <p:nvPr/>
        </p:nvSpPr>
        <p:spPr>
          <a:xfrm>
            <a:off x="5989320" y="1737360"/>
            <a:ext cx="2971800" cy="987552"/>
          </a:xfrm>
          <a:prstGeom prst="roundRect">
            <a:avLst>
              <a:gd name="adj" fmla="val 9259"/>
            </a:avLst>
          </a:prstGeom>
          <a:solidFill>
            <a:srgbClr val="112B45"/>
          </a:solidFill>
          <a:ln w="12700">
            <a:solidFill>
              <a:srgbClr val="02C39A"/>
            </a:solidFill>
            <a:prstDash val="solid"/>
          </a:ln>
          <a:effectLst>
            <a:outerShdw sx="100000" sy="100000" kx="0" ky="0" algn="bl" rotWithShape="0" blurRad="127000" dist="50800" dir="2700000">
              <a:srgbClr val="000000">
                <a:alpha val="20000"/>
              </a:srgbClr>
            </a:outerShdw>
          </a:effectLst>
        </p:spPr>
      </p:sp>
      <p:sp>
        <p:nvSpPr>
          <p:cNvPr id="10" name="Text 7"/>
          <p:cNvSpPr/>
          <p:nvPr/>
        </p:nvSpPr>
        <p:spPr>
          <a:xfrm>
            <a:off x="6035040" y="1938528"/>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1" name="Text 8"/>
          <p:cNvSpPr/>
          <p:nvPr/>
        </p:nvSpPr>
        <p:spPr>
          <a:xfrm>
            <a:off x="6583680" y="1801368"/>
            <a:ext cx="2240280" cy="301752"/>
          </a:xfrm>
          <a:prstGeom prst="rect">
            <a:avLst/>
          </a:prstGeom>
          <a:noFill/>
          <a:ln/>
        </p:spPr>
        <p:txBody>
          <a:bodyPr wrap="square" rtlCol="0" anchor="ctr"/>
          <a:lstStyle/>
          <a:p>
            <a:pPr indent="0" marL="0">
              <a:buNone/>
            </a:pPr>
            <a:r>
              <a:rPr lang="en-US" sz="1150" b="1" dirty="0">
                <a:solidFill>
                  <a:srgbClr val="02C39A"/>
                </a:solidFill>
                <a:latin typeface="Calibri" pitchFamily="34" charset="0"/>
                <a:ea typeface="Calibri" pitchFamily="34" charset="-122"/>
                <a:cs typeface="Calibri" pitchFamily="34" charset="-120"/>
              </a:rPr>
              <a:t>Composite PKs</a:t>
            </a:r>
            <a:endParaRPr lang="en-US" sz="1150" dirty="0"/>
          </a:p>
        </p:txBody>
      </p:sp>
      <p:sp>
        <p:nvSpPr>
          <p:cNvPr id="12" name="Text 9"/>
          <p:cNvSpPr/>
          <p:nvPr/>
        </p:nvSpPr>
        <p:spPr>
          <a:xfrm>
            <a:off x="6583680" y="2103120"/>
            <a:ext cx="2286000" cy="548640"/>
          </a:xfrm>
          <a:prstGeom prst="rect">
            <a:avLst/>
          </a:prstGeom>
          <a:noFill/>
          <a:ln/>
        </p:spPr>
        <p:txBody>
          <a:bodyPr wrap="square" rtlCol="0" anchor="ctr"/>
          <a:lstStyle/>
          <a:p>
            <a:pPr indent="0" marL="0">
              <a:buNone/>
            </a:pPr>
            <a:r>
              <a:rPr lang="en-US" sz="900" dirty="0">
                <a:solidFill>
                  <a:srgbClr val="E8F4F8"/>
                </a:solidFill>
                <a:latin typeface="Calibri" pitchFamily="34" charset="0"/>
                <a:ea typeface="Calibri" pitchFamily="34" charset="-122"/>
                <a:cs typeface="Calibri" pitchFamily="34" charset="-120"/>
              </a:rPr>
              <a:t>order_items: (order_id, item_id)</a:t>
            </a:r>
            <a:endParaRPr lang="en-US" sz="900" dirty="0"/>
          </a:p>
          <a:p>
            <a:pPr indent="0" marL="0">
              <a:buNone/>
            </a:pPr>
            <a:r>
              <a:rPr lang="en-US" sz="900" dirty="0">
                <a:solidFill>
                  <a:srgbClr val="E8F4F8"/>
                </a:solidFill>
                <a:latin typeface="Calibri" pitchFamily="34" charset="0"/>
                <a:ea typeface="Calibri" pitchFamily="34" charset="-122"/>
                <a:cs typeface="Calibri" pitchFamily="34" charset="-120"/>
              </a:rPr>
              <a:t>payments: (order_id, payment_seq)</a:t>
            </a:r>
            <a:endParaRPr lang="en-US" sz="900" dirty="0"/>
          </a:p>
          <a:p>
            <a:pPr indent="0" marL="0">
              <a:buNone/>
            </a:pPr>
            <a:r>
              <a:rPr lang="en-US" sz="900" dirty="0">
                <a:solidFill>
                  <a:srgbClr val="E8F4F8"/>
                </a:solidFill>
                <a:latin typeface="Calibri" pitchFamily="34" charset="0"/>
                <a:ea typeface="Calibri" pitchFamily="34" charset="-122"/>
                <a:cs typeface="Calibri" pitchFamily="34" charset="-120"/>
              </a:rPr>
              <a:t>Neither column alone is unique.</a:t>
            </a:r>
            <a:endParaRPr lang="en-US" sz="900" dirty="0"/>
          </a:p>
        </p:txBody>
      </p:sp>
      <p:sp>
        <p:nvSpPr>
          <p:cNvPr id="13" name="Shape 10"/>
          <p:cNvSpPr/>
          <p:nvPr/>
        </p:nvSpPr>
        <p:spPr>
          <a:xfrm>
            <a:off x="5989320" y="2816352"/>
            <a:ext cx="2971800" cy="987552"/>
          </a:xfrm>
          <a:prstGeom prst="roundRect">
            <a:avLst>
              <a:gd name="adj" fmla="val 9259"/>
            </a:avLst>
          </a:prstGeom>
          <a:solidFill>
            <a:srgbClr val="112B45"/>
          </a:solidFill>
          <a:ln w="12700">
            <a:solidFill>
              <a:srgbClr val="F4A261"/>
            </a:solidFill>
            <a:prstDash val="solid"/>
          </a:ln>
          <a:effectLst>
            <a:outerShdw sx="100000" sy="100000" kx="0" ky="0" algn="bl" rotWithShape="0" blurRad="127000" dist="50800" dir="2700000">
              <a:srgbClr val="000000">
                <a:alpha val="20000"/>
              </a:srgbClr>
            </a:outerShdw>
          </a:effectLst>
        </p:spPr>
      </p:sp>
      <p:sp>
        <p:nvSpPr>
          <p:cNvPr id="14" name="Text 11"/>
          <p:cNvSpPr/>
          <p:nvPr/>
        </p:nvSpPr>
        <p:spPr>
          <a:xfrm>
            <a:off x="6035040" y="301752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5" name="Text 12"/>
          <p:cNvSpPr/>
          <p:nvPr/>
        </p:nvSpPr>
        <p:spPr>
          <a:xfrm>
            <a:off x="6583680" y="2880360"/>
            <a:ext cx="2240280" cy="301752"/>
          </a:xfrm>
          <a:prstGeom prst="rect">
            <a:avLst/>
          </a:prstGeom>
          <a:noFill/>
          <a:ln/>
        </p:spPr>
        <p:txBody>
          <a:bodyPr wrap="square" rtlCol="0" anchor="ctr"/>
          <a:lstStyle/>
          <a:p>
            <a:pPr indent="0" marL="0">
              <a:buNone/>
            </a:pPr>
            <a:r>
              <a:rPr lang="en-US" sz="1150" b="1" dirty="0">
                <a:solidFill>
                  <a:srgbClr val="F4A261"/>
                </a:solidFill>
                <a:latin typeface="Calibri" pitchFamily="34" charset="0"/>
                <a:ea typeface="Calibri" pitchFamily="34" charset="-122"/>
                <a:cs typeface="Calibri" pitchFamily="34" charset="-120"/>
              </a:rPr>
              <a:t>No PK Geoloc.</a:t>
            </a:r>
            <a:endParaRPr lang="en-US" sz="1150" dirty="0"/>
          </a:p>
        </p:txBody>
      </p:sp>
      <p:sp>
        <p:nvSpPr>
          <p:cNvPr id="16" name="Text 13"/>
          <p:cNvSpPr/>
          <p:nvPr/>
        </p:nvSpPr>
        <p:spPr>
          <a:xfrm>
            <a:off x="6583680" y="3182112"/>
            <a:ext cx="2286000" cy="548640"/>
          </a:xfrm>
          <a:prstGeom prst="rect">
            <a:avLst/>
          </a:prstGeom>
          <a:noFill/>
          <a:ln/>
        </p:spPr>
        <p:txBody>
          <a:bodyPr wrap="square" rtlCol="0" anchor="ctr"/>
          <a:lstStyle/>
          <a:p>
            <a:pPr indent="0" marL="0">
              <a:buNone/>
            </a:pPr>
            <a:r>
              <a:rPr lang="en-US" sz="900" dirty="0">
                <a:solidFill>
                  <a:srgbClr val="E8F4F8"/>
                </a:solidFill>
                <a:latin typeface="Calibri" pitchFamily="34" charset="0"/>
                <a:ea typeface="Calibri" pitchFamily="34" charset="-122"/>
                <a:cs typeface="Calibri" pitchFamily="34" charset="-120"/>
              </a:rPr>
              <a:t>Same zip prefix maps to multiple lat/lng points. Making it PK would force data loss.</a:t>
            </a:r>
            <a:endParaRPr lang="en-US" sz="900" dirty="0"/>
          </a:p>
        </p:txBody>
      </p:sp>
      <p:sp>
        <p:nvSpPr>
          <p:cNvPr id="17" name="Shape 14"/>
          <p:cNvSpPr/>
          <p:nvPr/>
        </p:nvSpPr>
        <p:spPr>
          <a:xfrm>
            <a:off x="5989320" y="3895344"/>
            <a:ext cx="2971800" cy="987552"/>
          </a:xfrm>
          <a:prstGeom prst="roundRect">
            <a:avLst>
              <a:gd name="adj" fmla="val 9259"/>
            </a:avLst>
          </a:prstGeom>
          <a:solidFill>
            <a:srgbClr val="112B45"/>
          </a:solidFill>
          <a:ln w="12700">
            <a:solidFill>
              <a:srgbClr val="C084FC"/>
            </a:solidFill>
            <a:prstDash val="solid"/>
          </a:ln>
          <a:effectLst>
            <a:outerShdw sx="100000" sy="100000" kx="0" ky="0" algn="bl" rotWithShape="0" blurRad="127000" dist="50800" dir="2700000">
              <a:srgbClr val="000000">
                <a:alpha val="20000"/>
              </a:srgbClr>
            </a:outerShdw>
          </a:effectLst>
        </p:spPr>
      </p:sp>
      <p:sp>
        <p:nvSpPr>
          <p:cNvPr id="18" name="Text 15"/>
          <p:cNvSpPr/>
          <p:nvPr/>
        </p:nvSpPr>
        <p:spPr>
          <a:xfrm>
            <a:off x="6035040" y="4096512"/>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9" name="Text 16"/>
          <p:cNvSpPr/>
          <p:nvPr/>
        </p:nvSpPr>
        <p:spPr>
          <a:xfrm>
            <a:off x="6583680" y="3959352"/>
            <a:ext cx="2240280" cy="301752"/>
          </a:xfrm>
          <a:prstGeom prst="rect">
            <a:avLst/>
          </a:prstGeom>
          <a:noFill/>
          <a:ln/>
        </p:spPr>
        <p:txBody>
          <a:bodyPr wrap="square" rtlCol="0" anchor="ctr"/>
          <a:lstStyle/>
          <a:p>
            <a:pPr indent="0" marL="0">
              <a:buNone/>
            </a:pPr>
            <a:r>
              <a:rPr lang="en-US" sz="1150" b="1" dirty="0">
                <a:solidFill>
                  <a:srgbClr val="C084FC"/>
                </a:solidFill>
                <a:latin typeface="Calibri" pitchFamily="34" charset="0"/>
                <a:ea typeface="Calibri" pitchFamily="34" charset="-122"/>
                <a:cs typeface="Calibri" pitchFamily="34" charset="-120"/>
              </a:rPr>
              <a:t>Load Order</a:t>
            </a:r>
            <a:endParaRPr lang="en-US" sz="1150" dirty="0"/>
          </a:p>
        </p:txBody>
      </p:sp>
      <p:sp>
        <p:nvSpPr>
          <p:cNvPr id="20" name="Text 17"/>
          <p:cNvSpPr/>
          <p:nvPr/>
        </p:nvSpPr>
        <p:spPr>
          <a:xfrm>
            <a:off x="6583680" y="4261104"/>
            <a:ext cx="2286000" cy="548640"/>
          </a:xfrm>
          <a:prstGeom prst="rect">
            <a:avLst/>
          </a:prstGeom>
          <a:noFill/>
          <a:ln/>
        </p:spPr>
        <p:txBody>
          <a:bodyPr wrap="square" rtlCol="0" anchor="ctr"/>
          <a:lstStyle/>
          <a:p>
            <a:pPr indent="0" marL="0">
              <a:buNone/>
            </a:pPr>
            <a:r>
              <a:rPr lang="en-US" sz="900" dirty="0">
                <a:solidFill>
                  <a:srgbClr val="E8F4F8"/>
                </a:solidFill>
                <a:latin typeface="Calibri" pitchFamily="34" charset="0"/>
                <a:ea typeface="Calibri" pitchFamily="34" charset="-122"/>
                <a:cs typeface="Calibri" pitchFamily="34" charset="-120"/>
              </a:rPr>
              <a:t>Reference tables first (products, sellers, categories), then transaction tables — FKs require it.</a:t>
            </a:r>
            <a:endParaRPr lang="en-US" sz="900" dirty="0"/>
          </a:p>
        </p:txBody>
      </p:sp>
      <p:sp>
        <p:nvSpPr>
          <p:cNvPr id="21" name="Shape 18"/>
          <p:cNvSpPr/>
          <p:nvPr/>
        </p:nvSpPr>
        <p:spPr>
          <a:xfrm>
            <a:off x="5989320" y="4754880"/>
            <a:ext cx="2971800" cy="237744"/>
          </a:xfrm>
          <a:prstGeom prst="roundRect">
            <a:avLst>
              <a:gd name="adj" fmla="val 30769"/>
            </a:avLst>
          </a:prstGeom>
          <a:solidFill>
            <a:srgbClr val="14345A"/>
          </a:solidFill>
          <a:ln w="12700">
            <a:solidFill>
              <a:srgbClr val="00B4D8"/>
            </a:solidFill>
            <a:prstDash val="solid"/>
          </a:ln>
        </p:spPr>
      </p:sp>
      <p:sp>
        <p:nvSpPr>
          <p:cNvPr id="22" name="Text 19"/>
          <p:cNvSpPr/>
          <p:nvPr/>
        </p:nvSpPr>
        <p:spPr>
          <a:xfrm>
            <a:off x="5989320" y="4754880"/>
            <a:ext cx="2971800" cy="237744"/>
          </a:xfrm>
          <a:prstGeom prst="rect">
            <a:avLst/>
          </a:prstGeom>
          <a:noFill/>
          <a:ln/>
        </p:spPr>
        <p:txBody>
          <a:bodyPr wrap="square" rtlCol="0" anchor="ctr"/>
          <a:lstStyle/>
          <a:p>
            <a:pPr algn="ctr" indent="0" marL="0">
              <a:buNone/>
            </a:pPr>
            <a:r>
              <a:rPr lang="en-US" sz="850" b="1" dirty="0">
                <a:solidFill>
                  <a:srgbClr val="00B4D8"/>
                </a:solidFill>
              </a:rPr>
              <a:t>9 Tables  •  3NF  •  0 FK Violations  •  74 Categories</a:t>
            </a:r>
            <a:endParaRPr lang="en-US" sz="850" dirty="0"/>
          </a:p>
        </p:txBody>
      </p:sp>
      <p:sp>
        <p:nvSpPr>
          <p:cNvPr id="23" name="Shape 20"/>
          <p:cNvSpPr/>
          <p:nvPr/>
        </p:nvSpPr>
        <p:spPr>
          <a:xfrm>
            <a:off x="0" y="5047488"/>
            <a:ext cx="9144000" cy="91440"/>
          </a:xfrm>
          <a:prstGeom prst="rect">
            <a:avLst/>
          </a:prstGeom>
          <a:solidFill>
            <a:srgbClr val="14345A"/>
          </a:solidFill>
          <a:ln w="12700">
            <a:solidFill>
              <a:srgbClr val="14345A"/>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8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2137"/>
          </a:solidFill>
          <a:ln w="12700">
            <a:solidFill>
              <a:srgbClr val="0D2137"/>
            </a:solidFill>
            <a:prstDash val="solid"/>
          </a:ln>
        </p:spPr>
      </p:sp>
      <p:sp>
        <p:nvSpPr>
          <p:cNvPr id="3" name="Text 1"/>
          <p:cNvSpPr/>
          <p:nvPr/>
        </p:nvSpPr>
        <p:spPr>
          <a:xfrm>
            <a:off x="411480" y="109728"/>
            <a:ext cx="8229600" cy="502920"/>
          </a:xfrm>
          <a:prstGeom prst="rect">
            <a:avLst/>
          </a:prstGeom>
          <a:noFill/>
          <a:ln/>
        </p:spPr>
        <p:txBody>
          <a:bodyPr wrap="square" rtlCol="0" anchor="ctr"/>
          <a:lstStyle/>
          <a:p>
            <a:pPr indent="0" marL="0">
              <a:buNone/>
            </a:pPr>
            <a:r>
              <a:rPr lang="en-US" sz="2600" b="1" dirty="0">
                <a:solidFill>
                  <a:srgbClr val="0D2137"/>
                </a:solidFill>
                <a:latin typeface="Calibri" pitchFamily="34" charset="0"/>
                <a:ea typeface="Calibri" pitchFamily="34" charset="-122"/>
                <a:cs typeface="Calibri" pitchFamily="34" charset="-120"/>
              </a:rPr>
              <a:t>PostgreSQL 18 — All 9 Tables Loaded</a:t>
            </a:r>
            <a:endParaRPr lang="en-US" sz="2600" dirty="0"/>
          </a:p>
        </p:txBody>
      </p:sp>
      <p:pic>
        <p:nvPicPr>
          <p:cNvPr id="4" name="Image 0" descr="preencoded.png">    </p:cNvPr>
          <p:cNvPicPr>
            <a:picLocks noChangeAspect="1"/>
          </p:cNvPicPr>
          <p:nvPr/>
        </p:nvPicPr>
        <p:blipFill>
          <a:blip r:embed="rId1"/>
          <a:stretch>
            <a:fillRect/>
          </a:stretch>
        </p:blipFill>
        <p:spPr>
          <a:xfrm>
            <a:off x="228600" y="731520"/>
            <a:ext cx="4846320" cy="4069080"/>
          </a:xfrm>
          <a:prstGeom prst="rect">
            <a:avLst/>
          </a:prstGeom>
          <a:effectLst>
            <a:outerShdw sx="100000" sy="100000" kx="0" ky="0" algn="bl" rotWithShape="0" blurRad="127000" dist="50800" dir="2700000">
              <a:srgbClr val="000000">
                <a:alpha val="20000"/>
              </a:srgbClr>
            </a:outerShdw>
          </a:effectLst>
        </p:spPr>
      </p:pic>
      <p:sp>
        <p:nvSpPr>
          <p:cNvPr id="5" name="Shape 2"/>
          <p:cNvSpPr/>
          <p:nvPr/>
        </p:nvSpPr>
        <p:spPr>
          <a:xfrm>
            <a:off x="5212080" y="731520"/>
            <a:ext cx="3703320" cy="402336"/>
          </a:xfrm>
          <a:prstGeom prst="rect">
            <a:avLst/>
          </a:prstGeom>
          <a:solidFill>
            <a:srgbClr val="0D2137"/>
          </a:solidFill>
          <a:ln w="12700">
            <a:solidFill>
              <a:srgbClr val="0D2137"/>
            </a:solidFill>
            <a:prstDash val="solid"/>
          </a:ln>
        </p:spPr>
      </p:sp>
      <p:sp>
        <p:nvSpPr>
          <p:cNvPr id="6" name="Text 3"/>
          <p:cNvSpPr/>
          <p:nvPr/>
        </p:nvSpPr>
        <p:spPr>
          <a:xfrm>
            <a:off x="5257800" y="731520"/>
            <a:ext cx="1600200" cy="402336"/>
          </a:xfrm>
          <a:prstGeom prst="rect">
            <a:avLst/>
          </a:prstGeom>
          <a:noFill/>
          <a:ln/>
        </p:spPr>
        <p:txBody>
          <a:bodyPr wrap="square" rtlCol="0" anchor="ctr"/>
          <a:lstStyle/>
          <a:p>
            <a:pPr indent="0" marL="0">
              <a:buNone/>
            </a:pPr>
            <a:r>
              <a:rPr lang="en-US" sz="1000" b="1" dirty="0">
                <a:solidFill>
                  <a:srgbClr val="00B4D8"/>
                </a:solidFill>
              </a:rPr>
              <a:t>Table</a:t>
            </a:r>
            <a:endParaRPr lang="en-US" sz="1000" dirty="0"/>
          </a:p>
        </p:txBody>
      </p:sp>
      <p:sp>
        <p:nvSpPr>
          <p:cNvPr id="7" name="Text 4"/>
          <p:cNvSpPr/>
          <p:nvPr/>
        </p:nvSpPr>
        <p:spPr>
          <a:xfrm>
            <a:off x="6858000" y="731520"/>
            <a:ext cx="1005840" cy="402336"/>
          </a:xfrm>
          <a:prstGeom prst="rect">
            <a:avLst/>
          </a:prstGeom>
          <a:noFill/>
          <a:ln/>
        </p:spPr>
        <p:txBody>
          <a:bodyPr wrap="square" rtlCol="0" anchor="ctr"/>
          <a:lstStyle/>
          <a:p>
            <a:pPr algn="r" indent="0" marL="0">
              <a:buNone/>
            </a:pPr>
            <a:r>
              <a:rPr lang="en-US" sz="1000" b="1" dirty="0">
                <a:solidFill>
                  <a:srgbClr val="02C39A"/>
                </a:solidFill>
              </a:rPr>
              <a:t>Dev Set</a:t>
            </a:r>
            <a:endParaRPr lang="en-US" sz="1000" dirty="0"/>
          </a:p>
        </p:txBody>
      </p:sp>
      <p:sp>
        <p:nvSpPr>
          <p:cNvPr id="8" name="Text 5"/>
          <p:cNvSpPr/>
          <p:nvPr/>
        </p:nvSpPr>
        <p:spPr>
          <a:xfrm>
            <a:off x="7863840" y="731520"/>
            <a:ext cx="1005840" cy="402336"/>
          </a:xfrm>
          <a:prstGeom prst="rect">
            <a:avLst/>
          </a:prstGeom>
          <a:noFill/>
          <a:ln/>
        </p:spPr>
        <p:txBody>
          <a:bodyPr wrap="square" rtlCol="0" anchor="ctr"/>
          <a:lstStyle/>
          <a:p>
            <a:pPr algn="r" indent="0" marL="0">
              <a:buNone/>
            </a:pPr>
            <a:r>
              <a:rPr lang="en-US" sz="1000" b="1" dirty="0">
                <a:solidFill>
                  <a:srgbClr val="F4A261"/>
                </a:solidFill>
              </a:rPr>
              <a:t>Test Set</a:t>
            </a:r>
            <a:endParaRPr lang="en-US" sz="1000" dirty="0"/>
          </a:p>
        </p:txBody>
      </p:sp>
      <p:sp>
        <p:nvSpPr>
          <p:cNvPr id="9" name="Shape 6"/>
          <p:cNvSpPr/>
          <p:nvPr/>
        </p:nvSpPr>
        <p:spPr>
          <a:xfrm>
            <a:off x="5212080" y="1133856"/>
            <a:ext cx="3703320" cy="342900"/>
          </a:xfrm>
          <a:prstGeom prst="rect">
            <a:avLst/>
          </a:prstGeom>
          <a:solidFill>
            <a:srgbClr val="FFFFFF"/>
          </a:solidFill>
          <a:ln w="12700">
            <a:solidFill>
              <a:srgbClr val="D0DCF0"/>
            </a:solidFill>
            <a:prstDash val="solid"/>
          </a:ln>
        </p:spPr>
      </p:sp>
      <p:sp>
        <p:nvSpPr>
          <p:cNvPr id="10" name="Text 7"/>
          <p:cNvSpPr/>
          <p:nvPr/>
        </p:nvSpPr>
        <p:spPr>
          <a:xfrm>
            <a:off x="5285232" y="1133856"/>
            <a:ext cx="1536192" cy="342900"/>
          </a:xfrm>
          <a:prstGeom prst="rect">
            <a:avLst/>
          </a:prstGeom>
          <a:noFill/>
          <a:ln/>
        </p:spPr>
        <p:txBody>
          <a:bodyPr wrap="square" rtlCol="0" anchor="ctr"/>
          <a:lstStyle/>
          <a:p>
            <a:pPr indent="0" marL="0">
              <a:buNone/>
            </a:pPr>
            <a:r>
              <a:rPr lang="en-US" sz="950" b="1" dirty="0">
                <a:solidFill>
                  <a:srgbClr val="0D2137"/>
                </a:solidFill>
                <a:latin typeface="Calibri" pitchFamily="34" charset="0"/>
                <a:ea typeface="Calibri" pitchFamily="34" charset="-122"/>
                <a:cs typeface="Calibri" pitchFamily="34" charset="-120"/>
              </a:rPr>
              <a:t>orders</a:t>
            </a:r>
            <a:endParaRPr lang="en-US" sz="950" dirty="0"/>
          </a:p>
        </p:txBody>
      </p:sp>
      <p:sp>
        <p:nvSpPr>
          <p:cNvPr id="11" name="Text 8"/>
          <p:cNvSpPr/>
          <p:nvPr/>
        </p:nvSpPr>
        <p:spPr>
          <a:xfrm>
            <a:off x="6839712" y="1133856"/>
            <a:ext cx="1024128" cy="342900"/>
          </a:xfrm>
          <a:prstGeom prst="rect">
            <a:avLst/>
          </a:prstGeom>
          <a:noFill/>
          <a:ln/>
        </p:spPr>
        <p:txBody>
          <a:bodyPr wrap="square" rtlCol="0" anchor="ctr"/>
          <a:lstStyle/>
          <a:p>
            <a:pPr algn="r" indent="0" marL="0">
              <a:buNone/>
            </a:pPr>
            <a:r>
              <a:rPr lang="en-US" sz="950" dirty="0">
                <a:solidFill>
                  <a:srgbClr val="334155"/>
                </a:solidFill>
              </a:rPr>
              <a:t>74,581</a:t>
            </a:r>
            <a:endParaRPr lang="en-US" sz="950" dirty="0"/>
          </a:p>
        </p:txBody>
      </p:sp>
      <p:sp>
        <p:nvSpPr>
          <p:cNvPr id="12" name="Text 9"/>
          <p:cNvSpPr/>
          <p:nvPr/>
        </p:nvSpPr>
        <p:spPr>
          <a:xfrm>
            <a:off x="7863840" y="1133856"/>
            <a:ext cx="1005840" cy="342900"/>
          </a:xfrm>
          <a:prstGeom prst="rect">
            <a:avLst/>
          </a:prstGeom>
          <a:noFill/>
          <a:ln/>
        </p:spPr>
        <p:txBody>
          <a:bodyPr wrap="square" rtlCol="0" anchor="ctr"/>
          <a:lstStyle/>
          <a:p>
            <a:pPr algn="r" indent="0" marL="0">
              <a:buNone/>
            </a:pPr>
            <a:r>
              <a:rPr lang="en-US" sz="950" dirty="0">
                <a:solidFill>
                  <a:srgbClr val="334155"/>
                </a:solidFill>
              </a:rPr>
              <a:t>24,860</a:t>
            </a:r>
            <a:endParaRPr lang="en-US" sz="950" dirty="0"/>
          </a:p>
        </p:txBody>
      </p:sp>
      <p:sp>
        <p:nvSpPr>
          <p:cNvPr id="13" name="Shape 10"/>
          <p:cNvSpPr/>
          <p:nvPr/>
        </p:nvSpPr>
        <p:spPr>
          <a:xfrm>
            <a:off x="5212080" y="1476756"/>
            <a:ext cx="3703320" cy="342900"/>
          </a:xfrm>
          <a:prstGeom prst="rect">
            <a:avLst/>
          </a:prstGeom>
          <a:solidFill>
            <a:srgbClr val="EEF6FB"/>
          </a:solidFill>
          <a:ln w="12700">
            <a:solidFill>
              <a:srgbClr val="D0DCF0"/>
            </a:solidFill>
            <a:prstDash val="solid"/>
          </a:ln>
        </p:spPr>
      </p:sp>
      <p:sp>
        <p:nvSpPr>
          <p:cNvPr id="14" name="Text 11"/>
          <p:cNvSpPr/>
          <p:nvPr/>
        </p:nvSpPr>
        <p:spPr>
          <a:xfrm>
            <a:off x="5285232" y="1476756"/>
            <a:ext cx="1536192" cy="342900"/>
          </a:xfrm>
          <a:prstGeom prst="rect">
            <a:avLst/>
          </a:prstGeom>
          <a:noFill/>
          <a:ln/>
        </p:spPr>
        <p:txBody>
          <a:bodyPr wrap="square" rtlCol="0" anchor="ctr"/>
          <a:lstStyle/>
          <a:p>
            <a:pPr indent="0" marL="0">
              <a:buNone/>
            </a:pPr>
            <a:r>
              <a:rPr lang="en-US" sz="950" b="1" dirty="0">
                <a:solidFill>
                  <a:srgbClr val="0D2137"/>
                </a:solidFill>
                <a:latin typeface="Calibri" pitchFamily="34" charset="0"/>
                <a:ea typeface="Calibri" pitchFamily="34" charset="-122"/>
                <a:cs typeface="Calibri" pitchFamily="34" charset="-120"/>
              </a:rPr>
              <a:t>customers</a:t>
            </a:r>
            <a:endParaRPr lang="en-US" sz="950" dirty="0"/>
          </a:p>
        </p:txBody>
      </p:sp>
      <p:sp>
        <p:nvSpPr>
          <p:cNvPr id="15" name="Text 12"/>
          <p:cNvSpPr/>
          <p:nvPr/>
        </p:nvSpPr>
        <p:spPr>
          <a:xfrm>
            <a:off x="6839712" y="1476756"/>
            <a:ext cx="1024128" cy="342900"/>
          </a:xfrm>
          <a:prstGeom prst="rect">
            <a:avLst/>
          </a:prstGeom>
          <a:noFill/>
          <a:ln/>
        </p:spPr>
        <p:txBody>
          <a:bodyPr wrap="square" rtlCol="0" anchor="ctr"/>
          <a:lstStyle/>
          <a:p>
            <a:pPr algn="r" indent="0" marL="0">
              <a:buNone/>
            </a:pPr>
            <a:r>
              <a:rPr lang="en-US" sz="950" dirty="0">
                <a:solidFill>
                  <a:srgbClr val="334155"/>
                </a:solidFill>
              </a:rPr>
              <a:t>74,581</a:t>
            </a:r>
            <a:endParaRPr lang="en-US" sz="950" dirty="0"/>
          </a:p>
        </p:txBody>
      </p:sp>
      <p:sp>
        <p:nvSpPr>
          <p:cNvPr id="16" name="Text 13"/>
          <p:cNvSpPr/>
          <p:nvPr/>
        </p:nvSpPr>
        <p:spPr>
          <a:xfrm>
            <a:off x="7863840" y="1476756"/>
            <a:ext cx="1005840" cy="342900"/>
          </a:xfrm>
          <a:prstGeom prst="rect">
            <a:avLst/>
          </a:prstGeom>
          <a:noFill/>
          <a:ln/>
        </p:spPr>
        <p:txBody>
          <a:bodyPr wrap="square" rtlCol="0" anchor="ctr"/>
          <a:lstStyle/>
          <a:p>
            <a:pPr algn="r" indent="0" marL="0">
              <a:buNone/>
            </a:pPr>
            <a:r>
              <a:rPr lang="en-US" sz="950" dirty="0">
                <a:solidFill>
                  <a:srgbClr val="334155"/>
                </a:solidFill>
              </a:rPr>
              <a:t>24,860</a:t>
            </a:r>
            <a:endParaRPr lang="en-US" sz="950" dirty="0"/>
          </a:p>
        </p:txBody>
      </p:sp>
      <p:sp>
        <p:nvSpPr>
          <p:cNvPr id="17" name="Shape 14"/>
          <p:cNvSpPr/>
          <p:nvPr/>
        </p:nvSpPr>
        <p:spPr>
          <a:xfrm>
            <a:off x="5212080" y="1819656"/>
            <a:ext cx="3703320" cy="342900"/>
          </a:xfrm>
          <a:prstGeom prst="rect">
            <a:avLst/>
          </a:prstGeom>
          <a:solidFill>
            <a:srgbClr val="FFFFFF"/>
          </a:solidFill>
          <a:ln w="12700">
            <a:solidFill>
              <a:srgbClr val="D0DCF0"/>
            </a:solidFill>
            <a:prstDash val="solid"/>
          </a:ln>
        </p:spPr>
      </p:sp>
      <p:sp>
        <p:nvSpPr>
          <p:cNvPr id="18" name="Text 15"/>
          <p:cNvSpPr/>
          <p:nvPr/>
        </p:nvSpPr>
        <p:spPr>
          <a:xfrm>
            <a:off x="5285232" y="1819656"/>
            <a:ext cx="1536192" cy="342900"/>
          </a:xfrm>
          <a:prstGeom prst="rect">
            <a:avLst/>
          </a:prstGeom>
          <a:noFill/>
          <a:ln/>
        </p:spPr>
        <p:txBody>
          <a:bodyPr wrap="square" rtlCol="0" anchor="ctr"/>
          <a:lstStyle/>
          <a:p>
            <a:pPr indent="0" marL="0">
              <a:buNone/>
            </a:pPr>
            <a:r>
              <a:rPr lang="en-US" sz="950" b="1" dirty="0">
                <a:solidFill>
                  <a:srgbClr val="0D2137"/>
                </a:solidFill>
                <a:latin typeface="Calibri" pitchFamily="34" charset="0"/>
                <a:ea typeface="Calibri" pitchFamily="34" charset="-122"/>
                <a:cs typeface="Calibri" pitchFamily="34" charset="-120"/>
              </a:rPr>
              <a:t>order_items</a:t>
            </a:r>
            <a:endParaRPr lang="en-US" sz="950" dirty="0"/>
          </a:p>
        </p:txBody>
      </p:sp>
      <p:sp>
        <p:nvSpPr>
          <p:cNvPr id="19" name="Text 16"/>
          <p:cNvSpPr/>
          <p:nvPr/>
        </p:nvSpPr>
        <p:spPr>
          <a:xfrm>
            <a:off x="6839712" y="1819656"/>
            <a:ext cx="1024128" cy="342900"/>
          </a:xfrm>
          <a:prstGeom prst="rect">
            <a:avLst/>
          </a:prstGeom>
          <a:noFill/>
          <a:ln/>
        </p:spPr>
        <p:txBody>
          <a:bodyPr wrap="square" rtlCol="0" anchor="ctr"/>
          <a:lstStyle/>
          <a:p>
            <a:pPr algn="r" indent="0" marL="0">
              <a:buNone/>
            </a:pPr>
            <a:r>
              <a:rPr lang="en-US" sz="950" dirty="0">
                <a:solidFill>
                  <a:srgbClr val="334155"/>
                </a:solidFill>
              </a:rPr>
              <a:t>84,439</a:t>
            </a:r>
            <a:endParaRPr lang="en-US" sz="950" dirty="0"/>
          </a:p>
        </p:txBody>
      </p:sp>
      <p:sp>
        <p:nvSpPr>
          <p:cNvPr id="20" name="Text 17"/>
          <p:cNvSpPr/>
          <p:nvPr/>
        </p:nvSpPr>
        <p:spPr>
          <a:xfrm>
            <a:off x="7863840" y="1819656"/>
            <a:ext cx="1005840" cy="342900"/>
          </a:xfrm>
          <a:prstGeom prst="rect">
            <a:avLst/>
          </a:prstGeom>
          <a:noFill/>
          <a:ln/>
        </p:spPr>
        <p:txBody>
          <a:bodyPr wrap="square" rtlCol="0" anchor="ctr"/>
          <a:lstStyle/>
          <a:p>
            <a:pPr algn="r" indent="0" marL="0">
              <a:buNone/>
            </a:pPr>
            <a:r>
              <a:rPr lang="en-US" sz="950" dirty="0">
                <a:solidFill>
                  <a:srgbClr val="334155"/>
                </a:solidFill>
              </a:rPr>
              <a:t>28,143</a:t>
            </a:r>
            <a:endParaRPr lang="en-US" sz="950" dirty="0"/>
          </a:p>
        </p:txBody>
      </p:sp>
      <p:sp>
        <p:nvSpPr>
          <p:cNvPr id="21" name="Shape 18"/>
          <p:cNvSpPr/>
          <p:nvPr/>
        </p:nvSpPr>
        <p:spPr>
          <a:xfrm>
            <a:off x="5212080" y="2162556"/>
            <a:ext cx="3703320" cy="342900"/>
          </a:xfrm>
          <a:prstGeom prst="rect">
            <a:avLst/>
          </a:prstGeom>
          <a:solidFill>
            <a:srgbClr val="EEF6FB"/>
          </a:solidFill>
          <a:ln w="12700">
            <a:solidFill>
              <a:srgbClr val="D0DCF0"/>
            </a:solidFill>
            <a:prstDash val="solid"/>
          </a:ln>
        </p:spPr>
      </p:sp>
      <p:sp>
        <p:nvSpPr>
          <p:cNvPr id="22" name="Text 19"/>
          <p:cNvSpPr/>
          <p:nvPr/>
        </p:nvSpPr>
        <p:spPr>
          <a:xfrm>
            <a:off x="5285232" y="2162556"/>
            <a:ext cx="1536192" cy="342900"/>
          </a:xfrm>
          <a:prstGeom prst="rect">
            <a:avLst/>
          </a:prstGeom>
          <a:noFill/>
          <a:ln/>
        </p:spPr>
        <p:txBody>
          <a:bodyPr wrap="square" rtlCol="0" anchor="ctr"/>
          <a:lstStyle/>
          <a:p>
            <a:pPr indent="0" marL="0">
              <a:buNone/>
            </a:pPr>
            <a:r>
              <a:rPr lang="en-US" sz="950" b="1" dirty="0">
                <a:solidFill>
                  <a:srgbClr val="0D2137"/>
                </a:solidFill>
                <a:latin typeface="Calibri" pitchFamily="34" charset="0"/>
                <a:ea typeface="Calibri" pitchFamily="34" charset="-122"/>
                <a:cs typeface="Calibri" pitchFamily="34" charset="-120"/>
              </a:rPr>
              <a:t>payments</a:t>
            </a:r>
            <a:endParaRPr lang="en-US" sz="950" dirty="0"/>
          </a:p>
        </p:txBody>
      </p:sp>
      <p:sp>
        <p:nvSpPr>
          <p:cNvPr id="23" name="Text 20"/>
          <p:cNvSpPr/>
          <p:nvPr/>
        </p:nvSpPr>
        <p:spPr>
          <a:xfrm>
            <a:off x="6839712" y="2162556"/>
            <a:ext cx="1024128" cy="342900"/>
          </a:xfrm>
          <a:prstGeom prst="rect">
            <a:avLst/>
          </a:prstGeom>
          <a:noFill/>
          <a:ln/>
        </p:spPr>
        <p:txBody>
          <a:bodyPr wrap="square" rtlCol="0" anchor="ctr"/>
          <a:lstStyle/>
          <a:p>
            <a:pPr algn="r" indent="0" marL="0">
              <a:buNone/>
            </a:pPr>
            <a:r>
              <a:rPr lang="en-US" sz="950" dirty="0">
                <a:solidFill>
                  <a:srgbClr val="334155"/>
                </a:solidFill>
              </a:rPr>
              <a:t>77,931</a:t>
            </a:r>
            <a:endParaRPr lang="en-US" sz="950" dirty="0"/>
          </a:p>
        </p:txBody>
      </p:sp>
      <p:sp>
        <p:nvSpPr>
          <p:cNvPr id="24" name="Text 21"/>
          <p:cNvSpPr/>
          <p:nvPr/>
        </p:nvSpPr>
        <p:spPr>
          <a:xfrm>
            <a:off x="7863840" y="2162556"/>
            <a:ext cx="1005840" cy="342900"/>
          </a:xfrm>
          <a:prstGeom prst="rect">
            <a:avLst/>
          </a:prstGeom>
          <a:noFill/>
          <a:ln/>
        </p:spPr>
        <p:txBody>
          <a:bodyPr wrap="square" rtlCol="0" anchor="ctr"/>
          <a:lstStyle/>
          <a:p>
            <a:pPr algn="r" indent="0" marL="0">
              <a:buNone/>
            </a:pPr>
            <a:r>
              <a:rPr lang="en-US" sz="950" dirty="0">
                <a:solidFill>
                  <a:srgbClr val="334155"/>
                </a:solidFill>
              </a:rPr>
              <a:t>26,060</a:t>
            </a:r>
            <a:endParaRPr lang="en-US" sz="950" dirty="0"/>
          </a:p>
        </p:txBody>
      </p:sp>
      <p:sp>
        <p:nvSpPr>
          <p:cNvPr id="25" name="Shape 22"/>
          <p:cNvSpPr/>
          <p:nvPr/>
        </p:nvSpPr>
        <p:spPr>
          <a:xfrm>
            <a:off x="5212080" y="2505456"/>
            <a:ext cx="3703320" cy="342900"/>
          </a:xfrm>
          <a:prstGeom prst="rect">
            <a:avLst/>
          </a:prstGeom>
          <a:solidFill>
            <a:srgbClr val="FFFFFF"/>
          </a:solidFill>
          <a:ln w="12700">
            <a:solidFill>
              <a:srgbClr val="D0DCF0"/>
            </a:solidFill>
            <a:prstDash val="solid"/>
          </a:ln>
        </p:spPr>
      </p:sp>
      <p:sp>
        <p:nvSpPr>
          <p:cNvPr id="26" name="Text 23"/>
          <p:cNvSpPr/>
          <p:nvPr/>
        </p:nvSpPr>
        <p:spPr>
          <a:xfrm>
            <a:off x="5285232" y="2505456"/>
            <a:ext cx="1536192" cy="342900"/>
          </a:xfrm>
          <a:prstGeom prst="rect">
            <a:avLst/>
          </a:prstGeom>
          <a:noFill/>
          <a:ln/>
        </p:spPr>
        <p:txBody>
          <a:bodyPr wrap="square" rtlCol="0" anchor="ctr"/>
          <a:lstStyle/>
          <a:p>
            <a:pPr indent="0" marL="0">
              <a:buNone/>
            </a:pPr>
            <a:r>
              <a:rPr lang="en-US" sz="950" b="1" dirty="0">
                <a:solidFill>
                  <a:srgbClr val="0D2137"/>
                </a:solidFill>
                <a:latin typeface="Calibri" pitchFamily="34" charset="0"/>
                <a:ea typeface="Calibri" pitchFamily="34" charset="-122"/>
                <a:cs typeface="Calibri" pitchFamily="34" charset="-120"/>
              </a:rPr>
              <a:t>reviews</a:t>
            </a:r>
            <a:endParaRPr lang="en-US" sz="950" dirty="0"/>
          </a:p>
        </p:txBody>
      </p:sp>
      <p:sp>
        <p:nvSpPr>
          <p:cNvPr id="27" name="Text 24"/>
          <p:cNvSpPr/>
          <p:nvPr/>
        </p:nvSpPr>
        <p:spPr>
          <a:xfrm>
            <a:off x="6839712" y="2505456"/>
            <a:ext cx="1024128" cy="342900"/>
          </a:xfrm>
          <a:prstGeom prst="rect">
            <a:avLst/>
          </a:prstGeom>
          <a:noFill/>
          <a:ln/>
        </p:spPr>
        <p:txBody>
          <a:bodyPr wrap="square" rtlCol="0" anchor="ctr"/>
          <a:lstStyle/>
          <a:p>
            <a:pPr algn="r" indent="0" marL="0">
              <a:buNone/>
            </a:pPr>
            <a:r>
              <a:rPr lang="en-US" sz="950" dirty="0">
                <a:solidFill>
                  <a:srgbClr val="334155"/>
                </a:solidFill>
              </a:rPr>
              <a:t>73,804</a:t>
            </a:r>
            <a:endParaRPr lang="en-US" sz="950" dirty="0"/>
          </a:p>
        </p:txBody>
      </p:sp>
      <p:sp>
        <p:nvSpPr>
          <p:cNvPr id="28" name="Text 25"/>
          <p:cNvSpPr/>
          <p:nvPr/>
        </p:nvSpPr>
        <p:spPr>
          <a:xfrm>
            <a:off x="7863840" y="2505456"/>
            <a:ext cx="1005840" cy="342900"/>
          </a:xfrm>
          <a:prstGeom prst="rect">
            <a:avLst/>
          </a:prstGeom>
          <a:noFill/>
          <a:ln/>
        </p:spPr>
        <p:txBody>
          <a:bodyPr wrap="square" rtlCol="0" anchor="ctr"/>
          <a:lstStyle/>
          <a:p>
            <a:pPr algn="r" indent="0" marL="0">
              <a:buNone/>
            </a:pPr>
            <a:r>
              <a:rPr lang="en-US" sz="950" dirty="0">
                <a:solidFill>
                  <a:srgbClr val="334155"/>
                </a:solidFill>
              </a:rPr>
              <a:t>24,785</a:t>
            </a:r>
            <a:endParaRPr lang="en-US" sz="950" dirty="0"/>
          </a:p>
        </p:txBody>
      </p:sp>
      <p:sp>
        <p:nvSpPr>
          <p:cNvPr id="29" name="Shape 26"/>
          <p:cNvSpPr/>
          <p:nvPr/>
        </p:nvSpPr>
        <p:spPr>
          <a:xfrm>
            <a:off x="5212080" y="2848356"/>
            <a:ext cx="3703320" cy="342900"/>
          </a:xfrm>
          <a:prstGeom prst="rect">
            <a:avLst/>
          </a:prstGeom>
          <a:solidFill>
            <a:srgbClr val="EEF6FB"/>
          </a:solidFill>
          <a:ln w="12700">
            <a:solidFill>
              <a:srgbClr val="D0DCF0"/>
            </a:solidFill>
            <a:prstDash val="solid"/>
          </a:ln>
        </p:spPr>
      </p:sp>
      <p:sp>
        <p:nvSpPr>
          <p:cNvPr id="30" name="Text 27"/>
          <p:cNvSpPr/>
          <p:nvPr/>
        </p:nvSpPr>
        <p:spPr>
          <a:xfrm>
            <a:off x="5285232" y="2848356"/>
            <a:ext cx="1536192" cy="342900"/>
          </a:xfrm>
          <a:prstGeom prst="rect">
            <a:avLst/>
          </a:prstGeom>
          <a:noFill/>
          <a:ln/>
        </p:spPr>
        <p:txBody>
          <a:bodyPr wrap="square" rtlCol="0" anchor="ctr"/>
          <a:lstStyle/>
          <a:p>
            <a:pPr indent="0" marL="0">
              <a:buNone/>
            </a:pPr>
            <a:r>
              <a:rPr lang="en-US" sz="950" b="1" dirty="0">
                <a:solidFill>
                  <a:srgbClr val="0D2137"/>
                </a:solidFill>
                <a:latin typeface="Calibri" pitchFamily="34" charset="0"/>
                <a:ea typeface="Calibri" pitchFamily="34" charset="-122"/>
                <a:cs typeface="Calibri" pitchFamily="34" charset="-120"/>
              </a:rPr>
              <a:t>products</a:t>
            </a:r>
            <a:endParaRPr lang="en-US" sz="950" dirty="0"/>
          </a:p>
        </p:txBody>
      </p:sp>
      <p:sp>
        <p:nvSpPr>
          <p:cNvPr id="31" name="Text 28"/>
          <p:cNvSpPr/>
          <p:nvPr/>
        </p:nvSpPr>
        <p:spPr>
          <a:xfrm>
            <a:off x="6839712" y="2848356"/>
            <a:ext cx="1024128" cy="342900"/>
          </a:xfrm>
          <a:prstGeom prst="rect">
            <a:avLst/>
          </a:prstGeom>
          <a:noFill/>
          <a:ln/>
        </p:spPr>
        <p:txBody>
          <a:bodyPr wrap="square" rtlCol="0" anchor="ctr"/>
          <a:lstStyle/>
          <a:p>
            <a:pPr algn="r" indent="0" marL="0">
              <a:buNone/>
            </a:pPr>
            <a:r>
              <a:rPr lang="en-US" sz="950" dirty="0">
                <a:solidFill>
                  <a:srgbClr val="334155"/>
                </a:solidFill>
              </a:rPr>
              <a:t>32,951</a:t>
            </a:r>
            <a:endParaRPr lang="en-US" sz="950" dirty="0"/>
          </a:p>
        </p:txBody>
      </p:sp>
      <p:sp>
        <p:nvSpPr>
          <p:cNvPr id="32" name="Text 29"/>
          <p:cNvSpPr/>
          <p:nvPr/>
        </p:nvSpPr>
        <p:spPr>
          <a:xfrm>
            <a:off x="7863840" y="2848356"/>
            <a:ext cx="1005840" cy="342900"/>
          </a:xfrm>
          <a:prstGeom prst="rect">
            <a:avLst/>
          </a:prstGeom>
          <a:noFill/>
          <a:ln/>
        </p:spPr>
        <p:txBody>
          <a:bodyPr wrap="square" rtlCol="0" anchor="ctr"/>
          <a:lstStyle/>
          <a:p>
            <a:pPr algn="r" indent="0" marL="0">
              <a:buNone/>
            </a:pPr>
            <a:r>
              <a:rPr lang="en-US" sz="950" dirty="0">
                <a:solidFill>
                  <a:srgbClr val="334155"/>
                </a:solidFill>
              </a:rPr>
              <a:t>32,951</a:t>
            </a:r>
            <a:endParaRPr lang="en-US" sz="950" dirty="0"/>
          </a:p>
        </p:txBody>
      </p:sp>
      <p:sp>
        <p:nvSpPr>
          <p:cNvPr id="33" name="Shape 30"/>
          <p:cNvSpPr/>
          <p:nvPr/>
        </p:nvSpPr>
        <p:spPr>
          <a:xfrm>
            <a:off x="5212080" y="3191256"/>
            <a:ext cx="3703320" cy="342900"/>
          </a:xfrm>
          <a:prstGeom prst="rect">
            <a:avLst/>
          </a:prstGeom>
          <a:solidFill>
            <a:srgbClr val="FFFFFF"/>
          </a:solidFill>
          <a:ln w="12700">
            <a:solidFill>
              <a:srgbClr val="D0DCF0"/>
            </a:solidFill>
            <a:prstDash val="solid"/>
          </a:ln>
        </p:spPr>
      </p:sp>
      <p:sp>
        <p:nvSpPr>
          <p:cNvPr id="34" name="Text 31"/>
          <p:cNvSpPr/>
          <p:nvPr/>
        </p:nvSpPr>
        <p:spPr>
          <a:xfrm>
            <a:off x="5285232" y="3191256"/>
            <a:ext cx="1536192" cy="342900"/>
          </a:xfrm>
          <a:prstGeom prst="rect">
            <a:avLst/>
          </a:prstGeom>
          <a:noFill/>
          <a:ln/>
        </p:spPr>
        <p:txBody>
          <a:bodyPr wrap="square" rtlCol="0" anchor="ctr"/>
          <a:lstStyle/>
          <a:p>
            <a:pPr indent="0" marL="0">
              <a:buNone/>
            </a:pPr>
            <a:r>
              <a:rPr lang="en-US" sz="950" b="1" dirty="0">
                <a:solidFill>
                  <a:srgbClr val="0D2137"/>
                </a:solidFill>
                <a:latin typeface="Calibri" pitchFamily="34" charset="0"/>
                <a:ea typeface="Calibri" pitchFamily="34" charset="-122"/>
                <a:cs typeface="Calibri" pitchFamily="34" charset="-120"/>
              </a:rPr>
              <a:t>sellers</a:t>
            </a:r>
            <a:endParaRPr lang="en-US" sz="950" dirty="0"/>
          </a:p>
        </p:txBody>
      </p:sp>
      <p:sp>
        <p:nvSpPr>
          <p:cNvPr id="35" name="Text 32"/>
          <p:cNvSpPr/>
          <p:nvPr/>
        </p:nvSpPr>
        <p:spPr>
          <a:xfrm>
            <a:off x="6839712" y="3191256"/>
            <a:ext cx="1024128" cy="342900"/>
          </a:xfrm>
          <a:prstGeom prst="rect">
            <a:avLst/>
          </a:prstGeom>
          <a:noFill/>
          <a:ln/>
        </p:spPr>
        <p:txBody>
          <a:bodyPr wrap="square" rtlCol="0" anchor="ctr"/>
          <a:lstStyle/>
          <a:p>
            <a:pPr algn="r" indent="0" marL="0">
              <a:buNone/>
            </a:pPr>
            <a:r>
              <a:rPr lang="en-US" sz="950" dirty="0">
                <a:solidFill>
                  <a:srgbClr val="334155"/>
                </a:solidFill>
              </a:rPr>
              <a:t>3,095</a:t>
            </a:r>
            <a:endParaRPr lang="en-US" sz="950" dirty="0"/>
          </a:p>
        </p:txBody>
      </p:sp>
      <p:sp>
        <p:nvSpPr>
          <p:cNvPr id="36" name="Text 33"/>
          <p:cNvSpPr/>
          <p:nvPr/>
        </p:nvSpPr>
        <p:spPr>
          <a:xfrm>
            <a:off x="7863840" y="3191256"/>
            <a:ext cx="1005840" cy="342900"/>
          </a:xfrm>
          <a:prstGeom prst="rect">
            <a:avLst/>
          </a:prstGeom>
          <a:noFill/>
          <a:ln/>
        </p:spPr>
        <p:txBody>
          <a:bodyPr wrap="square" rtlCol="0" anchor="ctr"/>
          <a:lstStyle/>
          <a:p>
            <a:pPr algn="r" indent="0" marL="0">
              <a:buNone/>
            </a:pPr>
            <a:r>
              <a:rPr lang="en-US" sz="950" dirty="0">
                <a:solidFill>
                  <a:srgbClr val="334155"/>
                </a:solidFill>
              </a:rPr>
              <a:t>3,095</a:t>
            </a:r>
            <a:endParaRPr lang="en-US" sz="950" dirty="0"/>
          </a:p>
        </p:txBody>
      </p:sp>
      <p:sp>
        <p:nvSpPr>
          <p:cNvPr id="37" name="Shape 34"/>
          <p:cNvSpPr/>
          <p:nvPr/>
        </p:nvSpPr>
        <p:spPr>
          <a:xfrm>
            <a:off x="5212080" y="3534156"/>
            <a:ext cx="3703320" cy="342900"/>
          </a:xfrm>
          <a:prstGeom prst="rect">
            <a:avLst/>
          </a:prstGeom>
          <a:solidFill>
            <a:srgbClr val="EEF6FB"/>
          </a:solidFill>
          <a:ln w="12700">
            <a:solidFill>
              <a:srgbClr val="D0DCF0"/>
            </a:solidFill>
            <a:prstDash val="solid"/>
          </a:ln>
        </p:spPr>
      </p:sp>
      <p:sp>
        <p:nvSpPr>
          <p:cNvPr id="38" name="Text 35"/>
          <p:cNvSpPr/>
          <p:nvPr/>
        </p:nvSpPr>
        <p:spPr>
          <a:xfrm>
            <a:off x="5285232" y="3534156"/>
            <a:ext cx="1536192" cy="342900"/>
          </a:xfrm>
          <a:prstGeom prst="rect">
            <a:avLst/>
          </a:prstGeom>
          <a:noFill/>
          <a:ln/>
        </p:spPr>
        <p:txBody>
          <a:bodyPr wrap="square" rtlCol="0" anchor="ctr"/>
          <a:lstStyle/>
          <a:p>
            <a:pPr indent="0" marL="0">
              <a:buNone/>
            </a:pPr>
            <a:r>
              <a:rPr lang="en-US" sz="950" b="1" dirty="0">
                <a:solidFill>
                  <a:srgbClr val="0D2137"/>
                </a:solidFill>
                <a:latin typeface="Calibri" pitchFamily="34" charset="0"/>
                <a:ea typeface="Calibri" pitchFamily="34" charset="-122"/>
                <a:cs typeface="Calibri" pitchFamily="34" charset="-120"/>
              </a:rPr>
              <a:t>geolocation</a:t>
            </a:r>
            <a:endParaRPr lang="en-US" sz="950" dirty="0"/>
          </a:p>
        </p:txBody>
      </p:sp>
      <p:sp>
        <p:nvSpPr>
          <p:cNvPr id="39" name="Text 36"/>
          <p:cNvSpPr/>
          <p:nvPr/>
        </p:nvSpPr>
        <p:spPr>
          <a:xfrm>
            <a:off x="6839712" y="3534156"/>
            <a:ext cx="1024128" cy="342900"/>
          </a:xfrm>
          <a:prstGeom prst="rect">
            <a:avLst/>
          </a:prstGeom>
          <a:noFill/>
          <a:ln/>
        </p:spPr>
        <p:txBody>
          <a:bodyPr wrap="square" rtlCol="0" anchor="ctr"/>
          <a:lstStyle/>
          <a:p>
            <a:pPr algn="r" indent="0" marL="0">
              <a:buNone/>
            </a:pPr>
            <a:r>
              <a:rPr lang="en-US" sz="950" dirty="0">
                <a:solidFill>
                  <a:srgbClr val="334155"/>
                </a:solidFill>
              </a:rPr>
              <a:t>1,000,163</a:t>
            </a:r>
            <a:endParaRPr lang="en-US" sz="950" dirty="0"/>
          </a:p>
        </p:txBody>
      </p:sp>
      <p:sp>
        <p:nvSpPr>
          <p:cNvPr id="40" name="Text 37"/>
          <p:cNvSpPr/>
          <p:nvPr/>
        </p:nvSpPr>
        <p:spPr>
          <a:xfrm>
            <a:off x="7863840" y="3534156"/>
            <a:ext cx="1005840" cy="342900"/>
          </a:xfrm>
          <a:prstGeom prst="rect">
            <a:avLst/>
          </a:prstGeom>
          <a:noFill/>
          <a:ln/>
        </p:spPr>
        <p:txBody>
          <a:bodyPr wrap="square" rtlCol="0" anchor="ctr"/>
          <a:lstStyle/>
          <a:p>
            <a:pPr algn="r" indent="0" marL="0">
              <a:buNone/>
            </a:pPr>
            <a:r>
              <a:rPr lang="en-US" sz="950" dirty="0">
                <a:solidFill>
                  <a:srgbClr val="334155"/>
                </a:solidFill>
              </a:rPr>
              <a:t>1,000,163</a:t>
            </a:r>
            <a:endParaRPr lang="en-US" sz="950" dirty="0"/>
          </a:p>
        </p:txBody>
      </p:sp>
      <p:sp>
        <p:nvSpPr>
          <p:cNvPr id="41" name="Shape 38"/>
          <p:cNvSpPr/>
          <p:nvPr/>
        </p:nvSpPr>
        <p:spPr>
          <a:xfrm>
            <a:off x="5212080" y="3877056"/>
            <a:ext cx="3703320" cy="342900"/>
          </a:xfrm>
          <a:prstGeom prst="rect">
            <a:avLst/>
          </a:prstGeom>
          <a:solidFill>
            <a:srgbClr val="FFFFFF"/>
          </a:solidFill>
          <a:ln w="12700">
            <a:solidFill>
              <a:srgbClr val="D0DCF0"/>
            </a:solidFill>
            <a:prstDash val="solid"/>
          </a:ln>
        </p:spPr>
      </p:sp>
      <p:sp>
        <p:nvSpPr>
          <p:cNvPr id="42" name="Text 39"/>
          <p:cNvSpPr/>
          <p:nvPr/>
        </p:nvSpPr>
        <p:spPr>
          <a:xfrm>
            <a:off x="5285232" y="3877056"/>
            <a:ext cx="1536192" cy="342900"/>
          </a:xfrm>
          <a:prstGeom prst="rect">
            <a:avLst/>
          </a:prstGeom>
          <a:noFill/>
          <a:ln/>
        </p:spPr>
        <p:txBody>
          <a:bodyPr wrap="square" rtlCol="0" anchor="ctr"/>
          <a:lstStyle/>
          <a:p>
            <a:pPr indent="0" marL="0">
              <a:buNone/>
            </a:pPr>
            <a:r>
              <a:rPr lang="en-US" sz="950" b="1" dirty="0">
                <a:solidFill>
                  <a:srgbClr val="0D2137"/>
                </a:solidFill>
                <a:latin typeface="Calibri" pitchFamily="34" charset="0"/>
                <a:ea typeface="Calibri" pitchFamily="34" charset="-122"/>
                <a:cs typeface="Calibri" pitchFamily="34" charset="-120"/>
              </a:rPr>
              <a:t>category_translation</a:t>
            </a:r>
            <a:endParaRPr lang="en-US" sz="950" dirty="0"/>
          </a:p>
        </p:txBody>
      </p:sp>
      <p:sp>
        <p:nvSpPr>
          <p:cNvPr id="43" name="Text 40"/>
          <p:cNvSpPr/>
          <p:nvPr/>
        </p:nvSpPr>
        <p:spPr>
          <a:xfrm>
            <a:off x="6839712" y="3877056"/>
            <a:ext cx="1024128" cy="342900"/>
          </a:xfrm>
          <a:prstGeom prst="rect">
            <a:avLst/>
          </a:prstGeom>
          <a:noFill/>
          <a:ln/>
        </p:spPr>
        <p:txBody>
          <a:bodyPr wrap="square" rtlCol="0" anchor="ctr"/>
          <a:lstStyle/>
          <a:p>
            <a:pPr algn="r" indent="0" marL="0">
              <a:buNone/>
            </a:pPr>
            <a:r>
              <a:rPr lang="en-US" sz="950" dirty="0">
                <a:solidFill>
                  <a:srgbClr val="334155"/>
                </a:solidFill>
              </a:rPr>
              <a:t>74</a:t>
            </a:r>
            <a:endParaRPr lang="en-US" sz="950" dirty="0"/>
          </a:p>
        </p:txBody>
      </p:sp>
      <p:sp>
        <p:nvSpPr>
          <p:cNvPr id="44" name="Text 41"/>
          <p:cNvSpPr/>
          <p:nvPr/>
        </p:nvSpPr>
        <p:spPr>
          <a:xfrm>
            <a:off x="7863840" y="3877056"/>
            <a:ext cx="1005840" cy="342900"/>
          </a:xfrm>
          <a:prstGeom prst="rect">
            <a:avLst/>
          </a:prstGeom>
          <a:noFill/>
          <a:ln/>
        </p:spPr>
        <p:txBody>
          <a:bodyPr wrap="square" rtlCol="0" anchor="ctr"/>
          <a:lstStyle/>
          <a:p>
            <a:pPr algn="r" indent="0" marL="0">
              <a:buNone/>
            </a:pPr>
            <a:r>
              <a:rPr lang="en-US" sz="950" dirty="0">
                <a:solidFill>
                  <a:srgbClr val="334155"/>
                </a:solidFill>
              </a:rPr>
              <a:t>74</a:t>
            </a:r>
            <a:endParaRPr lang="en-US" sz="950" dirty="0"/>
          </a:p>
        </p:txBody>
      </p:sp>
      <p:sp>
        <p:nvSpPr>
          <p:cNvPr id="45" name="Shape 42"/>
          <p:cNvSpPr/>
          <p:nvPr/>
        </p:nvSpPr>
        <p:spPr>
          <a:xfrm>
            <a:off x="5212080" y="4251960"/>
            <a:ext cx="3703320" cy="566928"/>
          </a:xfrm>
          <a:prstGeom prst="roundRect">
            <a:avLst>
              <a:gd name="adj" fmla="val 16129"/>
            </a:avLst>
          </a:prstGeom>
          <a:solidFill>
            <a:srgbClr val="0D2137"/>
          </a:solidFill>
          <a:ln w="12700">
            <a:solidFill>
              <a:srgbClr val="00B4D8"/>
            </a:solidFill>
            <a:prstDash val="solid"/>
          </a:ln>
          <a:effectLst>
            <a:outerShdw sx="100000" sy="100000" kx="0" ky="0" algn="bl" rotWithShape="0" blurRad="127000" dist="50800" dir="2700000">
              <a:srgbClr val="000000">
                <a:alpha val="20000"/>
              </a:srgbClr>
            </a:outerShdw>
          </a:effectLst>
        </p:spPr>
      </p:sp>
      <p:sp>
        <p:nvSpPr>
          <p:cNvPr id="46" name="Text 43"/>
          <p:cNvSpPr/>
          <p:nvPr/>
        </p:nvSpPr>
        <p:spPr>
          <a:xfrm>
            <a:off x="5257800" y="4261104"/>
            <a:ext cx="3611880" cy="274320"/>
          </a:xfrm>
          <a:prstGeom prst="rect">
            <a:avLst/>
          </a:prstGeom>
          <a:noFill/>
          <a:ln/>
        </p:spPr>
        <p:txBody>
          <a:bodyPr wrap="square" rtlCol="0" anchor="ctr"/>
          <a:lstStyle/>
          <a:p>
            <a:pPr algn="ctr" indent="0" marL="0">
              <a:buNone/>
            </a:pPr>
            <a:r>
              <a:rPr lang="en-US" sz="1100" b="1" dirty="0">
                <a:solidFill>
                  <a:srgbClr val="00B4D8"/>
                </a:solidFill>
                <a:latin typeface="Calibri" pitchFamily="34" charset="0"/>
                <a:ea typeface="Calibri" pitchFamily="34" charset="-122"/>
                <a:cs typeface="Calibri" pitchFamily="34" charset="-120"/>
              </a:rPr>
              <a:t>75% Dev (74,581)  •  25% Test (24,860)</a:t>
            </a:r>
            <a:endParaRPr lang="en-US" sz="1100" dirty="0"/>
          </a:p>
        </p:txBody>
      </p:sp>
      <p:sp>
        <p:nvSpPr>
          <p:cNvPr id="47" name="Text 44"/>
          <p:cNvSpPr/>
          <p:nvPr/>
        </p:nvSpPr>
        <p:spPr>
          <a:xfrm>
            <a:off x="5257800" y="4507992"/>
            <a:ext cx="3611880" cy="274320"/>
          </a:xfrm>
          <a:prstGeom prst="rect">
            <a:avLst/>
          </a:prstGeom>
          <a:noFill/>
          <a:ln/>
        </p:spPr>
        <p:txBody>
          <a:bodyPr wrap="square" rtlCol="0" anchor="ctr"/>
          <a:lstStyle/>
          <a:p>
            <a:pPr algn="ctr" indent="0" marL="0">
              <a:buNone/>
            </a:pPr>
            <a:r>
              <a:rPr lang="en-US" sz="900" dirty="0">
                <a:solidFill>
                  <a:srgbClr val="90AFC5"/>
                </a:solidFill>
                <a:latin typeface="Calibri" pitchFamily="34" charset="0"/>
                <a:ea typeface="Calibri" pitchFamily="34" charset="-122"/>
                <a:cs typeface="Calibri" pitchFamily="34" charset="-120"/>
              </a:rPr>
              <a:t>Split anchored on orders → cascaded to all FK-dependent tables</a:t>
            </a:r>
            <a:endParaRPr lang="en-US" sz="900" dirty="0"/>
          </a:p>
        </p:txBody>
      </p:sp>
      <p:sp>
        <p:nvSpPr>
          <p:cNvPr id="48" name="Shape 45"/>
          <p:cNvSpPr/>
          <p:nvPr/>
        </p:nvSpPr>
        <p:spPr>
          <a:xfrm>
            <a:off x="0" y="5047488"/>
            <a:ext cx="9144000" cy="91440"/>
          </a:xfrm>
          <a:prstGeom prst="rect">
            <a:avLst/>
          </a:prstGeom>
          <a:solidFill>
            <a:srgbClr val="0D2137"/>
          </a:solidFill>
          <a:ln w="12700">
            <a:solidFill>
              <a:srgbClr val="0D2137"/>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sp>
      <p:sp>
        <p:nvSpPr>
          <p:cNvPr id="3" name="Text 1"/>
          <p:cNvSpPr/>
          <p:nvPr/>
        </p:nvSpPr>
        <p:spPr>
          <a:xfrm>
            <a:off x="411480" y="109728"/>
            <a:ext cx="8229600" cy="45720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Apache Airflow — Scheduled, Monitored, Self-Healing</a:t>
            </a:r>
            <a:endParaRPr lang="en-US" sz="2400" dirty="0"/>
          </a:p>
        </p:txBody>
      </p:sp>
      <p:pic>
        <p:nvPicPr>
          <p:cNvPr id="4" name="Image 0" descr="preencoded.png">    </p:cNvPr>
          <p:cNvPicPr>
            <a:picLocks noChangeAspect="1"/>
          </p:cNvPicPr>
          <p:nvPr/>
        </p:nvPicPr>
        <p:blipFill>
          <a:blip r:embed="rId1"/>
          <a:stretch>
            <a:fillRect/>
          </a:stretch>
        </p:blipFill>
        <p:spPr>
          <a:xfrm>
            <a:off x="228600" y="658368"/>
            <a:ext cx="4937760" cy="2331720"/>
          </a:xfrm>
          <a:prstGeom prst="rect">
            <a:avLst/>
          </a:prstGeom>
          <a:effectLst>
            <a:outerShdw sx="100000" sy="100000" kx="0" ky="0" algn="bl" rotWithShape="0" blurRad="127000" dist="50800" dir="2700000">
              <a:srgbClr val="000000">
                <a:alpha val="20000"/>
              </a:srgbClr>
            </a:outerShdw>
          </a:effectLst>
        </p:spPr>
      </p:pic>
      <p:sp>
        <p:nvSpPr>
          <p:cNvPr id="5" name="Shape 2"/>
          <p:cNvSpPr/>
          <p:nvPr/>
        </p:nvSpPr>
        <p:spPr>
          <a:xfrm>
            <a:off x="5349240" y="658368"/>
            <a:ext cx="3566160" cy="384048"/>
          </a:xfrm>
          <a:prstGeom prst="rect">
            <a:avLst/>
          </a:prstGeom>
          <a:solidFill>
            <a:srgbClr val="112B45"/>
          </a:solidFill>
          <a:ln w="12700">
            <a:solidFill>
              <a:srgbClr val="1E3A5F"/>
            </a:solidFill>
            <a:prstDash val="solid"/>
          </a:ln>
        </p:spPr>
      </p:sp>
      <p:sp>
        <p:nvSpPr>
          <p:cNvPr id="6" name="Text 3"/>
          <p:cNvSpPr/>
          <p:nvPr/>
        </p:nvSpPr>
        <p:spPr>
          <a:xfrm>
            <a:off x="5440680" y="658368"/>
            <a:ext cx="1234440" cy="384048"/>
          </a:xfrm>
          <a:prstGeom prst="rect">
            <a:avLst/>
          </a:prstGeom>
          <a:noFill/>
          <a:ln/>
        </p:spPr>
        <p:txBody>
          <a:bodyPr wrap="square" rtlCol="0" anchor="ctr"/>
          <a:lstStyle/>
          <a:p>
            <a:pPr indent="0" marL="0">
              <a:buNone/>
            </a:pPr>
            <a:r>
              <a:rPr lang="en-US" sz="950" b="1" dirty="0">
                <a:solidFill>
                  <a:srgbClr val="00B4D8"/>
                </a:solidFill>
                <a:latin typeface="Calibri" pitchFamily="34" charset="0"/>
                <a:ea typeface="Calibri" pitchFamily="34" charset="-122"/>
                <a:cs typeface="Calibri" pitchFamily="34" charset="-120"/>
              </a:rPr>
              <a:t>DAG ID</a:t>
            </a:r>
            <a:endParaRPr lang="en-US" sz="950" dirty="0"/>
          </a:p>
        </p:txBody>
      </p:sp>
      <p:sp>
        <p:nvSpPr>
          <p:cNvPr id="7" name="Text 4"/>
          <p:cNvSpPr/>
          <p:nvPr/>
        </p:nvSpPr>
        <p:spPr>
          <a:xfrm>
            <a:off x="6675120" y="658368"/>
            <a:ext cx="2194560" cy="38404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olist_pipeline</a:t>
            </a:r>
            <a:endParaRPr lang="en-US" sz="950" dirty="0"/>
          </a:p>
        </p:txBody>
      </p:sp>
      <p:sp>
        <p:nvSpPr>
          <p:cNvPr id="8" name="Shape 5"/>
          <p:cNvSpPr/>
          <p:nvPr/>
        </p:nvSpPr>
        <p:spPr>
          <a:xfrm>
            <a:off x="5349240" y="1042416"/>
            <a:ext cx="3566160" cy="384048"/>
          </a:xfrm>
          <a:prstGeom prst="rect">
            <a:avLst/>
          </a:prstGeom>
          <a:solidFill>
            <a:srgbClr val="14345A"/>
          </a:solidFill>
          <a:ln w="12700">
            <a:solidFill>
              <a:srgbClr val="1E3A5F"/>
            </a:solidFill>
            <a:prstDash val="solid"/>
          </a:ln>
        </p:spPr>
      </p:sp>
      <p:sp>
        <p:nvSpPr>
          <p:cNvPr id="9" name="Text 6"/>
          <p:cNvSpPr/>
          <p:nvPr/>
        </p:nvSpPr>
        <p:spPr>
          <a:xfrm>
            <a:off x="5440680" y="1042416"/>
            <a:ext cx="1234440" cy="384048"/>
          </a:xfrm>
          <a:prstGeom prst="rect">
            <a:avLst/>
          </a:prstGeom>
          <a:noFill/>
          <a:ln/>
        </p:spPr>
        <p:txBody>
          <a:bodyPr wrap="square" rtlCol="0" anchor="ctr"/>
          <a:lstStyle/>
          <a:p>
            <a:pPr indent="0" marL="0">
              <a:buNone/>
            </a:pPr>
            <a:r>
              <a:rPr lang="en-US" sz="950" b="1" dirty="0">
                <a:solidFill>
                  <a:srgbClr val="00B4D8"/>
                </a:solidFill>
                <a:latin typeface="Calibri" pitchFamily="34" charset="0"/>
                <a:ea typeface="Calibri" pitchFamily="34" charset="-122"/>
                <a:cs typeface="Calibri" pitchFamily="34" charset="-120"/>
              </a:rPr>
              <a:t>Schedule</a:t>
            </a:r>
            <a:endParaRPr lang="en-US" sz="950" dirty="0"/>
          </a:p>
        </p:txBody>
      </p:sp>
      <p:sp>
        <p:nvSpPr>
          <p:cNvPr id="10" name="Text 7"/>
          <p:cNvSpPr/>
          <p:nvPr/>
        </p:nvSpPr>
        <p:spPr>
          <a:xfrm>
            <a:off x="6675120" y="1042416"/>
            <a:ext cx="2194560" cy="38404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@daily (00:00:00 UTC)</a:t>
            </a:r>
            <a:endParaRPr lang="en-US" sz="950" dirty="0"/>
          </a:p>
        </p:txBody>
      </p:sp>
      <p:sp>
        <p:nvSpPr>
          <p:cNvPr id="11" name="Shape 8"/>
          <p:cNvSpPr/>
          <p:nvPr/>
        </p:nvSpPr>
        <p:spPr>
          <a:xfrm>
            <a:off x="5349240" y="1426464"/>
            <a:ext cx="3566160" cy="384048"/>
          </a:xfrm>
          <a:prstGeom prst="rect">
            <a:avLst/>
          </a:prstGeom>
          <a:solidFill>
            <a:srgbClr val="112B45"/>
          </a:solidFill>
          <a:ln w="12700">
            <a:solidFill>
              <a:srgbClr val="1E3A5F"/>
            </a:solidFill>
            <a:prstDash val="solid"/>
          </a:ln>
        </p:spPr>
      </p:sp>
      <p:sp>
        <p:nvSpPr>
          <p:cNvPr id="12" name="Text 9"/>
          <p:cNvSpPr/>
          <p:nvPr/>
        </p:nvSpPr>
        <p:spPr>
          <a:xfrm>
            <a:off x="5440680" y="1426464"/>
            <a:ext cx="1234440" cy="384048"/>
          </a:xfrm>
          <a:prstGeom prst="rect">
            <a:avLst/>
          </a:prstGeom>
          <a:noFill/>
          <a:ln/>
        </p:spPr>
        <p:txBody>
          <a:bodyPr wrap="square" rtlCol="0" anchor="ctr"/>
          <a:lstStyle/>
          <a:p>
            <a:pPr indent="0" marL="0">
              <a:buNone/>
            </a:pPr>
            <a:r>
              <a:rPr lang="en-US" sz="950" b="1" dirty="0">
                <a:solidFill>
                  <a:srgbClr val="00B4D8"/>
                </a:solidFill>
                <a:latin typeface="Calibri" pitchFamily="34" charset="0"/>
                <a:ea typeface="Calibri" pitchFamily="34" charset="-122"/>
                <a:cs typeface="Calibri" pitchFamily="34" charset="-120"/>
              </a:rPr>
              <a:t>Retries</a:t>
            </a:r>
            <a:endParaRPr lang="en-US" sz="950" dirty="0"/>
          </a:p>
        </p:txBody>
      </p:sp>
      <p:sp>
        <p:nvSpPr>
          <p:cNvPr id="13" name="Text 10"/>
          <p:cNvSpPr/>
          <p:nvPr/>
        </p:nvSpPr>
        <p:spPr>
          <a:xfrm>
            <a:off x="6675120" y="1426464"/>
            <a:ext cx="2194560" cy="38404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1 per task (before fail)</a:t>
            </a:r>
            <a:endParaRPr lang="en-US" sz="950" dirty="0"/>
          </a:p>
        </p:txBody>
      </p:sp>
      <p:sp>
        <p:nvSpPr>
          <p:cNvPr id="14" name="Shape 11"/>
          <p:cNvSpPr/>
          <p:nvPr/>
        </p:nvSpPr>
        <p:spPr>
          <a:xfrm>
            <a:off x="5349240" y="1810512"/>
            <a:ext cx="3566160" cy="384048"/>
          </a:xfrm>
          <a:prstGeom prst="rect">
            <a:avLst/>
          </a:prstGeom>
          <a:solidFill>
            <a:srgbClr val="14345A"/>
          </a:solidFill>
          <a:ln w="12700">
            <a:solidFill>
              <a:srgbClr val="1E3A5F"/>
            </a:solidFill>
            <a:prstDash val="solid"/>
          </a:ln>
        </p:spPr>
      </p:sp>
      <p:sp>
        <p:nvSpPr>
          <p:cNvPr id="15" name="Text 12"/>
          <p:cNvSpPr/>
          <p:nvPr/>
        </p:nvSpPr>
        <p:spPr>
          <a:xfrm>
            <a:off x="5440680" y="1810512"/>
            <a:ext cx="1234440" cy="384048"/>
          </a:xfrm>
          <a:prstGeom prst="rect">
            <a:avLst/>
          </a:prstGeom>
          <a:noFill/>
          <a:ln/>
        </p:spPr>
        <p:txBody>
          <a:bodyPr wrap="square" rtlCol="0" anchor="ctr"/>
          <a:lstStyle/>
          <a:p>
            <a:pPr indent="0" marL="0">
              <a:buNone/>
            </a:pPr>
            <a:r>
              <a:rPr lang="en-US" sz="950" b="1" dirty="0">
                <a:solidFill>
                  <a:srgbClr val="00B4D8"/>
                </a:solidFill>
                <a:latin typeface="Calibri" pitchFamily="34" charset="0"/>
                <a:ea typeface="Calibri" pitchFamily="34" charset="-122"/>
                <a:cs typeface="Calibri" pitchFamily="34" charset="-120"/>
              </a:rPr>
              <a:t>Executor</a:t>
            </a:r>
            <a:endParaRPr lang="en-US" sz="950" dirty="0"/>
          </a:p>
        </p:txBody>
      </p:sp>
      <p:sp>
        <p:nvSpPr>
          <p:cNvPr id="16" name="Text 13"/>
          <p:cNvSpPr/>
          <p:nvPr/>
        </p:nvSpPr>
        <p:spPr>
          <a:xfrm>
            <a:off x="6675120" y="1810512"/>
            <a:ext cx="2194560" cy="38404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SequentialExecutor</a:t>
            </a:r>
            <a:endParaRPr lang="en-US" sz="950" dirty="0"/>
          </a:p>
        </p:txBody>
      </p:sp>
      <p:sp>
        <p:nvSpPr>
          <p:cNvPr id="17" name="Shape 14"/>
          <p:cNvSpPr/>
          <p:nvPr/>
        </p:nvSpPr>
        <p:spPr>
          <a:xfrm>
            <a:off x="5349240" y="2194560"/>
            <a:ext cx="3566160" cy="384048"/>
          </a:xfrm>
          <a:prstGeom prst="rect">
            <a:avLst/>
          </a:prstGeom>
          <a:solidFill>
            <a:srgbClr val="112B45"/>
          </a:solidFill>
          <a:ln w="12700">
            <a:solidFill>
              <a:srgbClr val="1E3A5F"/>
            </a:solidFill>
            <a:prstDash val="solid"/>
          </a:ln>
        </p:spPr>
      </p:sp>
      <p:sp>
        <p:nvSpPr>
          <p:cNvPr id="18" name="Text 15"/>
          <p:cNvSpPr/>
          <p:nvPr/>
        </p:nvSpPr>
        <p:spPr>
          <a:xfrm>
            <a:off x="5440680" y="2194560"/>
            <a:ext cx="1234440" cy="384048"/>
          </a:xfrm>
          <a:prstGeom prst="rect">
            <a:avLst/>
          </a:prstGeom>
          <a:noFill/>
          <a:ln/>
        </p:spPr>
        <p:txBody>
          <a:bodyPr wrap="square" rtlCol="0" anchor="ctr"/>
          <a:lstStyle/>
          <a:p>
            <a:pPr indent="0" marL="0">
              <a:buNone/>
            </a:pPr>
            <a:r>
              <a:rPr lang="en-US" sz="950" b="1" dirty="0">
                <a:solidFill>
                  <a:srgbClr val="00B4D8"/>
                </a:solidFill>
                <a:latin typeface="Calibri" pitchFamily="34" charset="0"/>
                <a:ea typeface="Calibri" pitchFamily="34" charset="-122"/>
                <a:cs typeface="Calibri" pitchFamily="34" charset="-120"/>
              </a:rPr>
              <a:t>Version</a:t>
            </a:r>
            <a:endParaRPr lang="en-US" sz="950" dirty="0"/>
          </a:p>
        </p:txBody>
      </p:sp>
      <p:sp>
        <p:nvSpPr>
          <p:cNvPr id="19" name="Text 16"/>
          <p:cNvSpPr/>
          <p:nvPr/>
        </p:nvSpPr>
        <p:spPr>
          <a:xfrm>
            <a:off x="6675120" y="2194560"/>
            <a:ext cx="2194560" cy="38404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Airflow 2.9.2</a:t>
            </a:r>
            <a:endParaRPr lang="en-US" sz="950" dirty="0"/>
          </a:p>
        </p:txBody>
      </p:sp>
      <p:sp>
        <p:nvSpPr>
          <p:cNvPr id="20" name="Shape 17"/>
          <p:cNvSpPr/>
          <p:nvPr/>
        </p:nvSpPr>
        <p:spPr>
          <a:xfrm>
            <a:off x="5349240" y="2578608"/>
            <a:ext cx="3566160" cy="384048"/>
          </a:xfrm>
          <a:prstGeom prst="rect">
            <a:avLst/>
          </a:prstGeom>
          <a:solidFill>
            <a:srgbClr val="14345A"/>
          </a:solidFill>
          <a:ln w="12700">
            <a:solidFill>
              <a:srgbClr val="1E3A5F"/>
            </a:solidFill>
            <a:prstDash val="solid"/>
          </a:ln>
        </p:spPr>
      </p:sp>
      <p:sp>
        <p:nvSpPr>
          <p:cNvPr id="21" name="Text 18"/>
          <p:cNvSpPr/>
          <p:nvPr/>
        </p:nvSpPr>
        <p:spPr>
          <a:xfrm>
            <a:off x="5440680" y="2578608"/>
            <a:ext cx="1234440" cy="384048"/>
          </a:xfrm>
          <a:prstGeom prst="rect">
            <a:avLst/>
          </a:prstGeom>
          <a:noFill/>
          <a:ln/>
        </p:spPr>
        <p:txBody>
          <a:bodyPr wrap="square" rtlCol="0" anchor="ctr"/>
          <a:lstStyle/>
          <a:p>
            <a:pPr indent="0" marL="0">
              <a:buNone/>
            </a:pPr>
            <a:r>
              <a:rPr lang="en-US" sz="950" b="1" dirty="0">
                <a:solidFill>
                  <a:srgbClr val="00B4D8"/>
                </a:solidFill>
                <a:latin typeface="Calibri" pitchFamily="34" charset="0"/>
                <a:ea typeface="Calibri" pitchFamily="34" charset="-122"/>
                <a:cs typeface="Calibri" pitchFamily="34" charset="-120"/>
              </a:rPr>
              <a:t>Python</a:t>
            </a:r>
            <a:endParaRPr lang="en-US" sz="950" dirty="0"/>
          </a:p>
        </p:txBody>
      </p:sp>
      <p:sp>
        <p:nvSpPr>
          <p:cNvPr id="22" name="Text 19"/>
          <p:cNvSpPr/>
          <p:nvPr/>
        </p:nvSpPr>
        <p:spPr>
          <a:xfrm>
            <a:off x="6675120" y="2578608"/>
            <a:ext cx="2194560" cy="38404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3.11 (WSL venv)</a:t>
            </a:r>
            <a:endParaRPr lang="en-US" sz="950" dirty="0"/>
          </a:p>
        </p:txBody>
      </p:sp>
      <p:sp>
        <p:nvSpPr>
          <p:cNvPr id="23" name="Shape 20"/>
          <p:cNvSpPr/>
          <p:nvPr/>
        </p:nvSpPr>
        <p:spPr>
          <a:xfrm>
            <a:off x="274320" y="3154680"/>
            <a:ext cx="2029968" cy="1783080"/>
          </a:xfrm>
          <a:prstGeom prst="roundRect">
            <a:avLst>
              <a:gd name="adj" fmla="val 6154"/>
            </a:avLst>
          </a:prstGeom>
          <a:solidFill>
            <a:srgbClr val="112B45"/>
          </a:solidFill>
          <a:ln w="12700">
            <a:solidFill>
              <a:srgbClr val="00B4D8"/>
            </a:solidFill>
            <a:prstDash val="solid"/>
          </a:ln>
          <a:effectLst>
            <a:outerShdw sx="100000" sy="100000" kx="0" ky="0" algn="bl" rotWithShape="0" blurRad="127000" dist="50800" dir="2700000">
              <a:srgbClr val="000000">
                <a:alpha val="20000"/>
              </a:srgbClr>
            </a:outerShdw>
          </a:effectLst>
        </p:spPr>
      </p:sp>
      <p:sp>
        <p:nvSpPr>
          <p:cNvPr id="24" name="Shape 21"/>
          <p:cNvSpPr/>
          <p:nvPr/>
        </p:nvSpPr>
        <p:spPr>
          <a:xfrm>
            <a:off x="1051560" y="3218688"/>
            <a:ext cx="475488" cy="475488"/>
          </a:xfrm>
          <a:prstGeom prst="ellipse">
            <a:avLst/>
          </a:prstGeom>
          <a:solidFill>
            <a:srgbClr val="00B4D8"/>
          </a:solidFill>
          <a:ln w="12700">
            <a:solidFill>
              <a:srgbClr val="00B4D8"/>
            </a:solidFill>
            <a:prstDash val="solid"/>
          </a:ln>
        </p:spPr>
      </p:sp>
      <p:sp>
        <p:nvSpPr>
          <p:cNvPr id="25" name="Text 22"/>
          <p:cNvSpPr/>
          <p:nvPr/>
        </p:nvSpPr>
        <p:spPr>
          <a:xfrm>
            <a:off x="1051560" y="3218688"/>
            <a:ext cx="475488" cy="475488"/>
          </a:xfrm>
          <a:prstGeom prst="rect">
            <a:avLst/>
          </a:prstGeom>
          <a:noFill/>
          <a:ln/>
        </p:spPr>
        <p:txBody>
          <a:bodyPr wrap="square" rtlCol="0" anchor="ctr"/>
          <a:lstStyle/>
          <a:p>
            <a:pPr algn="ctr" indent="0" marL="0">
              <a:buNone/>
            </a:pPr>
            <a:r>
              <a:rPr lang="en-US" sz="1400" b="1" dirty="0">
                <a:solidFill>
                  <a:srgbClr val="0D2137"/>
                </a:solidFill>
              </a:rPr>
              <a:t>✓</a:t>
            </a:r>
            <a:endParaRPr lang="en-US" sz="1400" dirty="0"/>
          </a:p>
        </p:txBody>
      </p:sp>
      <p:sp>
        <p:nvSpPr>
          <p:cNvPr id="26" name="Text 23"/>
          <p:cNvSpPr/>
          <p:nvPr/>
        </p:nvSpPr>
        <p:spPr>
          <a:xfrm>
            <a:off x="274320" y="3776472"/>
            <a:ext cx="2029968" cy="301752"/>
          </a:xfrm>
          <a:prstGeom prst="rect">
            <a:avLst/>
          </a:prstGeom>
          <a:noFill/>
          <a:ln/>
        </p:spPr>
        <p:txBody>
          <a:bodyPr wrap="square" rtlCol="0" anchor="ctr"/>
          <a:lstStyle/>
          <a:p>
            <a:pPr algn="ctr" indent="0" marL="0">
              <a:buNone/>
            </a:pPr>
            <a:r>
              <a:rPr lang="en-US" sz="1150" b="1" dirty="0">
                <a:solidFill>
                  <a:srgbClr val="00B4D8"/>
                </a:solidFill>
                <a:latin typeface="Calibri" pitchFamily="34" charset="0"/>
                <a:ea typeface="Calibri" pitchFamily="34" charset="-122"/>
                <a:cs typeface="Calibri" pitchFamily="34" charset="-120"/>
              </a:rPr>
              <a:t>EXTRACT</a:t>
            </a:r>
            <a:endParaRPr lang="en-US" sz="1150" dirty="0"/>
          </a:p>
        </p:txBody>
      </p:sp>
      <p:sp>
        <p:nvSpPr>
          <p:cNvPr id="27" name="Text 24"/>
          <p:cNvSpPr/>
          <p:nvPr/>
        </p:nvSpPr>
        <p:spPr>
          <a:xfrm>
            <a:off x="274320" y="4059936"/>
            <a:ext cx="2029968" cy="219456"/>
          </a:xfrm>
          <a:prstGeom prst="rect">
            <a:avLst/>
          </a:prstGeom>
          <a:noFill/>
          <a:ln/>
        </p:spPr>
        <p:txBody>
          <a:bodyPr wrap="square" rtlCol="0" anchor="ctr"/>
          <a:lstStyle/>
          <a:p>
            <a:pPr algn="ctr" indent="0" marL="0">
              <a:buNone/>
            </a:pPr>
            <a:r>
              <a:rPr lang="en-US" sz="850" i="1" dirty="0">
                <a:solidFill>
                  <a:srgbClr val="90AFC5"/>
                </a:solidFill>
                <a:latin typeface="Calibri" pitchFamily="34" charset="0"/>
                <a:ea typeface="Calibri" pitchFamily="34" charset="-122"/>
                <a:cs typeface="Calibri" pitchFamily="34" charset="-120"/>
              </a:rPr>
              <a:t>PythonOperator</a:t>
            </a:r>
            <a:endParaRPr lang="en-US" sz="850" dirty="0"/>
          </a:p>
        </p:txBody>
      </p:sp>
      <p:sp>
        <p:nvSpPr>
          <p:cNvPr id="28" name="Text 25"/>
          <p:cNvSpPr/>
          <p:nvPr/>
        </p:nvSpPr>
        <p:spPr>
          <a:xfrm>
            <a:off x="365760" y="4279392"/>
            <a:ext cx="1847088" cy="585216"/>
          </a:xfrm>
          <a:prstGeom prst="rect">
            <a:avLst/>
          </a:prstGeom>
          <a:noFill/>
          <a:ln/>
        </p:spPr>
        <p:txBody>
          <a:bodyPr wrap="square" rtlCol="0" anchor="ctr"/>
          <a:lstStyle/>
          <a:p>
            <a:pPr algn="ctr" indent="0" marL="0">
              <a:buNone/>
            </a:pPr>
            <a:r>
              <a:rPr lang="en-US" sz="900" dirty="0">
                <a:solidFill>
                  <a:srgbClr val="E8F4F8"/>
                </a:solidFill>
                <a:latin typeface="Calibri" pitchFamily="34" charset="0"/>
                <a:ea typeface="Calibri" pitchFamily="34" charset="-122"/>
                <a:cs typeface="Calibri" pitchFamily="34" charset="-120"/>
              </a:rPr>
              <a:t>Kaggle API download, file unzip, path validation</a:t>
            </a:r>
            <a:endParaRPr lang="en-US" sz="900" dirty="0"/>
          </a:p>
        </p:txBody>
      </p:sp>
      <p:sp>
        <p:nvSpPr>
          <p:cNvPr id="29" name="Shape 26"/>
          <p:cNvSpPr/>
          <p:nvPr/>
        </p:nvSpPr>
        <p:spPr>
          <a:xfrm>
            <a:off x="2450592" y="3154680"/>
            <a:ext cx="2029968" cy="1783080"/>
          </a:xfrm>
          <a:prstGeom prst="roundRect">
            <a:avLst>
              <a:gd name="adj" fmla="val 6154"/>
            </a:avLst>
          </a:prstGeom>
          <a:solidFill>
            <a:srgbClr val="112B45"/>
          </a:solidFill>
          <a:ln w="12700">
            <a:solidFill>
              <a:srgbClr val="02C39A"/>
            </a:solidFill>
            <a:prstDash val="solid"/>
          </a:ln>
          <a:effectLst>
            <a:outerShdw sx="100000" sy="100000" kx="0" ky="0" algn="bl" rotWithShape="0" blurRad="127000" dist="50800" dir="2700000">
              <a:srgbClr val="000000">
                <a:alpha val="20000"/>
              </a:srgbClr>
            </a:outerShdw>
          </a:effectLst>
        </p:spPr>
      </p:sp>
      <p:sp>
        <p:nvSpPr>
          <p:cNvPr id="30" name="Shape 27"/>
          <p:cNvSpPr/>
          <p:nvPr/>
        </p:nvSpPr>
        <p:spPr>
          <a:xfrm>
            <a:off x="3227832" y="3218688"/>
            <a:ext cx="475488" cy="475488"/>
          </a:xfrm>
          <a:prstGeom prst="ellipse">
            <a:avLst/>
          </a:prstGeom>
          <a:solidFill>
            <a:srgbClr val="02C39A"/>
          </a:solidFill>
          <a:ln w="12700">
            <a:solidFill>
              <a:srgbClr val="02C39A"/>
            </a:solidFill>
            <a:prstDash val="solid"/>
          </a:ln>
        </p:spPr>
      </p:sp>
      <p:sp>
        <p:nvSpPr>
          <p:cNvPr id="31" name="Text 28"/>
          <p:cNvSpPr/>
          <p:nvPr/>
        </p:nvSpPr>
        <p:spPr>
          <a:xfrm>
            <a:off x="3227832" y="3218688"/>
            <a:ext cx="475488" cy="475488"/>
          </a:xfrm>
          <a:prstGeom prst="rect">
            <a:avLst/>
          </a:prstGeom>
          <a:noFill/>
          <a:ln/>
        </p:spPr>
        <p:txBody>
          <a:bodyPr wrap="square" rtlCol="0" anchor="ctr"/>
          <a:lstStyle/>
          <a:p>
            <a:pPr algn="ctr" indent="0" marL="0">
              <a:buNone/>
            </a:pPr>
            <a:r>
              <a:rPr lang="en-US" sz="1400" b="1" dirty="0">
                <a:solidFill>
                  <a:srgbClr val="0D2137"/>
                </a:solidFill>
              </a:rPr>
              <a:t>✓</a:t>
            </a:r>
            <a:endParaRPr lang="en-US" sz="1400" dirty="0"/>
          </a:p>
        </p:txBody>
      </p:sp>
      <p:sp>
        <p:nvSpPr>
          <p:cNvPr id="32" name="Text 29"/>
          <p:cNvSpPr/>
          <p:nvPr/>
        </p:nvSpPr>
        <p:spPr>
          <a:xfrm>
            <a:off x="2450592" y="3776472"/>
            <a:ext cx="2029968" cy="301752"/>
          </a:xfrm>
          <a:prstGeom prst="rect">
            <a:avLst/>
          </a:prstGeom>
          <a:noFill/>
          <a:ln/>
        </p:spPr>
        <p:txBody>
          <a:bodyPr wrap="square" rtlCol="0" anchor="ctr"/>
          <a:lstStyle/>
          <a:p>
            <a:pPr algn="ctr" indent="0" marL="0">
              <a:buNone/>
            </a:pPr>
            <a:r>
              <a:rPr lang="en-US" sz="1150" b="1" dirty="0">
                <a:solidFill>
                  <a:srgbClr val="02C39A"/>
                </a:solidFill>
                <a:latin typeface="Calibri" pitchFamily="34" charset="0"/>
                <a:ea typeface="Calibri" pitchFamily="34" charset="-122"/>
                <a:cs typeface="Calibri" pitchFamily="34" charset="-120"/>
              </a:rPr>
              <a:t>CLEAN</a:t>
            </a:r>
            <a:endParaRPr lang="en-US" sz="1150" dirty="0"/>
          </a:p>
        </p:txBody>
      </p:sp>
      <p:sp>
        <p:nvSpPr>
          <p:cNvPr id="33" name="Text 30"/>
          <p:cNvSpPr/>
          <p:nvPr/>
        </p:nvSpPr>
        <p:spPr>
          <a:xfrm>
            <a:off x="2450592" y="4059936"/>
            <a:ext cx="2029968" cy="219456"/>
          </a:xfrm>
          <a:prstGeom prst="rect">
            <a:avLst/>
          </a:prstGeom>
          <a:noFill/>
          <a:ln/>
        </p:spPr>
        <p:txBody>
          <a:bodyPr wrap="square" rtlCol="0" anchor="ctr"/>
          <a:lstStyle/>
          <a:p>
            <a:pPr algn="ctr" indent="0" marL="0">
              <a:buNone/>
            </a:pPr>
            <a:r>
              <a:rPr lang="en-US" sz="850" i="1" dirty="0">
                <a:solidFill>
                  <a:srgbClr val="90AFC5"/>
                </a:solidFill>
                <a:latin typeface="Calibri" pitchFamily="34" charset="0"/>
                <a:ea typeface="Calibri" pitchFamily="34" charset="-122"/>
                <a:cs typeface="Calibri" pitchFamily="34" charset="-120"/>
              </a:rPr>
              <a:t>PythonOperator</a:t>
            </a:r>
            <a:endParaRPr lang="en-US" sz="850" dirty="0"/>
          </a:p>
        </p:txBody>
      </p:sp>
      <p:sp>
        <p:nvSpPr>
          <p:cNvPr id="34" name="Text 31"/>
          <p:cNvSpPr/>
          <p:nvPr/>
        </p:nvSpPr>
        <p:spPr>
          <a:xfrm>
            <a:off x="2542032" y="4279392"/>
            <a:ext cx="1847088" cy="585216"/>
          </a:xfrm>
          <a:prstGeom prst="rect">
            <a:avLst/>
          </a:prstGeom>
          <a:noFill/>
          <a:ln/>
        </p:spPr>
        <p:txBody>
          <a:bodyPr wrap="square" rtlCol="0" anchor="ctr"/>
          <a:lstStyle/>
          <a:p>
            <a:pPr algn="ctr" indent="0" marL="0">
              <a:buNone/>
            </a:pPr>
            <a:r>
              <a:rPr lang="en-US" sz="900" dirty="0">
                <a:solidFill>
                  <a:srgbClr val="E8F4F8"/>
                </a:solidFill>
                <a:latin typeface="Calibri" pitchFamily="34" charset="0"/>
                <a:ea typeface="Calibri" pitchFamily="34" charset="-122"/>
                <a:cs typeface="Calibri" pitchFamily="34" charset="-120"/>
              </a:rPr>
              <a:t>Null fills, dedup, type casting, FK pre-flight</a:t>
            </a:r>
            <a:endParaRPr lang="en-US" sz="900" dirty="0"/>
          </a:p>
        </p:txBody>
      </p:sp>
      <p:sp>
        <p:nvSpPr>
          <p:cNvPr id="35" name="Shape 32"/>
          <p:cNvSpPr/>
          <p:nvPr/>
        </p:nvSpPr>
        <p:spPr>
          <a:xfrm>
            <a:off x="4626864" y="3154680"/>
            <a:ext cx="2029968" cy="1783080"/>
          </a:xfrm>
          <a:prstGeom prst="roundRect">
            <a:avLst>
              <a:gd name="adj" fmla="val 6154"/>
            </a:avLst>
          </a:prstGeom>
          <a:solidFill>
            <a:srgbClr val="112B45"/>
          </a:solidFill>
          <a:ln w="12700">
            <a:solidFill>
              <a:srgbClr val="F4A261"/>
            </a:solidFill>
            <a:prstDash val="solid"/>
          </a:ln>
          <a:effectLst>
            <a:outerShdw sx="100000" sy="100000" kx="0" ky="0" algn="bl" rotWithShape="0" blurRad="127000" dist="50800" dir="2700000">
              <a:srgbClr val="000000">
                <a:alpha val="20000"/>
              </a:srgbClr>
            </a:outerShdw>
          </a:effectLst>
        </p:spPr>
      </p:sp>
      <p:sp>
        <p:nvSpPr>
          <p:cNvPr id="36" name="Shape 33"/>
          <p:cNvSpPr/>
          <p:nvPr/>
        </p:nvSpPr>
        <p:spPr>
          <a:xfrm>
            <a:off x="5404104" y="3218688"/>
            <a:ext cx="475488" cy="475488"/>
          </a:xfrm>
          <a:prstGeom prst="ellipse">
            <a:avLst/>
          </a:prstGeom>
          <a:solidFill>
            <a:srgbClr val="F4A261"/>
          </a:solidFill>
          <a:ln w="12700">
            <a:solidFill>
              <a:srgbClr val="F4A261"/>
            </a:solidFill>
            <a:prstDash val="solid"/>
          </a:ln>
        </p:spPr>
      </p:sp>
      <p:sp>
        <p:nvSpPr>
          <p:cNvPr id="37" name="Text 34"/>
          <p:cNvSpPr/>
          <p:nvPr/>
        </p:nvSpPr>
        <p:spPr>
          <a:xfrm>
            <a:off x="5404104" y="3218688"/>
            <a:ext cx="475488" cy="475488"/>
          </a:xfrm>
          <a:prstGeom prst="rect">
            <a:avLst/>
          </a:prstGeom>
          <a:noFill/>
          <a:ln/>
        </p:spPr>
        <p:txBody>
          <a:bodyPr wrap="square" rtlCol="0" anchor="ctr"/>
          <a:lstStyle/>
          <a:p>
            <a:pPr algn="ctr" indent="0" marL="0">
              <a:buNone/>
            </a:pPr>
            <a:r>
              <a:rPr lang="en-US" sz="1400" b="1" dirty="0">
                <a:solidFill>
                  <a:srgbClr val="0D2137"/>
                </a:solidFill>
              </a:rPr>
              <a:t>✓</a:t>
            </a:r>
            <a:endParaRPr lang="en-US" sz="1400" dirty="0"/>
          </a:p>
        </p:txBody>
      </p:sp>
      <p:sp>
        <p:nvSpPr>
          <p:cNvPr id="38" name="Text 35"/>
          <p:cNvSpPr/>
          <p:nvPr/>
        </p:nvSpPr>
        <p:spPr>
          <a:xfrm>
            <a:off x="4626864" y="3776472"/>
            <a:ext cx="2029968" cy="301752"/>
          </a:xfrm>
          <a:prstGeom prst="rect">
            <a:avLst/>
          </a:prstGeom>
          <a:noFill/>
          <a:ln/>
        </p:spPr>
        <p:txBody>
          <a:bodyPr wrap="square" rtlCol="0" anchor="ctr"/>
          <a:lstStyle/>
          <a:p>
            <a:pPr algn="ctr" indent="0" marL="0">
              <a:buNone/>
            </a:pPr>
            <a:r>
              <a:rPr lang="en-US" sz="1150" b="1" dirty="0">
                <a:solidFill>
                  <a:srgbClr val="F4A261"/>
                </a:solidFill>
                <a:latin typeface="Calibri" pitchFamily="34" charset="0"/>
                <a:ea typeface="Calibri" pitchFamily="34" charset="-122"/>
                <a:cs typeface="Calibri" pitchFamily="34" charset="-120"/>
              </a:rPr>
              <a:t>VALIDATE</a:t>
            </a:r>
            <a:endParaRPr lang="en-US" sz="1150" dirty="0"/>
          </a:p>
        </p:txBody>
      </p:sp>
      <p:sp>
        <p:nvSpPr>
          <p:cNvPr id="39" name="Text 36"/>
          <p:cNvSpPr/>
          <p:nvPr/>
        </p:nvSpPr>
        <p:spPr>
          <a:xfrm>
            <a:off x="4626864" y="4059936"/>
            <a:ext cx="2029968" cy="219456"/>
          </a:xfrm>
          <a:prstGeom prst="rect">
            <a:avLst/>
          </a:prstGeom>
          <a:noFill/>
          <a:ln/>
        </p:spPr>
        <p:txBody>
          <a:bodyPr wrap="square" rtlCol="0" anchor="ctr"/>
          <a:lstStyle/>
          <a:p>
            <a:pPr algn="ctr" indent="0" marL="0">
              <a:buNone/>
            </a:pPr>
            <a:r>
              <a:rPr lang="en-US" sz="850" i="1" dirty="0">
                <a:solidFill>
                  <a:srgbClr val="90AFC5"/>
                </a:solidFill>
                <a:latin typeface="Calibri" pitchFamily="34" charset="0"/>
                <a:ea typeface="Calibri" pitchFamily="34" charset="-122"/>
                <a:cs typeface="Calibri" pitchFamily="34" charset="-120"/>
              </a:rPr>
              <a:t>PythonOperator</a:t>
            </a:r>
            <a:endParaRPr lang="en-US" sz="850" dirty="0"/>
          </a:p>
        </p:txBody>
      </p:sp>
      <p:sp>
        <p:nvSpPr>
          <p:cNvPr id="40" name="Text 37"/>
          <p:cNvSpPr/>
          <p:nvPr/>
        </p:nvSpPr>
        <p:spPr>
          <a:xfrm>
            <a:off x="4718304" y="4279392"/>
            <a:ext cx="1847088" cy="585216"/>
          </a:xfrm>
          <a:prstGeom prst="rect">
            <a:avLst/>
          </a:prstGeom>
          <a:noFill/>
          <a:ln/>
        </p:spPr>
        <p:txBody>
          <a:bodyPr wrap="square" rtlCol="0" anchor="ctr"/>
          <a:lstStyle/>
          <a:p>
            <a:pPr algn="ctr" indent="0" marL="0">
              <a:buNone/>
            </a:pPr>
            <a:r>
              <a:rPr lang="en-US" sz="900" dirty="0">
                <a:solidFill>
                  <a:srgbClr val="E8F4F8"/>
                </a:solidFill>
                <a:latin typeface="Calibri" pitchFamily="34" charset="0"/>
                <a:ea typeface="Calibri" pitchFamily="34" charset="-122"/>
                <a:cs typeface="Calibri" pitchFamily="34" charset="-120"/>
              </a:rPr>
              <a:t>SQL ACID assertions, FK checks, row count proof</a:t>
            </a:r>
            <a:endParaRPr lang="en-US" sz="900" dirty="0"/>
          </a:p>
        </p:txBody>
      </p:sp>
      <p:sp>
        <p:nvSpPr>
          <p:cNvPr id="41" name="Shape 38"/>
          <p:cNvSpPr/>
          <p:nvPr/>
        </p:nvSpPr>
        <p:spPr>
          <a:xfrm>
            <a:off x="6803136" y="3154680"/>
            <a:ext cx="2029968" cy="1783080"/>
          </a:xfrm>
          <a:prstGeom prst="roundRect">
            <a:avLst>
              <a:gd name="adj" fmla="val 6154"/>
            </a:avLst>
          </a:prstGeom>
          <a:solidFill>
            <a:srgbClr val="112B45"/>
          </a:solidFill>
          <a:ln w="12700">
            <a:solidFill>
              <a:srgbClr val="C084FC"/>
            </a:solidFill>
            <a:prstDash val="solid"/>
          </a:ln>
          <a:effectLst>
            <a:outerShdw sx="100000" sy="100000" kx="0" ky="0" algn="bl" rotWithShape="0" blurRad="127000" dist="50800" dir="2700000">
              <a:srgbClr val="000000">
                <a:alpha val="20000"/>
              </a:srgbClr>
            </a:outerShdw>
          </a:effectLst>
        </p:spPr>
      </p:sp>
      <p:sp>
        <p:nvSpPr>
          <p:cNvPr id="42" name="Shape 39"/>
          <p:cNvSpPr/>
          <p:nvPr/>
        </p:nvSpPr>
        <p:spPr>
          <a:xfrm>
            <a:off x="7580376" y="3218688"/>
            <a:ext cx="475488" cy="475488"/>
          </a:xfrm>
          <a:prstGeom prst="ellipse">
            <a:avLst/>
          </a:prstGeom>
          <a:solidFill>
            <a:srgbClr val="C084FC"/>
          </a:solidFill>
          <a:ln w="12700">
            <a:solidFill>
              <a:srgbClr val="C084FC"/>
            </a:solidFill>
            <a:prstDash val="solid"/>
          </a:ln>
        </p:spPr>
      </p:sp>
      <p:sp>
        <p:nvSpPr>
          <p:cNvPr id="43" name="Text 40"/>
          <p:cNvSpPr/>
          <p:nvPr/>
        </p:nvSpPr>
        <p:spPr>
          <a:xfrm>
            <a:off x="7580376" y="3218688"/>
            <a:ext cx="475488" cy="475488"/>
          </a:xfrm>
          <a:prstGeom prst="rect">
            <a:avLst/>
          </a:prstGeom>
          <a:noFill/>
          <a:ln/>
        </p:spPr>
        <p:txBody>
          <a:bodyPr wrap="square" rtlCol="0" anchor="ctr"/>
          <a:lstStyle/>
          <a:p>
            <a:pPr algn="ctr" indent="0" marL="0">
              <a:buNone/>
            </a:pPr>
            <a:r>
              <a:rPr lang="en-US" sz="1400" b="1" dirty="0">
                <a:solidFill>
                  <a:srgbClr val="0D2137"/>
                </a:solidFill>
              </a:rPr>
              <a:t>✓</a:t>
            </a:r>
            <a:endParaRPr lang="en-US" sz="1400" dirty="0"/>
          </a:p>
        </p:txBody>
      </p:sp>
      <p:sp>
        <p:nvSpPr>
          <p:cNvPr id="44" name="Text 41"/>
          <p:cNvSpPr/>
          <p:nvPr/>
        </p:nvSpPr>
        <p:spPr>
          <a:xfrm>
            <a:off x="6803136" y="3776472"/>
            <a:ext cx="2029968" cy="301752"/>
          </a:xfrm>
          <a:prstGeom prst="rect">
            <a:avLst/>
          </a:prstGeom>
          <a:noFill/>
          <a:ln/>
        </p:spPr>
        <p:txBody>
          <a:bodyPr wrap="square" rtlCol="0" anchor="ctr"/>
          <a:lstStyle/>
          <a:p>
            <a:pPr algn="ctr" indent="0" marL="0">
              <a:buNone/>
            </a:pPr>
            <a:r>
              <a:rPr lang="en-US" sz="1150" b="1" dirty="0">
                <a:solidFill>
                  <a:srgbClr val="C084FC"/>
                </a:solidFill>
                <a:latin typeface="Calibri" pitchFamily="34" charset="0"/>
                <a:ea typeface="Calibri" pitchFamily="34" charset="-122"/>
                <a:cs typeface="Calibri" pitchFamily="34" charset="-120"/>
              </a:rPr>
              <a:t>NOTIFY</a:t>
            </a:r>
            <a:endParaRPr lang="en-US" sz="1150" dirty="0"/>
          </a:p>
        </p:txBody>
      </p:sp>
      <p:sp>
        <p:nvSpPr>
          <p:cNvPr id="45" name="Text 42"/>
          <p:cNvSpPr/>
          <p:nvPr/>
        </p:nvSpPr>
        <p:spPr>
          <a:xfrm>
            <a:off x="6803136" y="4059936"/>
            <a:ext cx="2029968" cy="219456"/>
          </a:xfrm>
          <a:prstGeom prst="rect">
            <a:avLst/>
          </a:prstGeom>
          <a:noFill/>
          <a:ln/>
        </p:spPr>
        <p:txBody>
          <a:bodyPr wrap="square" rtlCol="0" anchor="ctr"/>
          <a:lstStyle/>
          <a:p>
            <a:pPr algn="ctr" indent="0" marL="0">
              <a:buNone/>
            </a:pPr>
            <a:r>
              <a:rPr lang="en-US" sz="850" i="1" dirty="0">
                <a:solidFill>
                  <a:srgbClr val="90AFC5"/>
                </a:solidFill>
                <a:latin typeface="Calibri" pitchFamily="34" charset="0"/>
                <a:ea typeface="Calibri" pitchFamily="34" charset="-122"/>
                <a:cs typeface="Calibri" pitchFamily="34" charset="-120"/>
              </a:rPr>
              <a:t>PythonOperator</a:t>
            </a:r>
            <a:endParaRPr lang="en-US" sz="850" dirty="0"/>
          </a:p>
        </p:txBody>
      </p:sp>
      <p:sp>
        <p:nvSpPr>
          <p:cNvPr id="46" name="Text 43"/>
          <p:cNvSpPr/>
          <p:nvPr/>
        </p:nvSpPr>
        <p:spPr>
          <a:xfrm>
            <a:off x="6894576" y="4279392"/>
            <a:ext cx="1847088" cy="585216"/>
          </a:xfrm>
          <a:prstGeom prst="rect">
            <a:avLst/>
          </a:prstGeom>
          <a:noFill/>
          <a:ln/>
        </p:spPr>
        <p:txBody>
          <a:bodyPr wrap="square" rtlCol="0" anchor="ctr"/>
          <a:lstStyle/>
          <a:p>
            <a:pPr algn="ctr" indent="0" marL="0">
              <a:buNone/>
            </a:pPr>
            <a:r>
              <a:rPr lang="en-US" sz="900" dirty="0">
                <a:solidFill>
                  <a:srgbClr val="E8F4F8"/>
                </a:solidFill>
                <a:latin typeface="Calibri" pitchFamily="34" charset="0"/>
                <a:ea typeface="Calibri" pitchFamily="34" charset="-122"/>
                <a:cs typeface="Calibri" pitchFamily="34" charset="-120"/>
              </a:rPr>
              <a:t>Pipeline status notification on completion</a:t>
            </a:r>
            <a:endParaRPr lang="en-US" sz="900" dirty="0"/>
          </a:p>
        </p:txBody>
      </p:sp>
      <p:sp>
        <p:nvSpPr>
          <p:cNvPr id="47" name="Shape 44"/>
          <p:cNvSpPr/>
          <p:nvPr/>
        </p:nvSpPr>
        <p:spPr>
          <a:xfrm>
            <a:off x="2304288" y="4041648"/>
            <a:ext cx="164592" cy="0"/>
          </a:xfrm>
          <a:prstGeom prst="line">
            <a:avLst/>
          </a:prstGeom>
          <a:noFill/>
          <a:ln w="31750">
            <a:solidFill>
              <a:srgbClr val="00B4D8"/>
            </a:solidFill>
            <a:prstDash val="solid"/>
          </a:ln>
        </p:spPr>
      </p:sp>
      <p:sp>
        <p:nvSpPr>
          <p:cNvPr id="48" name="Shape 45"/>
          <p:cNvSpPr/>
          <p:nvPr/>
        </p:nvSpPr>
        <p:spPr>
          <a:xfrm>
            <a:off x="4480560" y="4041648"/>
            <a:ext cx="164592" cy="0"/>
          </a:xfrm>
          <a:prstGeom prst="line">
            <a:avLst/>
          </a:prstGeom>
          <a:noFill/>
          <a:ln w="31750">
            <a:solidFill>
              <a:srgbClr val="00B4D8"/>
            </a:solidFill>
            <a:prstDash val="solid"/>
          </a:ln>
        </p:spPr>
      </p:sp>
      <p:sp>
        <p:nvSpPr>
          <p:cNvPr id="49" name="Shape 46"/>
          <p:cNvSpPr/>
          <p:nvPr/>
        </p:nvSpPr>
        <p:spPr>
          <a:xfrm>
            <a:off x="6656832" y="4041648"/>
            <a:ext cx="164592" cy="0"/>
          </a:xfrm>
          <a:prstGeom prst="line">
            <a:avLst/>
          </a:prstGeom>
          <a:noFill/>
          <a:ln w="31750">
            <a:solidFill>
              <a:srgbClr val="00B4D8"/>
            </a:solidFill>
            <a:prstDash val="solid"/>
          </a:ln>
        </p:spPr>
      </p:sp>
      <p:sp>
        <p:nvSpPr>
          <p:cNvPr id="50" name="Shape 47"/>
          <p:cNvSpPr/>
          <p:nvPr/>
        </p:nvSpPr>
        <p:spPr>
          <a:xfrm>
            <a:off x="0" y="5047488"/>
            <a:ext cx="9144000" cy="91440"/>
          </a:xfrm>
          <a:prstGeom prst="rect">
            <a:avLst/>
          </a:prstGeom>
          <a:solidFill>
            <a:srgbClr val="14345A"/>
          </a:solidFill>
          <a:ln w="12700">
            <a:solidFill>
              <a:srgbClr val="14345A"/>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Text 1"/>
          <p:cNvSpPr/>
          <p:nvPr/>
        </p:nvSpPr>
        <p:spPr>
          <a:xfrm>
            <a:off x="411480" y="109728"/>
            <a:ext cx="8229600" cy="45720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Airflow Orchestration — All 4 Tasks Green ✓</a:t>
            </a:r>
            <a:endParaRPr lang="en-US" sz="2400" dirty="0"/>
          </a:p>
        </p:txBody>
      </p:sp>
      <p:pic>
        <p:nvPicPr>
          <p:cNvPr id="4" name="Image 0" descr="preencoded.png">    </p:cNvPr>
          <p:cNvPicPr>
            <a:picLocks noChangeAspect="1"/>
          </p:cNvPicPr>
          <p:nvPr/>
        </p:nvPicPr>
        <p:blipFill>
          <a:blip r:embed="rId1"/>
          <a:stretch>
            <a:fillRect/>
          </a:stretch>
        </p:blipFill>
        <p:spPr>
          <a:xfrm>
            <a:off x="228600" y="658368"/>
            <a:ext cx="8686800" cy="4041648"/>
          </a:xfrm>
          <a:prstGeom prst="rect">
            <a:avLst/>
          </a:prstGeom>
          <a:effectLst>
            <a:outerShdw sx="100000" sy="100000" kx="0" ky="0" algn="bl" rotWithShape="0" blurRad="127000" dist="50800" dir="2700000">
              <a:srgbClr val="000000">
                <a:alpha val="20000"/>
              </a:srgbClr>
            </a:outerShdw>
          </a:effectLst>
        </p:spPr>
      </p:pic>
      <p:sp>
        <p:nvSpPr>
          <p:cNvPr id="5" name="Shape 2"/>
          <p:cNvSpPr/>
          <p:nvPr/>
        </p:nvSpPr>
        <p:spPr>
          <a:xfrm>
            <a:off x="777240" y="4645152"/>
            <a:ext cx="1600200" cy="347472"/>
          </a:xfrm>
          <a:prstGeom prst="roundRect">
            <a:avLst>
              <a:gd name="adj" fmla="val 21053"/>
            </a:avLst>
          </a:prstGeom>
          <a:solidFill>
            <a:srgbClr val="16A34A"/>
          </a:solidFill>
          <a:ln w="12700">
            <a:solidFill>
              <a:srgbClr val="02C39A"/>
            </a:solidFill>
            <a:prstDash val="solid"/>
          </a:ln>
        </p:spPr>
      </p:sp>
      <p:sp>
        <p:nvSpPr>
          <p:cNvPr id="6" name="Text 3"/>
          <p:cNvSpPr/>
          <p:nvPr/>
        </p:nvSpPr>
        <p:spPr>
          <a:xfrm>
            <a:off x="777240" y="4645152"/>
            <a:ext cx="1600200" cy="34747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extract ✓ success</a:t>
            </a:r>
            <a:endParaRPr lang="en-US" sz="900" dirty="0"/>
          </a:p>
        </p:txBody>
      </p:sp>
      <p:sp>
        <p:nvSpPr>
          <p:cNvPr id="7" name="Shape 4"/>
          <p:cNvSpPr/>
          <p:nvPr/>
        </p:nvSpPr>
        <p:spPr>
          <a:xfrm>
            <a:off x="2834640" y="4645152"/>
            <a:ext cx="1600200" cy="347472"/>
          </a:xfrm>
          <a:prstGeom prst="roundRect">
            <a:avLst>
              <a:gd name="adj" fmla="val 21053"/>
            </a:avLst>
          </a:prstGeom>
          <a:solidFill>
            <a:srgbClr val="16A34A"/>
          </a:solidFill>
          <a:ln w="12700">
            <a:solidFill>
              <a:srgbClr val="02C39A"/>
            </a:solidFill>
            <a:prstDash val="solid"/>
          </a:ln>
        </p:spPr>
      </p:sp>
      <p:sp>
        <p:nvSpPr>
          <p:cNvPr id="8" name="Text 5"/>
          <p:cNvSpPr/>
          <p:nvPr/>
        </p:nvSpPr>
        <p:spPr>
          <a:xfrm>
            <a:off x="2834640" y="4645152"/>
            <a:ext cx="1600200" cy="34747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clean ✓ success</a:t>
            </a:r>
            <a:endParaRPr lang="en-US" sz="900" dirty="0"/>
          </a:p>
        </p:txBody>
      </p:sp>
      <p:sp>
        <p:nvSpPr>
          <p:cNvPr id="9" name="Shape 6"/>
          <p:cNvSpPr/>
          <p:nvPr/>
        </p:nvSpPr>
        <p:spPr>
          <a:xfrm>
            <a:off x="4892040" y="4645152"/>
            <a:ext cx="1600200" cy="347472"/>
          </a:xfrm>
          <a:prstGeom prst="roundRect">
            <a:avLst>
              <a:gd name="adj" fmla="val 21053"/>
            </a:avLst>
          </a:prstGeom>
          <a:solidFill>
            <a:srgbClr val="16A34A"/>
          </a:solidFill>
          <a:ln w="12700">
            <a:solidFill>
              <a:srgbClr val="02C39A"/>
            </a:solidFill>
            <a:prstDash val="solid"/>
          </a:ln>
        </p:spPr>
      </p:sp>
      <p:sp>
        <p:nvSpPr>
          <p:cNvPr id="10" name="Text 7"/>
          <p:cNvSpPr/>
          <p:nvPr/>
        </p:nvSpPr>
        <p:spPr>
          <a:xfrm>
            <a:off x="4892040" y="4645152"/>
            <a:ext cx="1600200" cy="34747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validate ✓ success</a:t>
            </a:r>
            <a:endParaRPr lang="en-US" sz="900" dirty="0"/>
          </a:p>
        </p:txBody>
      </p:sp>
      <p:sp>
        <p:nvSpPr>
          <p:cNvPr id="11" name="Shape 8"/>
          <p:cNvSpPr/>
          <p:nvPr/>
        </p:nvSpPr>
        <p:spPr>
          <a:xfrm>
            <a:off x="6949440" y="4645152"/>
            <a:ext cx="1600200" cy="347472"/>
          </a:xfrm>
          <a:prstGeom prst="roundRect">
            <a:avLst>
              <a:gd name="adj" fmla="val 21053"/>
            </a:avLst>
          </a:prstGeom>
          <a:solidFill>
            <a:srgbClr val="16A34A"/>
          </a:solidFill>
          <a:ln w="12700">
            <a:solidFill>
              <a:srgbClr val="02C39A"/>
            </a:solidFill>
            <a:prstDash val="solid"/>
          </a:ln>
        </p:spPr>
      </p:sp>
      <p:sp>
        <p:nvSpPr>
          <p:cNvPr id="12" name="Text 9"/>
          <p:cNvSpPr/>
          <p:nvPr/>
        </p:nvSpPr>
        <p:spPr>
          <a:xfrm>
            <a:off x="6949440" y="4645152"/>
            <a:ext cx="1600200" cy="34747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notify ✓ success</a:t>
            </a:r>
            <a:endParaRPr lang="en-US" sz="900" dirty="0"/>
          </a:p>
        </p:txBody>
      </p:sp>
      <p:sp>
        <p:nvSpPr>
          <p:cNvPr id="13" name="Shape 10"/>
          <p:cNvSpPr/>
          <p:nvPr/>
        </p:nvSpPr>
        <p:spPr>
          <a:xfrm>
            <a:off x="0" y="5047488"/>
            <a:ext cx="9144000" cy="91440"/>
          </a:xfrm>
          <a:prstGeom prst="rect">
            <a:avLst/>
          </a:prstGeom>
          <a:solidFill>
            <a:srgbClr val="14345A"/>
          </a:solidFill>
          <a:ln w="12700">
            <a:solidFill>
              <a:srgbClr val="14345A"/>
            </a:solidFill>
            <a:prstDash val="solid"/>
          </a:ln>
        </p:spPr>
      </p:sp>
      <p:sp>
        <p:nvSpPr>
          <p:cNvPr id="14" name="Text 11"/>
          <p:cNvSpPr/>
          <p:nvPr/>
        </p:nvSpPr>
        <p:spPr>
          <a:xfrm>
            <a:off x="0" y="5047488"/>
            <a:ext cx="9144000" cy="91440"/>
          </a:xfrm>
          <a:prstGeom prst="rect">
            <a:avLst/>
          </a:prstGeom>
          <a:noFill/>
          <a:ln/>
        </p:spPr>
        <p:txBody>
          <a:bodyPr wrap="square" rtlCol="0" anchor="ctr"/>
          <a:lstStyle/>
          <a:p>
            <a:pPr algn="ctr" indent="0" marL="0">
              <a:buNone/>
            </a:pPr>
            <a:r>
              <a:rPr lang="en-US" sz="850" dirty="0">
                <a:solidFill>
                  <a:srgbClr val="02C39A"/>
                </a:solidFill>
              </a:rPr>
              <a:t>Run: 2026-05-31  •  All 4 PythonOperator tasks succeeded  •  Graph view: Left → Right</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2137"/>
          </a:solidFill>
          <a:ln w="12700">
            <a:solidFill>
              <a:srgbClr val="0D2137"/>
            </a:solidFill>
            <a:prstDash val="solid"/>
          </a:ln>
        </p:spPr>
      </p:sp>
      <p:sp>
        <p:nvSpPr>
          <p:cNvPr id="3" name="Text 1"/>
          <p:cNvSpPr/>
          <p:nvPr/>
        </p:nvSpPr>
        <p:spPr>
          <a:xfrm>
            <a:off x="411480" y="109728"/>
            <a:ext cx="8229600" cy="502920"/>
          </a:xfrm>
          <a:prstGeom prst="rect">
            <a:avLst/>
          </a:prstGeom>
          <a:noFill/>
          <a:ln/>
        </p:spPr>
        <p:txBody>
          <a:bodyPr wrap="square" rtlCol="0" anchor="ctr"/>
          <a:lstStyle/>
          <a:p>
            <a:pPr indent="0" marL="0">
              <a:buNone/>
            </a:pPr>
            <a:r>
              <a:rPr lang="en-US" sz="2400" b="1" dirty="0">
                <a:solidFill>
                  <a:srgbClr val="0D2137"/>
                </a:solidFill>
                <a:latin typeface="Calibri" pitchFamily="34" charset="0"/>
                <a:ea typeface="Calibri" pitchFamily="34" charset="-122"/>
                <a:cs typeface="Calibri" pitchFamily="34" charset="-120"/>
              </a:rPr>
              <a:t>ACID Validation — Zero Violations on Unseen Test Data</a:t>
            </a:r>
            <a:endParaRPr lang="en-US" sz="2400" dirty="0"/>
          </a:p>
        </p:txBody>
      </p:sp>
      <p:sp>
        <p:nvSpPr>
          <p:cNvPr id="4" name="Shape 2"/>
          <p:cNvSpPr/>
          <p:nvPr/>
        </p:nvSpPr>
        <p:spPr>
          <a:xfrm>
            <a:off x="274320" y="731520"/>
            <a:ext cx="2029968" cy="1005840"/>
          </a:xfrm>
          <a:prstGeom prst="roundRect">
            <a:avLst>
              <a:gd name="adj" fmla="val 9091"/>
            </a:avLst>
          </a:prstGeom>
          <a:solidFill>
            <a:srgbClr val="0D2137"/>
          </a:solidFill>
          <a:ln w="12700">
            <a:solidFill>
              <a:srgbClr val="00B4D8"/>
            </a:solidFill>
            <a:prstDash val="solid"/>
          </a:ln>
          <a:effectLst>
            <a:outerShdw sx="100000" sy="100000" kx="0" ky="0" algn="bl" rotWithShape="0" blurRad="127000" dist="50800" dir="2700000">
              <a:srgbClr val="000000">
                <a:alpha val="20000"/>
              </a:srgbClr>
            </a:outerShdw>
          </a:effectLst>
        </p:spPr>
      </p:sp>
      <p:sp>
        <p:nvSpPr>
          <p:cNvPr id="5" name="Shape 3"/>
          <p:cNvSpPr/>
          <p:nvPr/>
        </p:nvSpPr>
        <p:spPr>
          <a:xfrm>
            <a:off x="320040" y="804672"/>
            <a:ext cx="502920" cy="502920"/>
          </a:xfrm>
          <a:prstGeom prst="ellipse">
            <a:avLst/>
          </a:prstGeom>
          <a:solidFill>
            <a:srgbClr val="00B4D8"/>
          </a:solidFill>
          <a:ln w="12700">
            <a:solidFill>
              <a:srgbClr val="00B4D8"/>
            </a:solidFill>
            <a:prstDash val="solid"/>
          </a:ln>
        </p:spPr>
      </p:sp>
      <p:sp>
        <p:nvSpPr>
          <p:cNvPr id="6" name="Text 4"/>
          <p:cNvSpPr/>
          <p:nvPr/>
        </p:nvSpPr>
        <p:spPr>
          <a:xfrm>
            <a:off x="320040" y="804672"/>
            <a:ext cx="502920" cy="502920"/>
          </a:xfrm>
          <a:prstGeom prst="rect">
            <a:avLst/>
          </a:prstGeom>
          <a:noFill/>
          <a:ln/>
        </p:spPr>
        <p:txBody>
          <a:bodyPr wrap="square" rtlCol="0" anchor="ctr"/>
          <a:lstStyle/>
          <a:p>
            <a:pPr algn="ctr" indent="0" marL="0">
              <a:buNone/>
            </a:pPr>
            <a:r>
              <a:rPr lang="en-US" sz="1600" b="1" dirty="0">
                <a:solidFill>
                  <a:srgbClr val="0D2137"/>
                </a:solidFill>
              </a:rPr>
              <a:t>A</a:t>
            </a:r>
            <a:endParaRPr lang="en-US" sz="1600" dirty="0"/>
          </a:p>
        </p:txBody>
      </p:sp>
      <p:sp>
        <p:nvSpPr>
          <p:cNvPr id="7" name="Text 5"/>
          <p:cNvSpPr/>
          <p:nvPr/>
        </p:nvSpPr>
        <p:spPr>
          <a:xfrm>
            <a:off x="868680" y="795528"/>
            <a:ext cx="1371600" cy="274320"/>
          </a:xfrm>
          <a:prstGeom prst="rect">
            <a:avLst/>
          </a:prstGeom>
          <a:noFill/>
          <a:ln/>
        </p:spPr>
        <p:txBody>
          <a:bodyPr wrap="square" rtlCol="0" anchor="ctr"/>
          <a:lstStyle/>
          <a:p>
            <a:pPr indent="0" marL="0">
              <a:buNone/>
            </a:pPr>
            <a:r>
              <a:rPr lang="en-US" sz="1050" b="1" dirty="0">
                <a:solidFill>
                  <a:srgbClr val="00B4D8"/>
                </a:solidFill>
                <a:latin typeface="Calibri" pitchFamily="34" charset="0"/>
                <a:ea typeface="Calibri" pitchFamily="34" charset="-122"/>
                <a:cs typeface="Calibri" pitchFamily="34" charset="-120"/>
              </a:rPr>
              <a:t>Atomicity</a:t>
            </a:r>
            <a:endParaRPr lang="en-US" sz="1050" dirty="0"/>
          </a:p>
        </p:txBody>
      </p:sp>
      <p:sp>
        <p:nvSpPr>
          <p:cNvPr id="8" name="Text 6"/>
          <p:cNvSpPr/>
          <p:nvPr/>
        </p:nvSpPr>
        <p:spPr>
          <a:xfrm>
            <a:off x="320040" y="1097280"/>
            <a:ext cx="1920240" cy="566928"/>
          </a:xfrm>
          <a:prstGeom prst="rect">
            <a:avLst/>
          </a:prstGeom>
          <a:noFill/>
          <a:ln/>
        </p:spPr>
        <p:txBody>
          <a:bodyPr wrap="square" rtlCol="0" anchor="ctr"/>
          <a:lstStyle/>
          <a:p>
            <a:pPr indent="0" marL="0">
              <a:buNone/>
            </a:pPr>
            <a:r>
              <a:rPr lang="en-US" sz="850" dirty="0">
                <a:solidFill>
                  <a:srgbClr val="E8F4F8"/>
                </a:solidFill>
                <a:latin typeface="Calibri" pitchFamily="34" charset="0"/>
                <a:ea typeface="Calibri" pitchFamily="34" charset="-122"/>
                <a:cs typeface="Calibri" pitchFamily="34" charset="-120"/>
              </a:rPr>
              <a:t>Each table load completes fully or rolls back — no partial loads</a:t>
            </a:r>
            <a:endParaRPr lang="en-US" sz="850" dirty="0"/>
          </a:p>
        </p:txBody>
      </p:sp>
      <p:sp>
        <p:nvSpPr>
          <p:cNvPr id="9" name="Shape 7"/>
          <p:cNvSpPr/>
          <p:nvPr/>
        </p:nvSpPr>
        <p:spPr>
          <a:xfrm>
            <a:off x="2450592" y="731520"/>
            <a:ext cx="2029968" cy="1005840"/>
          </a:xfrm>
          <a:prstGeom prst="roundRect">
            <a:avLst>
              <a:gd name="adj" fmla="val 9091"/>
            </a:avLst>
          </a:prstGeom>
          <a:solidFill>
            <a:srgbClr val="0D2137"/>
          </a:solidFill>
          <a:ln w="12700">
            <a:solidFill>
              <a:srgbClr val="00B4D8"/>
            </a:solidFill>
            <a:prstDash val="solid"/>
          </a:ln>
          <a:effectLst>
            <a:outerShdw sx="100000" sy="100000" kx="0" ky="0" algn="bl" rotWithShape="0" blurRad="127000" dist="50800" dir="2700000">
              <a:srgbClr val="000000">
                <a:alpha val="20000"/>
              </a:srgbClr>
            </a:outerShdw>
          </a:effectLst>
        </p:spPr>
      </p:sp>
      <p:sp>
        <p:nvSpPr>
          <p:cNvPr id="10" name="Shape 8"/>
          <p:cNvSpPr/>
          <p:nvPr/>
        </p:nvSpPr>
        <p:spPr>
          <a:xfrm>
            <a:off x="2496312" y="804672"/>
            <a:ext cx="502920" cy="502920"/>
          </a:xfrm>
          <a:prstGeom prst="ellipse">
            <a:avLst/>
          </a:prstGeom>
          <a:solidFill>
            <a:srgbClr val="00B4D8"/>
          </a:solidFill>
          <a:ln w="12700">
            <a:solidFill>
              <a:srgbClr val="00B4D8"/>
            </a:solidFill>
            <a:prstDash val="solid"/>
          </a:ln>
        </p:spPr>
      </p:sp>
      <p:sp>
        <p:nvSpPr>
          <p:cNvPr id="11" name="Text 9"/>
          <p:cNvSpPr/>
          <p:nvPr/>
        </p:nvSpPr>
        <p:spPr>
          <a:xfrm>
            <a:off x="2496312" y="804672"/>
            <a:ext cx="502920" cy="502920"/>
          </a:xfrm>
          <a:prstGeom prst="rect">
            <a:avLst/>
          </a:prstGeom>
          <a:noFill/>
          <a:ln/>
        </p:spPr>
        <p:txBody>
          <a:bodyPr wrap="square" rtlCol="0" anchor="ctr"/>
          <a:lstStyle/>
          <a:p>
            <a:pPr algn="ctr" indent="0" marL="0">
              <a:buNone/>
            </a:pPr>
            <a:r>
              <a:rPr lang="en-US" sz="1600" b="1" dirty="0">
                <a:solidFill>
                  <a:srgbClr val="0D2137"/>
                </a:solidFill>
              </a:rPr>
              <a:t>C</a:t>
            </a:r>
            <a:endParaRPr lang="en-US" sz="1600" dirty="0"/>
          </a:p>
        </p:txBody>
      </p:sp>
      <p:sp>
        <p:nvSpPr>
          <p:cNvPr id="12" name="Text 10"/>
          <p:cNvSpPr/>
          <p:nvPr/>
        </p:nvSpPr>
        <p:spPr>
          <a:xfrm>
            <a:off x="3044952" y="795528"/>
            <a:ext cx="1371600" cy="274320"/>
          </a:xfrm>
          <a:prstGeom prst="rect">
            <a:avLst/>
          </a:prstGeom>
          <a:noFill/>
          <a:ln/>
        </p:spPr>
        <p:txBody>
          <a:bodyPr wrap="square" rtlCol="0" anchor="ctr"/>
          <a:lstStyle/>
          <a:p>
            <a:pPr indent="0" marL="0">
              <a:buNone/>
            </a:pPr>
            <a:r>
              <a:rPr lang="en-US" sz="1050" b="1" dirty="0">
                <a:solidFill>
                  <a:srgbClr val="00B4D8"/>
                </a:solidFill>
                <a:latin typeface="Calibri" pitchFamily="34" charset="0"/>
                <a:ea typeface="Calibri" pitchFamily="34" charset="-122"/>
                <a:cs typeface="Calibri" pitchFamily="34" charset="-120"/>
              </a:rPr>
              <a:t>Consistency</a:t>
            </a:r>
            <a:endParaRPr lang="en-US" sz="1050" dirty="0"/>
          </a:p>
        </p:txBody>
      </p:sp>
      <p:sp>
        <p:nvSpPr>
          <p:cNvPr id="13" name="Text 11"/>
          <p:cNvSpPr/>
          <p:nvPr/>
        </p:nvSpPr>
        <p:spPr>
          <a:xfrm>
            <a:off x="2496312" y="1097280"/>
            <a:ext cx="1920240" cy="566928"/>
          </a:xfrm>
          <a:prstGeom prst="rect">
            <a:avLst/>
          </a:prstGeom>
          <a:noFill/>
          <a:ln/>
        </p:spPr>
        <p:txBody>
          <a:bodyPr wrap="square" rtlCol="0" anchor="ctr"/>
          <a:lstStyle/>
          <a:p>
            <a:pPr indent="0" marL="0">
              <a:buNone/>
            </a:pPr>
            <a:r>
              <a:rPr lang="en-US" sz="850" dirty="0">
                <a:solidFill>
                  <a:srgbClr val="E8F4F8"/>
                </a:solidFill>
                <a:latin typeface="Calibri" pitchFamily="34" charset="0"/>
                <a:ea typeface="Calibri" pitchFamily="34" charset="-122"/>
                <a:cs typeface="Calibri" pitchFamily="34" charset="-120"/>
              </a:rPr>
              <a:t>FK constraints enforced before and after every insert</a:t>
            </a:r>
            <a:endParaRPr lang="en-US" sz="850" dirty="0"/>
          </a:p>
        </p:txBody>
      </p:sp>
      <p:sp>
        <p:nvSpPr>
          <p:cNvPr id="14" name="Shape 12"/>
          <p:cNvSpPr/>
          <p:nvPr/>
        </p:nvSpPr>
        <p:spPr>
          <a:xfrm>
            <a:off x="4626864" y="731520"/>
            <a:ext cx="2029968" cy="1005840"/>
          </a:xfrm>
          <a:prstGeom prst="roundRect">
            <a:avLst>
              <a:gd name="adj" fmla="val 9091"/>
            </a:avLst>
          </a:prstGeom>
          <a:solidFill>
            <a:srgbClr val="0D2137"/>
          </a:solidFill>
          <a:ln w="12700">
            <a:solidFill>
              <a:srgbClr val="00B4D8"/>
            </a:solidFill>
            <a:prstDash val="solid"/>
          </a:ln>
          <a:effectLst>
            <a:outerShdw sx="100000" sy="100000" kx="0" ky="0" algn="bl" rotWithShape="0" blurRad="127000" dist="50800" dir="2700000">
              <a:srgbClr val="000000">
                <a:alpha val="20000"/>
              </a:srgbClr>
            </a:outerShdw>
          </a:effectLst>
        </p:spPr>
      </p:sp>
      <p:sp>
        <p:nvSpPr>
          <p:cNvPr id="15" name="Shape 13"/>
          <p:cNvSpPr/>
          <p:nvPr/>
        </p:nvSpPr>
        <p:spPr>
          <a:xfrm>
            <a:off x="4672584" y="804672"/>
            <a:ext cx="502920" cy="502920"/>
          </a:xfrm>
          <a:prstGeom prst="ellipse">
            <a:avLst/>
          </a:prstGeom>
          <a:solidFill>
            <a:srgbClr val="00B4D8"/>
          </a:solidFill>
          <a:ln w="12700">
            <a:solidFill>
              <a:srgbClr val="00B4D8"/>
            </a:solidFill>
            <a:prstDash val="solid"/>
          </a:ln>
        </p:spPr>
      </p:sp>
      <p:sp>
        <p:nvSpPr>
          <p:cNvPr id="16" name="Text 14"/>
          <p:cNvSpPr/>
          <p:nvPr/>
        </p:nvSpPr>
        <p:spPr>
          <a:xfrm>
            <a:off x="4672584" y="804672"/>
            <a:ext cx="502920" cy="502920"/>
          </a:xfrm>
          <a:prstGeom prst="rect">
            <a:avLst/>
          </a:prstGeom>
          <a:noFill/>
          <a:ln/>
        </p:spPr>
        <p:txBody>
          <a:bodyPr wrap="square" rtlCol="0" anchor="ctr"/>
          <a:lstStyle/>
          <a:p>
            <a:pPr algn="ctr" indent="0" marL="0">
              <a:buNone/>
            </a:pPr>
            <a:r>
              <a:rPr lang="en-US" sz="1600" b="1" dirty="0">
                <a:solidFill>
                  <a:srgbClr val="0D2137"/>
                </a:solidFill>
              </a:rPr>
              <a:t>I</a:t>
            </a:r>
            <a:endParaRPr lang="en-US" sz="1600" dirty="0"/>
          </a:p>
        </p:txBody>
      </p:sp>
      <p:sp>
        <p:nvSpPr>
          <p:cNvPr id="17" name="Text 15"/>
          <p:cNvSpPr/>
          <p:nvPr/>
        </p:nvSpPr>
        <p:spPr>
          <a:xfrm>
            <a:off x="5221224" y="795528"/>
            <a:ext cx="1371600" cy="274320"/>
          </a:xfrm>
          <a:prstGeom prst="rect">
            <a:avLst/>
          </a:prstGeom>
          <a:noFill/>
          <a:ln/>
        </p:spPr>
        <p:txBody>
          <a:bodyPr wrap="square" rtlCol="0" anchor="ctr"/>
          <a:lstStyle/>
          <a:p>
            <a:pPr indent="0" marL="0">
              <a:buNone/>
            </a:pPr>
            <a:r>
              <a:rPr lang="en-US" sz="1050" b="1" dirty="0">
                <a:solidFill>
                  <a:srgbClr val="00B4D8"/>
                </a:solidFill>
                <a:latin typeface="Calibri" pitchFamily="34" charset="0"/>
                <a:ea typeface="Calibri" pitchFamily="34" charset="-122"/>
                <a:cs typeface="Calibri" pitchFamily="34" charset="-120"/>
              </a:rPr>
              <a:t>Isolation</a:t>
            </a:r>
            <a:endParaRPr lang="en-US" sz="1050" dirty="0"/>
          </a:p>
        </p:txBody>
      </p:sp>
      <p:sp>
        <p:nvSpPr>
          <p:cNvPr id="18" name="Text 16"/>
          <p:cNvSpPr/>
          <p:nvPr/>
        </p:nvSpPr>
        <p:spPr>
          <a:xfrm>
            <a:off x="4672584" y="1097280"/>
            <a:ext cx="1920240" cy="566928"/>
          </a:xfrm>
          <a:prstGeom prst="rect">
            <a:avLst/>
          </a:prstGeom>
          <a:noFill/>
          <a:ln/>
        </p:spPr>
        <p:txBody>
          <a:bodyPr wrap="square" rtlCol="0" anchor="ctr"/>
          <a:lstStyle/>
          <a:p>
            <a:pPr indent="0" marL="0">
              <a:buNone/>
            </a:pPr>
            <a:r>
              <a:rPr lang="en-US" sz="850" dirty="0">
                <a:solidFill>
                  <a:srgbClr val="E8F4F8"/>
                </a:solidFill>
                <a:latin typeface="Calibri" pitchFamily="34" charset="0"/>
                <a:ea typeface="Calibri" pitchFamily="34" charset="-122"/>
                <a:cs typeface="Calibri" pitchFamily="34" charset="-120"/>
              </a:rPr>
              <a:t>Each pipeline run operates independently via @daily trigger</a:t>
            </a:r>
            <a:endParaRPr lang="en-US" sz="850" dirty="0"/>
          </a:p>
        </p:txBody>
      </p:sp>
      <p:sp>
        <p:nvSpPr>
          <p:cNvPr id="19" name="Shape 17"/>
          <p:cNvSpPr/>
          <p:nvPr/>
        </p:nvSpPr>
        <p:spPr>
          <a:xfrm>
            <a:off x="6803136" y="731520"/>
            <a:ext cx="2029968" cy="1005840"/>
          </a:xfrm>
          <a:prstGeom prst="roundRect">
            <a:avLst>
              <a:gd name="adj" fmla="val 9091"/>
            </a:avLst>
          </a:prstGeom>
          <a:solidFill>
            <a:srgbClr val="0D2137"/>
          </a:solidFill>
          <a:ln w="12700">
            <a:solidFill>
              <a:srgbClr val="00B4D8"/>
            </a:solidFill>
            <a:prstDash val="solid"/>
          </a:ln>
          <a:effectLst>
            <a:outerShdw sx="100000" sy="100000" kx="0" ky="0" algn="bl" rotWithShape="0" blurRad="127000" dist="50800" dir="2700000">
              <a:srgbClr val="000000">
                <a:alpha val="20000"/>
              </a:srgbClr>
            </a:outerShdw>
          </a:effectLst>
        </p:spPr>
      </p:sp>
      <p:sp>
        <p:nvSpPr>
          <p:cNvPr id="20" name="Shape 18"/>
          <p:cNvSpPr/>
          <p:nvPr/>
        </p:nvSpPr>
        <p:spPr>
          <a:xfrm>
            <a:off x="6848856" y="804672"/>
            <a:ext cx="502920" cy="502920"/>
          </a:xfrm>
          <a:prstGeom prst="ellipse">
            <a:avLst/>
          </a:prstGeom>
          <a:solidFill>
            <a:srgbClr val="00B4D8"/>
          </a:solidFill>
          <a:ln w="12700">
            <a:solidFill>
              <a:srgbClr val="00B4D8"/>
            </a:solidFill>
            <a:prstDash val="solid"/>
          </a:ln>
        </p:spPr>
      </p:sp>
      <p:sp>
        <p:nvSpPr>
          <p:cNvPr id="21" name="Text 19"/>
          <p:cNvSpPr/>
          <p:nvPr/>
        </p:nvSpPr>
        <p:spPr>
          <a:xfrm>
            <a:off x="6848856" y="804672"/>
            <a:ext cx="502920" cy="502920"/>
          </a:xfrm>
          <a:prstGeom prst="rect">
            <a:avLst/>
          </a:prstGeom>
          <a:noFill/>
          <a:ln/>
        </p:spPr>
        <p:txBody>
          <a:bodyPr wrap="square" rtlCol="0" anchor="ctr"/>
          <a:lstStyle/>
          <a:p>
            <a:pPr algn="ctr" indent="0" marL="0">
              <a:buNone/>
            </a:pPr>
            <a:r>
              <a:rPr lang="en-US" sz="1600" b="1" dirty="0">
                <a:solidFill>
                  <a:srgbClr val="0D2137"/>
                </a:solidFill>
              </a:rPr>
              <a:t>D</a:t>
            </a:r>
            <a:endParaRPr lang="en-US" sz="1600" dirty="0"/>
          </a:p>
        </p:txBody>
      </p:sp>
      <p:sp>
        <p:nvSpPr>
          <p:cNvPr id="22" name="Text 20"/>
          <p:cNvSpPr/>
          <p:nvPr/>
        </p:nvSpPr>
        <p:spPr>
          <a:xfrm>
            <a:off x="7397496" y="795528"/>
            <a:ext cx="1371600" cy="274320"/>
          </a:xfrm>
          <a:prstGeom prst="rect">
            <a:avLst/>
          </a:prstGeom>
          <a:noFill/>
          <a:ln/>
        </p:spPr>
        <p:txBody>
          <a:bodyPr wrap="square" rtlCol="0" anchor="ctr"/>
          <a:lstStyle/>
          <a:p>
            <a:pPr indent="0" marL="0">
              <a:buNone/>
            </a:pPr>
            <a:r>
              <a:rPr lang="en-US" sz="1050" b="1" dirty="0">
                <a:solidFill>
                  <a:srgbClr val="00B4D8"/>
                </a:solidFill>
                <a:latin typeface="Calibri" pitchFamily="34" charset="0"/>
                <a:ea typeface="Calibri" pitchFamily="34" charset="-122"/>
                <a:cs typeface="Calibri" pitchFamily="34" charset="-120"/>
              </a:rPr>
              <a:t>Durability</a:t>
            </a:r>
            <a:endParaRPr lang="en-US" sz="1050" dirty="0"/>
          </a:p>
        </p:txBody>
      </p:sp>
      <p:sp>
        <p:nvSpPr>
          <p:cNvPr id="23" name="Text 21"/>
          <p:cNvSpPr/>
          <p:nvPr/>
        </p:nvSpPr>
        <p:spPr>
          <a:xfrm>
            <a:off x="6848856" y="1097280"/>
            <a:ext cx="1920240" cy="566928"/>
          </a:xfrm>
          <a:prstGeom prst="rect">
            <a:avLst/>
          </a:prstGeom>
          <a:noFill/>
          <a:ln/>
        </p:spPr>
        <p:txBody>
          <a:bodyPr wrap="square" rtlCol="0" anchor="ctr"/>
          <a:lstStyle/>
          <a:p>
            <a:pPr indent="0" marL="0">
              <a:buNone/>
            </a:pPr>
            <a:r>
              <a:rPr lang="en-US" sz="850" dirty="0">
                <a:solidFill>
                  <a:srgbClr val="E8F4F8"/>
                </a:solidFill>
                <a:latin typeface="Calibri" pitchFamily="34" charset="0"/>
                <a:ea typeface="Calibri" pitchFamily="34" charset="-122"/>
                <a:cs typeface="Calibri" pitchFamily="34" charset="-120"/>
              </a:rPr>
              <a:t>PostgreSQL WAL ensures committed data survives failures</a:t>
            </a:r>
            <a:endParaRPr lang="en-US" sz="850" dirty="0"/>
          </a:p>
        </p:txBody>
      </p:sp>
      <p:sp>
        <p:nvSpPr>
          <p:cNvPr id="24" name="Text 22"/>
          <p:cNvSpPr/>
          <p:nvPr/>
        </p:nvSpPr>
        <p:spPr>
          <a:xfrm>
            <a:off x="274320" y="1874520"/>
            <a:ext cx="8595360" cy="320040"/>
          </a:xfrm>
          <a:prstGeom prst="rect">
            <a:avLst/>
          </a:prstGeom>
          <a:noFill/>
          <a:ln/>
        </p:spPr>
        <p:txBody>
          <a:bodyPr wrap="square" rtlCol="0" anchor="ctr"/>
          <a:lstStyle/>
          <a:p>
            <a:pPr indent="0" marL="0">
              <a:buNone/>
            </a:pPr>
            <a:r>
              <a:rPr lang="en-US" sz="1200" b="1" dirty="0">
                <a:solidFill>
                  <a:srgbClr val="0D2137"/>
                </a:solidFill>
                <a:latin typeface="Calibri" pitchFamily="34" charset="0"/>
                <a:ea typeface="Calibri" pitchFamily="34" charset="-122"/>
                <a:cs typeface="Calibri" pitchFamily="34" charset="-120"/>
              </a:rPr>
              <a:t>Test Set Validation Results — 25% Unseen Data (24,860 orders)</a:t>
            </a:r>
            <a:endParaRPr lang="en-US" sz="1200" dirty="0"/>
          </a:p>
        </p:txBody>
      </p:sp>
      <p:sp>
        <p:nvSpPr>
          <p:cNvPr id="25" name="Shape 23"/>
          <p:cNvSpPr/>
          <p:nvPr/>
        </p:nvSpPr>
        <p:spPr>
          <a:xfrm>
            <a:off x="274320" y="2212848"/>
            <a:ext cx="8595360" cy="384048"/>
          </a:xfrm>
          <a:prstGeom prst="rect">
            <a:avLst/>
          </a:prstGeom>
          <a:solidFill>
            <a:srgbClr val="0D2137"/>
          </a:solidFill>
          <a:ln w="12700">
            <a:solidFill>
              <a:srgbClr val="0D2137"/>
            </a:solidFill>
            <a:prstDash val="solid"/>
          </a:ln>
        </p:spPr>
      </p:sp>
      <p:sp>
        <p:nvSpPr>
          <p:cNvPr id="26" name="Text 24"/>
          <p:cNvSpPr/>
          <p:nvPr/>
        </p:nvSpPr>
        <p:spPr>
          <a:xfrm>
            <a:off x="365760" y="2212848"/>
            <a:ext cx="5943600" cy="384048"/>
          </a:xfrm>
          <a:prstGeom prst="rect">
            <a:avLst/>
          </a:prstGeom>
          <a:noFill/>
          <a:ln/>
        </p:spPr>
        <p:txBody>
          <a:bodyPr wrap="square" rtlCol="0" anchor="ctr"/>
          <a:lstStyle/>
          <a:p>
            <a:pPr indent="0" marL="0">
              <a:buNone/>
            </a:pPr>
            <a:r>
              <a:rPr lang="en-US" sz="1050" b="1" dirty="0">
                <a:solidFill>
                  <a:srgbClr val="00B4D8"/>
                </a:solidFill>
              </a:rPr>
              <a:t>Integrity Check</a:t>
            </a:r>
            <a:endParaRPr lang="en-US" sz="1050" dirty="0"/>
          </a:p>
        </p:txBody>
      </p:sp>
      <p:sp>
        <p:nvSpPr>
          <p:cNvPr id="27" name="Text 25"/>
          <p:cNvSpPr/>
          <p:nvPr/>
        </p:nvSpPr>
        <p:spPr>
          <a:xfrm>
            <a:off x="6309360" y="2212848"/>
            <a:ext cx="1188720" cy="384048"/>
          </a:xfrm>
          <a:prstGeom prst="rect">
            <a:avLst/>
          </a:prstGeom>
          <a:noFill/>
          <a:ln/>
        </p:spPr>
        <p:txBody>
          <a:bodyPr wrap="square" rtlCol="0" anchor="ctr"/>
          <a:lstStyle/>
          <a:p>
            <a:pPr algn="ctr" indent="0" marL="0">
              <a:buNone/>
            </a:pPr>
            <a:r>
              <a:rPr lang="en-US" sz="1050" b="1" dirty="0">
                <a:solidFill>
                  <a:srgbClr val="00B4D8"/>
                </a:solidFill>
              </a:rPr>
              <a:t>Result</a:t>
            </a:r>
            <a:endParaRPr lang="en-US" sz="1050" dirty="0"/>
          </a:p>
        </p:txBody>
      </p:sp>
      <p:sp>
        <p:nvSpPr>
          <p:cNvPr id="28" name="Text 26"/>
          <p:cNvSpPr/>
          <p:nvPr/>
        </p:nvSpPr>
        <p:spPr>
          <a:xfrm>
            <a:off x="7543800" y="2212848"/>
            <a:ext cx="1280160" cy="384048"/>
          </a:xfrm>
          <a:prstGeom prst="rect">
            <a:avLst/>
          </a:prstGeom>
          <a:noFill/>
          <a:ln/>
        </p:spPr>
        <p:txBody>
          <a:bodyPr wrap="square" rtlCol="0" anchor="ctr"/>
          <a:lstStyle/>
          <a:p>
            <a:pPr algn="ctr" indent="0" marL="0">
              <a:buNone/>
            </a:pPr>
            <a:r>
              <a:rPr lang="en-US" sz="1050" b="1" dirty="0">
                <a:solidFill>
                  <a:srgbClr val="00B4D8"/>
                </a:solidFill>
              </a:rPr>
              <a:t>Status</a:t>
            </a:r>
            <a:endParaRPr lang="en-US" sz="1050" dirty="0"/>
          </a:p>
        </p:txBody>
      </p:sp>
      <p:sp>
        <p:nvSpPr>
          <p:cNvPr id="29" name="Shape 27"/>
          <p:cNvSpPr/>
          <p:nvPr/>
        </p:nvSpPr>
        <p:spPr>
          <a:xfrm>
            <a:off x="274320" y="2596896"/>
            <a:ext cx="8595360" cy="438912"/>
          </a:xfrm>
          <a:prstGeom prst="rect">
            <a:avLst/>
          </a:prstGeom>
          <a:solidFill>
            <a:srgbClr val="FFFFFF"/>
          </a:solidFill>
          <a:ln w="12700">
            <a:solidFill>
              <a:srgbClr val="D0DCF0"/>
            </a:solidFill>
            <a:prstDash val="solid"/>
          </a:ln>
        </p:spPr>
      </p:sp>
      <p:sp>
        <p:nvSpPr>
          <p:cNvPr id="30" name="Text 28"/>
          <p:cNvSpPr/>
          <p:nvPr/>
        </p:nvSpPr>
        <p:spPr>
          <a:xfrm>
            <a:off x="365760" y="2596896"/>
            <a:ext cx="5897880" cy="438912"/>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Order items with invalid order_id (order_items → orders)</a:t>
            </a:r>
            <a:endParaRPr lang="en-US" sz="1000" dirty="0"/>
          </a:p>
        </p:txBody>
      </p:sp>
      <p:sp>
        <p:nvSpPr>
          <p:cNvPr id="31" name="Text 29"/>
          <p:cNvSpPr/>
          <p:nvPr/>
        </p:nvSpPr>
        <p:spPr>
          <a:xfrm>
            <a:off x="6291072" y="2596896"/>
            <a:ext cx="1207008" cy="438912"/>
          </a:xfrm>
          <a:prstGeom prst="rect">
            <a:avLst/>
          </a:prstGeom>
          <a:noFill/>
          <a:ln/>
        </p:spPr>
        <p:txBody>
          <a:bodyPr wrap="square" rtlCol="0" anchor="ctr"/>
          <a:lstStyle/>
          <a:p>
            <a:pPr algn="ctr" indent="0" marL="0">
              <a:buNone/>
            </a:pPr>
            <a:r>
              <a:rPr lang="en-US" sz="1000" dirty="0">
                <a:solidFill>
                  <a:srgbClr val="334155"/>
                </a:solidFill>
              </a:rPr>
              <a:t>0 violations</a:t>
            </a:r>
            <a:endParaRPr lang="en-US" sz="1000" dirty="0"/>
          </a:p>
        </p:txBody>
      </p:sp>
      <p:sp>
        <p:nvSpPr>
          <p:cNvPr id="32" name="Shape 30"/>
          <p:cNvSpPr/>
          <p:nvPr/>
        </p:nvSpPr>
        <p:spPr>
          <a:xfrm>
            <a:off x="7589520" y="2706624"/>
            <a:ext cx="1115568" cy="256032"/>
          </a:xfrm>
          <a:prstGeom prst="roundRect">
            <a:avLst>
              <a:gd name="adj" fmla="val 28571"/>
            </a:avLst>
          </a:prstGeom>
          <a:solidFill>
            <a:srgbClr val="16A34A"/>
          </a:solidFill>
          <a:ln w="12700">
            <a:solidFill>
              <a:srgbClr val="16A34A"/>
            </a:solidFill>
            <a:prstDash val="solid"/>
          </a:ln>
        </p:spPr>
      </p:sp>
      <p:sp>
        <p:nvSpPr>
          <p:cNvPr id="33" name="Text 31"/>
          <p:cNvSpPr/>
          <p:nvPr/>
        </p:nvSpPr>
        <p:spPr>
          <a:xfrm>
            <a:off x="7589520" y="2706624"/>
            <a:ext cx="1115568" cy="256032"/>
          </a:xfrm>
          <a:prstGeom prst="rect">
            <a:avLst/>
          </a:prstGeom>
          <a:noFill/>
          <a:ln/>
        </p:spPr>
        <p:txBody>
          <a:bodyPr wrap="square" rtlCol="0" anchor="ctr"/>
          <a:lstStyle/>
          <a:p>
            <a:pPr algn="ctr" indent="0" marL="0">
              <a:buNone/>
            </a:pPr>
            <a:r>
              <a:rPr lang="en-US" sz="950" b="1" dirty="0">
                <a:solidFill>
                  <a:srgbClr val="FFFFFF"/>
                </a:solidFill>
              </a:rPr>
              <a:t>✓ PASS</a:t>
            </a:r>
            <a:endParaRPr lang="en-US" sz="950" dirty="0"/>
          </a:p>
        </p:txBody>
      </p:sp>
      <p:sp>
        <p:nvSpPr>
          <p:cNvPr id="34" name="Shape 32"/>
          <p:cNvSpPr/>
          <p:nvPr/>
        </p:nvSpPr>
        <p:spPr>
          <a:xfrm>
            <a:off x="274320" y="3035808"/>
            <a:ext cx="8595360" cy="438912"/>
          </a:xfrm>
          <a:prstGeom prst="rect">
            <a:avLst/>
          </a:prstGeom>
          <a:solidFill>
            <a:srgbClr val="EEF6FB"/>
          </a:solidFill>
          <a:ln w="12700">
            <a:solidFill>
              <a:srgbClr val="D0DCF0"/>
            </a:solidFill>
            <a:prstDash val="solid"/>
          </a:ln>
        </p:spPr>
      </p:sp>
      <p:sp>
        <p:nvSpPr>
          <p:cNvPr id="35" name="Text 33"/>
          <p:cNvSpPr/>
          <p:nvPr/>
        </p:nvSpPr>
        <p:spPr>
          <a:xfrm>
            <a:off x="365760" y="3035808"/>
            <a:ext cx="5897880" cy="438912"/>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Orders with invalid customer_id (orders → customers)</a:t>
            </a:r>
            <a:endParaRPr lang="en-US" sz="1000" dirty="0"/>
          </a:p>
        </p:txBody>
      </p:sp>
      <p:sp>
        <p:nvSpPr>
          <p:cNvPr id="36" name="Text 34"/>
          <p:cNvSpPr/>
          <p:nvPr/>
        </p:nvSpPr>
        <p:spPr>
          <a:xfrm>
            <a:off x="6291072" y="3035808"/>
            <a:ext cx="1207008" cy="438912"/>
          </a:xfrm>
          <a:prstGeom prst="rect">
            <a:avLst/>
          </a:prstGeom>
          <a:noFill/>
          <a:ln/>
        </p:spPr>
        <p:txBody>
          <a:bodyPr wrap="square" rtlCol="0" anchor="ctr"/>
          <a:lstStyle/>
          <a:p>
            <a:pPr algn="ctr" indent="0" marL="0">
              <a:buNone/>
            </a:pPr>
            <a:r>
              <a:rPr lang="en-US" sz="1000" dirty="0">
                <a:solidFill>
                  <a:srgbClr val="334155"/>
                </a:solidFill>
              </a:rPr>
              <a:t>0 violations</a:t>
            </a:r>
            <a:endParaRPr lang="en-US" sz="1000" dirty="0"/>
          </a:p>
        </p:txBody>
      </p:sp>
      <p:sp>
        <p:nvSpPr>
          <p:cNvPr id="37" name="Shape 35"/>
          <p:cNvSpPr/>
          <p:nvPr/>
        </p:nvSpPr>
        <p:spPr>
          <a:xfrm>
            <a:off x="7589520" y="3145536"/>
            <a:ext cx="1115568" cy="256032"/>
          </a:xfrm>
          <a:prstGeom prst="roundRect">
            <a:avLst>
              <a:gd name="adj" fmla="val 28571"/>
            </a:avLst>
          </a:prstGeom>
          <a:solidFill>
            <a:srgbClr val="16A34A"/>
          </a:solidFill>
          <a:ln w="12700">
            <a:solidFill>
              <a:srgbClr val="16A34A"/>
            </a:solidFill>
            <a:prstDash val="solid"/>
          </a:ln>
        </p:spPr>
      </p:sp>
      <p:sp>
        <p:nvSpPr>
          <p:cNvPr id="38" name="Text 36"/>
          <p:cNvSpPr/>
          <p:nvPr/>
        </p:nvSpPr>
        <p:spPr>
          <a:xfrm>
            <a:off x="7589520" y="3145536"/>
            <a:ext cx="1115568" cy="256032"/>
          </a:xfrm>
          <a:prstGeom prst="rect">
            <a:avLst/>
          </a:prstGeom>
          <a:noFill/>
          <a:ln/>
        </p:spPr>
        <p:txBody>
          <a:bodyPr wrap="square" rtlCol="0" anchor="ctr"/>
          <a:lstStyle/>
          <a:p>
            <a:pPr algn="ctr" indent="0" marL="0">
              <a:buNone/>
            </a:pPr>
            <a:r>
              <a:rPr lang="en-US" sz="950" b="1" dirty="0">
                <a:solidFill>
                  <a:srgbClr val="FFFFFF"/>
                </a:solidFill>
              </a:rPr>
              <a:t>✓ PASS</a:t>
            </a:r>
            <a:endParaRPr lang="en-US" sz="950" dirty="0"/>
          </a:p>
        </p:txBody>
      </p:sp>
      <p:sp>
        <p:nvSpPr>
          <p:cNvPr id="39" name="Shape 37"/>
          <p:cNvSpPr/>
          <p:nvPr/>
        </p:nvSpPr>
        <p:spPr>
          <a:xfrm>
            <a:off x="274320" y="3474720"/>
            <a:ext cx="8595360" cy="438912"/>
          </a:xfrm>
          <a:prstGeom prst="rect">
            <a:avLst/>
          </a:prstGeom>
          <a:solidFill>
            <a:srgbClr val="FFFFFF"/>
          </a:solidFill>
          <a:ln w="12700">
            <a:solidFill>
              <a:srgbClr val="D0DCF0"/>
            </a:solidFill>
            <a:prstDash val="solid"/>
          </a:ln>
        </p:spPr>
      </p:sp>
      <p:sp>
        <p:nvSpPr>
          <p:cNvPr id="40" name="Text 38"/>
          <p:cNvSpPr/>
          <p:nvPr/>
        </p:nvSpPr>
        <p:spPr>
          <a:xfrm>
            <a:off x="365760" y="3474720"/>
            <a:ext cx="5897880" cy="438912"/>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Order items with invalid product_id (order_items → products)</a:t>
            </a:r>
            <a:endParaRPr lang="en-US" sz="1000" dirty="0"/>
          </a:p>
        </p:txBody>
      </p:sp>
      <p:sp>
        <p:nvSpPr>
          <p:cNvPr id="41" name="Text 39"/>
          <p:cNvSpPr/>
          <p:nvPr/>
        </p:nvSpPr>
        <p:spPr>
          <a:xfrm>
            <a:off x="6291072" y="3474720"/>
            <a:ext cx="1207008" cy="438912"/>
          </a:xfrm>
          <a:prstGeom prst="rect">
            <a:avLst/>
          </a:prstGeom>
          <a:noFill/>
          <a:ln/>
        </p:spPr>
        <p:txBody>
          <a:bodyPr wrap="square" rtlCol="0" anchor="ctr"/>
          <a:lstStyle/>
          <a:p>
            <a:pPr algn="ctr" indent="0" marL="0">
              <a:buNone/>
            </a:pPr>
            <a:r>
              <a:rPr lang="en-US" sz="1000" dirty="0">
                <a:solidFill>
                  <a:srgbClr val="334155"/>
                </a:solidFill>
              </a:rPr>
              <a:t>0 violations</a:t>
            </a:r>
            <a:endParaRPr lang="en-US" sz="1000" dirty="0"/>
          </a:p>
        </p:txBody>
      </p:sp>
      <p:sp>
        <p:nvSpPr>
          <p:cNvPr id="42" name="Shape 40"/>
          <p:cNvSpPr/>
          <p:nvPr/>
        </p:nvSpPr>
        <p:spPr>
          <a:xfrm>
            <a:off x="7589520" y="3584448"/>
            <a:ext cx="1115568" cy="256032"/>
          </a:xfrm>
          <a:prstGeom prst="roundRect">
            <a:avLst>
              <a:gd name="adj" fmla="val 28571"/>
            </a:avLst>
          </a:prstGeom>
          <a:solidFill>
            <a:srgbClr val="16A34A"/>
          </a:solidFill>
          <a:ln w="12700">
            <a:solidFill>
              <a:srgbClr val="16A34A"/>
            </a:solidFill>
            <a:prstDash val="solid"/>
          </a:ln>
        </p:spPr>
      </p:sp>
      <p:sp>
        <p:nvSpPr>
          <p:cNvPr id="43" name="Text 41"/>
          <p:cNvSpPr/>
          <p:nvPr/>
        </p:nvSpPr>
        <p:spPr>
          <a:xfrm>
            <a:off x="7589520" y="3584448"/>
            <a:ext cx="1115568" cy="256032"/>
          </a:xfrm>
          <a:prstGeom prst="rect">
            <a:avLst/>
          </a:prstGeom>
          <a:noFill/>
          <a:ln/>
        </p:spPr>
        <p:txBody>
          <a:bodyPr wrap="square" rtlCol="0" anchor="ctr"/>
          <a:lstStyle/>
          <a:p>
            <a:pPr algn="ctr" indent="0" marL="0">
              <a:buNone/>
            </a:pPr>
            <a:r>
              <a:rPr lang="en-US" sz="950" b="1" dirty="0">
                <a:solidFill>
                  <a:srgbClr val="FFFFFF"/>
                </a:solidFill>
              </a:rPr>
              <a:t>✓ PASS</a:t>
            </a:r>
            <a:endParaRPr lang="en-US" sz="950" dirty="0"/>
          </a:p>
        </p:txBody>
      </p:sp>
      <p:sp>
        <p:nvSpPr>
          <p:cNvPr id="44" name="Shape 42"/>
          <p:cNvSpPr/>
          <p:nvPr/>
        </p:nvSpPr>
        <p:spPr>
          <a:xfrm>
            <a:off x="274320" y="3913632"/>
            <a:ext cx="8595360" cy="438912"/>
          </a:xfrm>
          <a:prstGeom prst="rect">
            <a:avLst/>
          </a:prstGeom>
          <a:solidFill>
            <a:srgbClr val="EEF6FB"/>
          </a:solidFill>
          <a:ln w="12700">
            <a:solidFill>
              <a:srgbClr val="D0DCF0"/>
            </a:solidFill>
            <a:prstDash val="solid"/>
          </a:ln>
        </p:spPr>
      </p:sp>
      <p:sp>
        <p:nvSpPr>
          <p:cNvPr id="45" name="Text 43"/>
          <p:cNvSpPr/>
          <p:nvPr/>
        </p:nvSpPr>
        <p:spPr>
          <a:xfrm>
            <a:off x="365760" y="3913632"/>
            <a:ext cx="5897880" cy="438912"/>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Order items with invalid seller_id (order_items → sellers)</a:t>
            </a:r>
            <a:endParaRPr lang="en-US" sz="1000" dirty="0"/>
          </a:p>
        </p:txBody>
      </p:sp>
      <p:sp>
        <p:nvSpPr>
          <p:cNvPr id="46" name="Text 44"/>
          <p:cNvSpPr/>
          <p:nvPr/>
        </p:nvSpPr>
        <p:spPr>
          <a:xfrm>
            <a:off x="6291072" y="3913632"/>
            <a:ext cx="1207008" cy="438912"/>
          </a:xfrm>
          <a:prstGeom prst="rect">
            <a:avLst/>
          </a:prstGeom>
          <a:noFill/>
          <a:ln/>
        </p:spPr>
        <p:txBody>
          <a:bodyPr wrap="square" rtlCol="0" anchor="ctr"/>
          <a:lstStyle/>
          <a:p>
            <a:pPr algn="ctr" indent="0" marL="0">
              <a:buNone/>
            </a:pPr>
            <a:r>
              <a:rPr lang="en-US" sz="1000" dirty="0">
                <a:solidFill>
                  <a:srgbClr val="334155"/>
                </a:solidFill>
              </a:rPr>
              <a:t>0 violations</a:t>
            </a:r>
            <a:endParaRPr lang="en-US" sz="1000" dirty="0"/>
          </a:p>
        </p:txBody>
      </p:sp>
      <p:sp>
        <p:nvSpPr>
          <p:cNvPr id="47" name="Shape 45"/>
          <p:cNvSpPr/>
          <p:nvPr/>
        </p:nvSpPr>
        <p:spPr>
          <a:xfrm>
            <a:off x="7589520" y="4023360"/>
            <a:ext cx="1115568" cy="256032"/>
          </a:xfrm>
          <a:prstGeom prst="roundRect">
            <a:avLst>
              <a:gd name="adj" fmla="val 28571"/>
            </a:avLst>
          </a:prstGeom>
          <a:solidFill>
            <a:srgbClr val="16A34A"/>
          </a:solidFill>
          <a:ln w="12700">
            <a:solidFill>
              <a:srgbClr val="16A34A"/>
            </a:solidFill>
            <a:prstDash val="solid"/>
          </a:ln>
        </p:spPr>
      </p:sp>
      <p:sp>
        <p:nvSpPr>
          <p:cNvPr id="48" name="Text 46"/>
          <p:cNvSpPr/>
          <p:nvPr/>
        </p:nvSpPr>
        <p:spPr>
          <a:xfrm>
            <a:off x="7589520" y="4023360"/>
            <a:ext cx="1115568" cy="256032"/>
          </a:xfrm>
          <a:prstGeom prst="rect">
            <a:avLst/>
          </a:prstGeom>
          <a:noFill/>
          <a:ln/>
        </p:spPr>
        <p:txBody>
          <a:bodyPr wrap="square" rtlCol="0" anchor="ctr"/>
          <a:lstStyle/>
          <a:p>
            <a:pPr algn="ctr" indent="0" marL="0">
              <a:buNone/>
            </a:pPr>
            <a:r>
              <a:rPr lang="en-US" sz="950" b="1" dirty="0">
                <a:solidFill>
                  <a:srgbClr val="FFFFFF"/>
                </a:solidFill>
              </a:rPr>
              <a:t>✓ PASS</a:t>
            </a:r>
            <a:endParaRPr lang="en-US" sz="950" dirty="0"/>
          </a:p>
        </p:txBody>
      </p:sp>
      <p:sp>
        <p:nvSpPr>
          <p:cNvPr id="49" name="Shape 47"/>
          <p:cNvSpPr/>
          <p:nvPr/>
        </p:nvSpPr>
        <p:spPr>
          <a:xfrm>
            <a:off x="274320" y="4352544"/>
            <a:ext cx="8595360" cy="438912"/>
          </a:xfrm>
          <a:prstGeom prst="rect">
            <a:avLst/>
          </a:prstGeom>
          <a:solidFill>
            <a:srgbClr val="FFFFFF"/>
          </a:solidFill>
          <a:ln w="12700">
            <a:solidFill>
              <a:srgbClr val="D0DCF0"/>
            </a:solidFill>
            <a:prstDash val="solid"/>
          </a:ln>
        </p:spPr>
      </p:sp>
      <p:sp>
        <p:nvSpPr>
          <p:cNvPr id="50" name="Text 48"/>
          <p:cNvSpPr/>
          <p:nvPr/>
        </p:nvSpPr>
        <p:spPr>
          <a:xfrm>
            <a:off x="365760" y="4352544"/>
            <a:ext cx="5897880" cy="438912"/>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Test orders row count matches expected 25% split</a:t>
            </a:r>
            <a:endParaRPr lang="en-US" sz="1000" dirty="0"/>
          </a:p>
        </p:txBody>
      </p:sp>
      <p:sp>
        <p:nvSpPr>
          <p:cNvPr id="51" name="Text 49"/>
          <p:cNvSpPr/>
          <p:nvPr/>
        </p:nvSpPr>
        <p:spPr>
          <a:xfrm>
            <a:off x="6291072" y="4352544"/>
            <a:ext cx="1207008" cy="438912"/>
          </a:xfrm>
          <a:prstGeom prst="rect">
            <a:avLst/>
          </a:prstGeom>
          <a:noFill/>
          <a:ln/>
        </p:spPr>
        <p:txBody>
          <a:bodyPr wrap="square" rtlCol="0" anchor="ctr"/>
          <a:lstStyle/>
          <a:p>
            <a:pPr algn="ctr" indent="0" marL="0">
              <a:buNone/>
            </a:pPr>
            <a:r>
              <a:rPr lang="en-US" sz="1000" dirty="0">
                <a:solidFill>
                  <a:srgbClr val="334155"/>
                </a:solidFill>
              </a:rPr>
              <a:t>24,860 rows ✓</a:t>
            </a:r>
            <a:endParaRPr lang="en-US" sz="1000" dirty="0"/>
          </a:p>
        </p:txBody>
      </p:sp>
      <p:sp>
        <p:nvSpPr>
          <p:cNvPr id="52" name="Shape 50"/>
          <p:cNvSpPr/>
          <p:nvPr/>
        </p:nvSpPr>
        <p:spPr>
          <a:xfrm>
            <a:off x="7589520" y="4462272"/>
            <a:ext cx="1115568" cy="256032"/>
          </a:xfrm>
          <a:prstGeom prst="roundRect">
            <a:avLst>
              <a:gd name="adj" fmla="val 28571"/>
            </a:avLst>
          </a:prstGeom>
          <a:solidFill>
            <a:srgbClr val="16A34A"/>
          </a:solidFill>
          <a:ln w="12700">
            <a:solidFill>
              <a:srgbClr val="16A34A"/>
            </a:solidFill>
            <a:prstDash val="solid"/>
          </a:ln>
        </p:spPr>
      </p:sp>
      <p:sp>
        <p:nvSpPr>
          <p:cNvPr id="53" name="Text 51"/>
          <p:cNvSpPr/>
          <p:nvPr/>
        </p:nvSpPr>
        <p:spPr>
          <a:xfrm>
            <a:off x="7589520" y="4462272"/>
            <a:ext cx="1115568" cy="256032"/>
          </a:xfrm>
          <a:prstGeom prst="rect">
            <a:avLst/>
          </a:prstGeom>
          <a:noFill/>
          <a:ln/>
        </p:spPr>
        <p:txBody>
          <a:bodyPr wrap="square" rtlCol="0" anchor="ctr"/>
          <a:lstStyle/>
          <a:p>
            <a:pPr algn="ctr" indent="0" marL="0">
              <a:buNone/>
            </a:pPr>
            <a:r>
              <a:rPr lang="en-US" sz="950" b="1" dirty="0">
                <a:solidFill>
                  <a:srgbClr val="FFFFFF"/>
                </a:solidFill>
              </a:rPr>
              <a:t>✓ PASS</a:t>
            </a:r>
            <a:endParaRPr lang="en-US" sz="950" dirty="0"/>
          </a:p>
        </p:txBody>
      </p:sp>
      <p:sp>
        <p:nvSpPr>
          <p:cNvPr id="54" name="Shape 52"/>
          <p:cNvSpPr/>
          <p:nvPr/>
        </p:nvSpPr>
        <p:spPr>
          <a:xfrm>
            <a:off x="731520" y="4727448"/>
            <a:ext cx="7680960" cy="256032"/>
          </a:xfrm>
          <a:prstGeom prst="roundRect">
            <a:avLst>
              <a:gd name="adj" fmla="val 35714"/>
            </a:avLst>
          </a:prstGeom>
          <a:solidFill>
            <a:srgbClr val="0D2137"/>
          </a:solidFill>
          <a:ln w="12700">
            <a:solidFill>
              <a:srgbClr val="02C39A"/>
            </a:solidFill>
            <a:prstDash val="solid"/>
          </a:ln>
          <a:effectLst>
            <a:outerShdw sx="100000" sy="100000" kx="0" ky="0" algn="bl" rotWithShape="0" blurRad="127000" dist="50800" dir="2700000">
              <a:srgbClr val="000000">
                <a:alpha val="20000"/>
              </a:srgbClr>
            </a:outerShdw>
          </a:effectLst>
        </p:spPr>
      </p:sp>
      <p:sp>
        <p:nvSpPr>
          <p:cNvPr id="55" name="Text 53"/>
          <p:cNvSpPr/>
          <p:nvPr/>
        </p:nvSpPr>
        <p:spPr>
          <a:xfrm>
            <a:off x="731520" y="4727448"/>
            <a:ext cx="7680960" cy="256032"/>
          </a:xfrm>
          <a:prstGeom prst="rect">
            <a:avLst/>
          </a:prstGeom>
          <a:noFill/>
          <a:ln/>
        </p:spPr>
        <p:txBody>
          <a:bodyPr wrap="square" rtlCol="0" anchor="ctr"/>
          <a:lstStyle/>
          <a:p>
            <a:pPr algn="ctr" indent="0" marL="0">
              <a:buNone/>
            </a:pPr>
            <a:r>
              <a:rPr lang="en-US" sz="1100" b="1" dirty="0">
                <a:solidFill>
                  <a:srgbClr val="02C39A"/>
                </a:solidFill>
                <a:latin typeface="Calibri" pitchFamily="34" charset="0"/>
                <a:ea typeface="Calibri" pitchFamily="34" charset="-122"/>
                <a:cs typeface="Calibri" pitchFamily="34" charset="-120"/>
              </a:rPr>
              <a:t>🎯  Zero broken FK references on unseen data — pipeline generalises correctly to new input</a:t>
            </a:r>
            <a:endParaRPr lang="en-US" sz="1100" dirty="0"/>
          </a:p>
        </p:txBody>
      </p:sp>
      <p:sp>
        <p:nvSpPr>
          <p:cNvPr id="56" name="Shape 54"/>
          <p:cNvSpPr/>
          <p:nvPr/>
        </p:nvSpPr>
        <p:spPr>
          <a:xfrm>
            <a:off x="0" y="5047488"/>
            <a:ext cx="9144000" cy="91440"/>
          </a:xfrm>
          <a:prstGeom prst="rect">
            <a:avLst/>
          </a:prstGeom>
          <a:solidFill>
            <a:srgbClr val="0D2137"/>
          </a:solidFill>
          <a:ln w="12700">
            <a:solidFill>
              <a:srgbClr val="0D2137"/>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sp>
      <p:sp>
        <p:nvSpPr>
          <p:cNvPr id="3" name="Text 1"/>
          <p:cNvSpPr/>
          <p:nvPr/>
        </p:nvSpPr>
        <p:spPr>
          <a:xfrm>
            <a:off x="411480" y="109728"/>
            <a:ext cx="82296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Power BI Dashboard — Tab 1: Overview &amp; Order Trends</a:t>
            </a:r>
            <a:endParaRPr lang="en-US" sz="2200" dirty="0"/>
          </a:p>
        </p:txBody>
      </p:sp>
      <p:pic>
        <p:nvPicPr>
          <p:cNvPr id="4" name="Image 0" descr="preencoded.png">    </p:cNvPr>
          <p:cNvPicPr>
            <a:picLocks noChangeAspect="1"/>
          </p:cNvPicPr>
          <p:nvPr/>
        </p:nvPicPr>
        <p:blipFill>
          <a:blip r:embed="rId1"/>
          <a:stretch>
            <a:fillRect/>
          </a:stretch>
        </p:blipFill>
        <p:spPr>
          <a:xfrm>
            <a:off x="228600" y="658368"/>
            <a:ext cx="6583680" cy="3657600"/>
          </a:xfrm>
          <a:prstGeom prst="rect">
            <a:avLst/>
          </a:prstGeom>
          <a:effectLst>
            <a:outerShdw sx="100000" sy="100000" kx="0" ky="0" algn="bl" rotWithShape="0" blurRad="127000" dist="50800" dir="2700000">
              <a:srgbClr val="000000">
                <a:alpha val="20000"/>
              </a:srgbClr>
            </a:outerShdw>
          </a:effectLst>
        </p:spPr>
      </p:pic>
      <p:sp>
        <p:nvSpPr>
          <p:cNvPr id="5" name="Shape 2"/>
          <p:cNvSpPr/>
          <p:nvPr/>
        </p:nvSpPr>
        <p:spPr>
          <a:xfrm>
            <a:off x="6995160" y="658368"/>
            <a:ext cx="1920240" cy="841248"/>
          </a:xfrm>
          <a:prstGeom prst="roundRect">
            <a:avLst>
              <a:gd name="adj" fmla="val 10870"/>
            </a:avLst>
          </a:prstGeom>
          <a:solidFill>
            <a:srgbClr val="112B45"/>
          </a:solidFill>
          <a:ln w="12700">
            <a:solidFill>
              <a:srgbClr val="00B4D8"/>
            </a:solidFill>
            <a:prstDash val="solid"/>
          </a:ln>
          <a:effectLst>
            <a:outerShdw sx="100000" sy="100000" kx="0" ky="0" algn="bl" rotWithShape="0" blurRad="127000" dist="50800" dir="2700000">
              <a:srgbClr val="000000">
                <a:alpha val="20000"/>
              </a:srgbClr>
            </a:outerShdw>
          </a:effectLst>
        </p:spPr>
      </p:sp>
      <p:sp>
        <p:nvSpPr>
          <p:cNvPr id="6" name="Text 3"/>
          <p:cNvSpPr/>
          <p:nvPr/>
        </p:nvSpPr>
        <p:spPr>
          <a:xfrm>
            <a:off x="6995160" y="694944"/>
            <a:ext cx="1920240" cy="475488"/>
          </a:xfrm>
          <a:prstGeom prst="rect">
            <a:avLst/>
          </a:prstGeom>
          <a:noFill/>
          <a:ln/>
        </p:spPr>
        <p:txBody>
          <a:bodyPr wrap="square" rtlCol="0" anchor="ctr"/>
          <a:lstStyle/>
          <a:p>
            <a:pPr algn="ctr" indent="0" marL="0">
              <a:buNone/>
            </a:pPr>
            <a:r>
              <a:rPr lang="en-US" sz="2000" b="1" dirty="0">
                <a:solidFill>
                  <a:srgbClr val="00B4D8"/>
                </a:solidFill>
                <a:latin typeface="Calibri" pitchFamily="34" charset="0"/>
                <a:ea typeface="Calibri" pitchFamily="34" charset="-122"/>
                <a:cs typeface="Calibri" pitchFamily="34" charset="-120"/>
              </a:rPr>
              <a:t>R$10.15M</a:t>
            </a:r>
            <a:endParaRPr lang="en-US" sz="2000" dirty="0"/>
          </a:p>
        </p:txBody>
      </p:sp>
      <p:sp>
        <p:nvSpPr>
          <p:cNvPr id="7" name="Text 4"/>
          <p:cNvSpPr/>
          <p:nvPr/>
        </p:nvSpPr>
        <p:spPr>
          <a:xfrm>
            <a:off x="6995160" y="1161288"/>
            <a:ext cx="1920240" cy="274320"/>
          </a:xfrm>
          <a:prstGeom prst="rect">
            <a:avLst/>
          </a:prstGeom>
          <a:noFill/>
          <a:ln/>
        </p:spPr>
        <p:txBody>
          <a:bodyPr wrap="square" rtlCol="0" anchor="ctr"/>
          <a:lstStyle/>
          <a:p>
            <a:pPr algn="ctr" indent="0" marL="0">
              <a:buNone/>
            </a:pPr>
            <a:r>
              <a:rPr lang="en-US" sz="850" dirty="0">
                <a:solidFill>
                  <a:srgbClr val="90AFC5"/>
                </a:solidFill>
                <a:latin typeface="Calibri" pitchFamily="34" charset="0"/>
                <a:ea typeface="Calibri" pitchFamily="34" charset="-122"/>
                <a:cs typeface="Calibri" pitchFamily="34" charset="-120"/>
              </a:rPr>
              <a:t>Total Revenue</a:t>
            </a:r>
            <a:endParaRPr lang="en-US" sz="850" dirty="0"/>
          </a:p>
        </p:txBody>
      </p:sp>
      <p:sp>
        <p:nvSpPr>
          <p:cNvPr id="8" name="Shape 5"/>
          <p:cNvSpPr/>
          <p:nvPr/>
        </p:nvSpPr>
        <p:spPr>
          <a:xfrm>
            <a:off x="6995160" y="1591056"/>
            <a:ext cx="1920240" cy="841248"/>
          </a:xfrm>
          <a:prstGeom prst="roundRect">
            <a:avLst>
              <a:gd name="adj" fmla="val 10870"/>
            </a:avLst>
          </a:prstGeom>
          <a:solidFill>
            <a:srgbClr val="112B45"/>
          </a:solidFill>
          <a:ln w="12700">
            <a:solidFill>
              <a:srgbClr val="02C39A"/>
            </a:solidFill>
            <a:prstDash val="solid"/>
          </a:ln>
          <a:effectLst>
            <a:outerShdw sx="100000" sy="100000" kx="0" ky="0" algn="bl" rotWithShape="0" blurRad="127000" dist="50800" dir="2700000">
              <a:srgbClr val="000000">
                <a:alpha val="20000"/>
              </a:srgbClr>
            </a:outerShdw>
          </a:effectLst>
        </p:spPr>
      </p:sp>
      <p:sp>
        <p:nvSpPr>
          <p:cNvPr id="9" name="Text 6"/>
          <p:cNvSpPr/>
          <p:nvPr/>
        </p:nvSpPr>
        <p:spPr>
          <a:xfrm>
            <a:off x="6995160" y="1627632"/>
            <a:ext cx="1920240" cy="475488"/>
          </a:xfrm>
          <a:prstGeom prst="rect">
            <a:avLst/>
          </a:prstGeom>
          <a:noFill/>
          <a:ln/>
        </p:spPr>
        <p:txBody>
          <a:bodyPr wrap="square" rtlCol="0" anchor="ctr"/>
          <a:lstStyle/>
          <a:p>
            <a:pPr algn="ctr" indent="0" marL="0">
              <a:buNone/>
            </a:pPr>
            <a:r>
              <a:rPr lang="en-US" sz="2000" b="1" dirty="0">
                <a:solidFill>
                  <a:srgbClr val="02C39A"/>
                </a:solidFill>
                <a:latin typeface="Calibri" pitchFamily="34" charset="0"/>
                <a:ea typeface="Calibri" pitchFamily="34" charset="-122"/>
                <a:cs typeface="Calibri" pitchFamily="34" charset="-120"/>
              </a:rPr>
              <a:t>74,581</a:t>
            </a:r>
            <a:endParaRPr lang="en-US" sz="2000" dirty="0"/>
          </a:p>
        </p:txBody>
      </p:sp>
      <p:sp>
        <p:nvSpPr>
          <p:cNvPr id="10" name="Text 7"/>
          <p:cNvSpPr/>
          <p:nvPr/>
        </p:nvSpPr>
        <p:spPr>
          <a:xfrm>
            <a:off x="6995160" y="2093976"/>
            <a:ext cx="1920240" cy="274320"/>
          </a:xfrm>
          <a:prstGeom prst="rect">
            <a:avLst/>
          </a:prstGeom>
          <a:noFill/>
          <a:ln/>
        </p:spPr>
        <p:txBody>
          <a:bodyPr wrap="square" rtlCol="0" anchor="ctr"/>
          <a:lstStyle/>
          <a:p>
            <a:pPr algn="ctr" indent="0" marL="0">
              <a:buNone/>
            </a:pPr>
            <a:r>
              <a:rPr lang="en-US" sz="850" dirty="0">
                <a:solidFill>
                  <a:srgbClr val="90AFC5"/>
                </a:solidFill>
                <a:latin typeface="Calibri" pitchFamily="34" charset="0"/>
                <a:ea typeface="Calibri" pitchFamily="34" charset="-122"/>
                <a:cs typeface="Calibri" pitchFamily="34" charset="-120"/>
              </a:rPr>
              <a:t>Total Orders</a:t>
            </a:r>
            <a:endParaRPr lang="en-US" sz="850" dirty="0"/>
          </a:p>
        </p:txBody>
      </p:sp>
      <p:sp>
        <p:nvSpPr>
          <p:cNvPr id="11" name="Shape 8"/>
          <p:cNvSpPr/>
          <p:nvPr/>
        </p:nvSpPr>
        <p:spPr>
          <a:xfrm>
            <a:off x="6995160" y="2523744"/>
            <a:ext cx="1920240" cy="841248"/>
          </a:xfrm>
          <a:prstGeom prst="roundRect">
            <a:avLst>
              <a:gd name="adj" fmla="val 10870"/>
            </a:avLst>
          </a:prstGeom>
          <a:solidFill>
            <a:srgbClr val="112B45"/>
          </a:solidFill>
          <a:ln w="12700">
            <a:solidFill>
              <a:srgbClr val="F4A261"/>
            </a:solidFill>
            <a:prstDash val="solid"/>
          </a:ln>
          <a:effectLst>
            <a:outerShdw sx="100000" sy="100000" kx="0" ky="0" algn="bl" rotWithShape="0" blurRad="127000" dist="50800" dir="2700000">
              <a:srgbClr val="000000">
                <a:alpha val="20000"/>
              </a:srgbClr>
            </a:outerShdw>
          </a:effectLst>
        </p:spPr>
      </p:sp>
      <p:sp>
        <p:nvSpPr>
          <p:cNvPr id="12" name="Text 9"/>
          <p:cNvSpPr/>
          <p:nvPr/>
        </p:nvSpPr>
        <p:spPr>
          <a:xfrm>
            <a:off x="6995160" y="2560320"/>
            <a:ext cx="1920240" cy="475488"/>
          </a:xfrm>
          <a:prstGeom prst="rect">
            <a:avLst/>
          </a:prstGeom>
          <a:noFill/>
          <a:ln/>
        </p:spPr>
        <p:txBody>
          <a:bodyPr wrap="square" rtlCol="0" anchor="ctr"/>
          <a:lstStyle/>
          <a:p>
            <a:pPr algn="ctr" indent="0" marL="0">
              <a:buNone/>
            </a:pPr>
            <a:r>
              <a:rPr lang="en-US" sz="2000" b="1" dirty="0">
                <a:solidFill>
                  <a:srgbClr val="F4A261"/>
                </a:solidFill>
                <a:latin typeface="Calibri" pitchFamily="34" charset="0"/>
                <a:ea typeface="Calibri" pitchFamily="34" charset="-122"/>
                <a:cs typeface="Calibri" pitchFamily="34" charset="-120"/>
              </a:rPr>
              <a:t>5.00</a:t>
            </a:r>
            <a:endParaRPr lang="en-US" sz="2000" dirty="0"/>
          </a:p>
        </p:txBody>
      </p:sp>
      <p:sp>
        <p:nvSpPr>
          <p:cNvPr id="13" name="Text 10"/>
          <p:cNvSpPr/>
          <p:nvPr/>
        </p:nvSpPr>
        <p:spPr>
          <a:xfrm>
            <a:off x="6995160" y="3026664"/>
            <a:ext cx="1920240" cy="274320"/>
          </a:xfrm>
          <a:prstGeom prst="rect">
            <a:avLst/>
          </a:prstGeom>
          <a:noFill/>
          <a:ln/>
        </p:spPr>
        <p:txBody>
          <a:bodyPr wrap="square" rtlCol="0" anchor="ctr"/>
          <a:lstStyle/>
          <a:p>
            <a:pPr algn="ctr" indent="0" marL="0">
              <a:buNone/>
            </a:pPr>
            <a:r>
              <a:rPr lang="en-US" sz="850" dirty="0">
                <a:solidFill>
                  <a:srgbClr val="90AFC5"/>
                </a:solidFill>
                <a:latin typeface="Calibri" pitchFamily="34" charset="0"/>
                <a:ea typeface="Calibri" pitchFamily="34" charset="-122"/>
                <a:cs typeface="Calibri" pitchFamily="34" charset="-120"/>
              </a:rPr>
              <a:t>Median Review Score</a:t>
            </a:r>
            <a:endParaRPr lang="en-US" sz="850" dirty="0"/>
          </a:p>
        </p:txBody>
      </p:sp>
      <p:sp>
        <p:nvSpPr>
          <p:cNvPr id="14" name="Shape 11"/>
          <p:cNvSpPr/>
          <p:nvPr/>
        </p:nvSpPr>
        <p:spPr>
          <a:xfrm>
            <a:off x="6995160" y="3456432"/>
            <a:ext cx="1920240" cy="841248"/>
          </a:xfrm>
          <a:prstGeom prst="roundRect">
            <a:avLst>
              <a:gd name="adj" fmla="val 10870"/>
            </a:avLst>
          </a:prstGeom>
          <a:solidFill>
            <a:srgbClr val="112B45"/>
          </a:solidFill>
          <a:ln w="12700">
            <a:solidFill>
              <a:srgbClr val="C084FC"/>
            </a:solidFill>
            <a:prstDash val="solid"/>
          </a:ln>
          <a:effectLst>
            <a:outerShdw sx="100000" sy="100000" kx="0" ky="0" algn="bl" rotWithShape="0" blurRad="127000" dist="50800" dir="2700000">
              <a:srgbClr val="000000">
                <a:alpha val="20000"/>
              </a:srgbClr>
            </a:outerShdw>
          </a:effectLst>
        </p:spPr>
      </p:sp>
      <p:sp>
        <p:nvSpPr>
          <p:cNvPr id="15" name="Text 12"/>
          <p:cNvSpPr/>
          <p:nvPr/>
        </p:nvSpPr>
        <p:spPr>
          <a:xfrm>
            <a:off x="6995160" y="3493008"/>
            <a:ext cx="1920240" cy="475488"/>
          </a:xfrm>
          <a:prstGeom prst="rect">
            <a:avLst/>
          </a:prstGeom>
          <a:noFill/>
          <a:ln/>
        </p:spPr>
        <p:txBody>
          <a:bodyPr wrap="square" rtlCol="0" anchor="ctr"/>
          <a:lstStyle/>
          <a:p>
            <a:pPr algn="ctr" indent="0" marL="0">
              <a:buNone/>
            </a:pPr>
            <a:r>
              <a:rPr lang="en-US" sz="2000" b="1" dirty="0">
                <a:solidFill>
                  <a:srgbClr val="C084FC"/>
                </a:solidFill>
                <a:latin typeface="Calibri" pitchFamily="34" charset="0"/>
                <a:ea typeface="Calibri" pitchFamily="34" charset="-122"/>
                <a:cs typeface="Calibri" pitchFamily="34" charset="-120"/>
              </a:rPr>
              <a:t>3,095</a:t>
            </a:r>
            <a:endParaRPr lang="en-US" sz="2000" dirty="0"/>
          </a:p>
        </p:txBody>
      </p:sp>
      <p:sp>
        <p:nvSpPr>
          <p:cNvPr id="16" name="Text 13"/>
          <p:cNvSpPr/>
          <p:nvPr/>
        </p:nvSpPr>
        <p:spPr>
          <a:xfrm>
            <a:off x="6995160" y="3959352"/>
            <a:ext cx="1920240" cy="274320"/>
          </a:xfrm>
          <a:prstGeom prst="rect">
            <a:avLst/>
          </a:prstGeom>
          <a:noFill/>
          <a:ln/>
        </p:spPr>
        <p:txBody>
          <a:bodyPr wrap="square" rtlCol="0" anchor="ctr"/>
          <a:lstStyle/>
          <a:p>
            <a:pPr algn="ctr" indent="0" marL="0">
              <a:buNone/>
            </a:pPr>
            <a:r>
              <a:rPr lang="en-US" sz="850" dirty="0">
                <a:solidFill>
                  <a:srgbClr val="90AFC5"/>
                </a:solidFill>
                <a:latin typeface="Calibri" pitchFamily="34" charset="0"/>
                <a:ea typeface="Calibri" pitchFamily="34" charset="-122"/>
                <a:cs typeface="Calibri" pitchFamily="34" charset="-120"/>
              </a:rPr>
              <a:t>Total Sellers</a:t>
            </a:r>
            <a:endParaRPr lang="en-US" sz="850" dirty="0"/>
          </a:p>
        </p:txBody>
      </p:sp>
      <p:sp>
        <p:nvSpPr>
          <p:cNvPr id="17" name="Shape 14"/>
          <p:cNvSpPr/>
          <p:nvPr/>
        </p:nvSpPr>
        <p:spPr>
          <a:xfrm>
            <a:off x="0" y="5047488"/>
            <a:ext cx="9144000" cy="91440"/>
          </a:xfrm>
          <a:prstGeom prst="rect">
            <a:avLst/>
          </a:prstGeom>
          <a:solidFill>
            <a:srgbClr val="14345A"/>
          </a:solidFill>
          <a:ln w="12700">
            <a:solidFill>
              <a:srgbClr val="14345A"/>
            </a:solidFill>
            <a:prstDash val="solid"/>
          </a:ln>
        </p:spPr>
      </p:sp>
      <p:sp>
        <p:nvSpPr>
          <p:cNvPr id="18" name="Text 15"/>
          <p:cNvSpPr/>
          <p:nvPr/>
        </p:nvSpPr>
        <p:spPr>
          <a:xfrm>
            <a:off x="0" y="5047488"/>
            <a:ext cx="9144000" cy="91440"/>
          </a:xfrm>
          <a:prstGeom prst="rect">
            <a:avLst/>
          </a:prstGeom>
          <a:noFill/>
          <a:ln/>
        </p:spPr>
        <p:txBody>
          <a:bodyPr wrap="square" rtlCol="0" anchor="ctr"/>
          <a:lstStyle/>
          <a:p>
            <a:pPr algn="ctr" indent="0" marL="0">
              <a:buNone/>
            </a:pPr>
            <a:r>
              <a:rPr lang="en-US" sz="850" dirty="0">
                <a:solidFill>
                  <a:srgbClr val="00B4D8"/>
                </a:solidFill>
              </a:rPr>
              <a:t>SP dominates with 42% of orders  •  97% delivered  •  Steady growth Jan 2017 → mid 2018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sp>
      <p:sp>
        <p:nvSpPr>
          <p:cNvPr id="3" name="Text 1"/>
          <p:cNvSpPr/>
          <p:nvPr/>
        </p:nvSpPr>
        <p:spPr>
          <a:xfrm>
            <a:off x="411480" y="109728"/>
            <a:ext cx="82296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Power BI Dashboard — Tab 2: Delivery Performance</a:t>
            </a:r>
            <a:endParaRPr lang="en-US" sz="2200" dirty="0"/>
          </a:p>
        </p:txBody>
      </p:sp>
      <p:pic>
        <p:nvPicPr>
          <p:cNvPr id="4" name="Image 0" descr="preencoded.png">    </p:cNvPr>
          <p:cNvPicPr>
            <a:picLocks noChangeAspect="1"/>
          </p:cNvPicPr>
          <p:nvPr/>
        </p:nvPicPr>
        <p:blipFill>
          <a:blip r:embed="rId1"/>
          <a:stretch>
            <a:fillRect/>
          </a:stretch>
        </p:blipFill>
        <p:spPr>
          <a:xfrm>
            <a:off x="228600" y="658368"/>
            <a:ext cx="6583680" cy="3657600"/>
          </a:xfrm>
          <a:prstGeom prst="rect">
            <a:avLst/>
          </a:prstGeom>
          <a:effectLst>
            <a:outerShdw sx="100000" sy="100000" kx="0" ky="0" algn="bl" rotWithShape="0" blurRad="127000" dist="50800" dir="2700000">
              <a:srgbClr val="000000">
                <a:alpha val="20000"/>
              </a:srgbClr>
            </a:outerShdw>
          </a:effectLst>
        </p:spPr>
      </p:pic>
      <p:sp>
        <p:nvSpPr>
          <p:cNvPr id="5" name="Shape 2"/>
          <p:cNvSpPr/>
          <p:nvPr/>
        </p:nvSpPr>
        <p:spPr>
          <a:xfrm>
            <a:off x="6995160" y="658368"/>
            <a:ext cx="1920240" cy="841248"/>
          </a:xfrm>
          <a:prstGeom prst="roundRect">
            <a:avLst>
              <a:gd name="adj" fmla="val 10870"/>
            </a:avLst>
          </a:prstGeom>
          <a:solidFill>
            <a:srgbClr val="112B45"/>
          </a:solidFill>
          <a:ln w="12700">
            <a:solidFill>
              <a:srgbClr val="02C39A"/>
            </a:solidFill>
            <a:prstDash val="solid"/>
          </a:ln>
          <a:effectLst>
            <a:outerShdw sx="100000" sy="100000" kx="0" ky="0" algn="bl" rotWithShape="0" blurRad="127000" dist="50800" dir="2700000">
              <a:srgbClr val="000000">
                <a:alpha val="20000"/>
              </a:srgbClr>
            </a:outerShdw>
          </a:effectLst>
        </p:spPr>
      </p:sp>
      <p:sp>
        <p:nvSpPr>
          <p:cNvPr id="6" name="Text 3"/>
          <p:cNvSpPr/>
          <p:nvPr/>
        </p:nvSpPr>
        <p:spPr>
          <a:xfrm>
            <a:off x="6995160" y="694944"/>
            <a:ext cx="1920240" cy="475488"/>
          </a:xfrm>
          <a:prstGeom prst="rect">
            <a:avLst/>
          </a:prstGeom>
          <a:noFill/>
          <a:ln/>
        </p:spPr>
        <p:txBody>
          <a:bodyPr wrap="square" rtlCol="0" anchor="ctr"/>
          <a:lstStyle/>
          <a:p>
            <a:pPr algn="ctr" indent="0" marL="0">
              <a:buNone/>
            </a:pPr>
            <a:r>
              <a:rPr lang="en-US" sz="2000" b="1" dirty="0">
                <a:solidFill>
                  <a:srgbClr val="02C39A"/>
                </a:solidFill>
                <a:latin typeface="Calibri" pitchFamily="34" charset="0"/>
                <a:ea typeface="Calibri" pitchFamily="34" charset="-122"/>
                <a:cs typeface="Calibri" pitchFamily="34" charset="-120"/>
              </a:rPr>
              <a:t>68.7K</a:t>
            </a:r>
            <a:endParaRPr lang="en-US" sz="2000" dirty="0"/>
          </a:p>
        </p:txBody>
      </p:sp>
      <p:sp>
        <p:nvSpPr>
          <p:cNvPr id="7" name="Text 4"/>
          <p:cNvSpPr/>
          <p:nvPr/>
        </p:nvSpPr>
        <p:spPr>
          <a:xfrm>
            <a:off x="6995160" y="1161288"/>
            <a:ext cx="1920240" cy="274320"/>
          </a:xfrm>
          <a:prstGeom prst="rect">
            <a:avLst/>
          </a:prstGeom>
          <a:noFill/>
          <a:ln/>
        </p:spPr>
        <p:txBody>
          <a:bodyPr wrap="square" rtlCol="0" anchor="ctr"/>
          <a:lstStyle/>
          <a:p>
            <a:pPr algn="ctr" indent="0" marL="0">
              <a:buNone/>
            </a:pPr>
            <a:r>
              <a:rPr lang="en-US" sz="850" dirty="0">
                <a:solidFill>
                  <a:srgbClr val="90AFC5"/>
                </a:solidFill>
                <a:latin typeface="Calibri" pitchFamily="34" charset="0"/>
                <a:ea typeface="Calibri" pitchFamily="34" charset="-122"/>
                <a:cs typeface="Calibri" pitchFamily="34" charset="-120"/>
              </a:rPr>
              <a:t>On-Time Deliveries</a:t>
            </a:r>
            <a:endParaRPr lang="en-US" sz="850" dirty="0"/>
          </a:p>
        </p:txBody>
      </p:sp>
      <p:sp>
        <p:nvSpPr>
          <p:cNvPr id="8" name="Shape 5"/>
          <p:cNvSpPr/>
          <p:nvPr/>
        </p:nvSpPr>
        <p:spPr>
          <a:xfrm>
            <a:off x="6995160" y="1591056"/>
            <a:ext cx="1920240" cy="841248"/>
          </a:xfrm>
          <a:prstGeom prst="roundRect">
            <a:avLst>
              <a:gd name="adj" fmla="val 10870"/>
            </a:avLst>
          </a:prstGeom>
          <a:solidFill>
            <a:srgbClr val="112B45"/>
          </a:solidFill>
          <a:ln w="12700">
            <a:solidFill>
              <a:srgbClr val="E63946"/>
            </a:solidFill>
            <a:prstDash val="solid"/>
          </a:ln>
          <a:effectLst>
            <a:outerShdw sx="100000" sy="100000" kx="0" ky="0" algn="bl" rotWithShape="0" blurRad="127000" dist="50800" dir="2700000">
              <a:srgbClr val="000000">
                <a:alpha val="20000"/>
              </a:srgbClr>
            </a:outerShdw>
          </a:effectLst>
        </p:spPr>
      </p:sp>
      <p:sp>
        <p:nvSpPr>
          <p:cNvPr id="9" name="Text 6"/>
          <p:cNvSpPr/>
          <p:nvPr/>
        </p:nvSpPr>
        <p:spPr>
          <a:xfrm>
            <a:off x="6995160" y="1627632"/>
            <a:ext cx="1920240" cy="475488"/>
          </a:xfrm>
          <a:prstGeom prst="rect">
            <a:avLst/>
          </a:prstGeom>
          <a:noFill/>
          <a:ln/>
        </p:spPr>
        <p:txBody>
          <a:bodyPr wrap="square" rtlCol="0" anchor="ctr"/>
          <a:lstStyle/>
          <a:p>
            <a:pPr algn="ctr" indent="0" marL="0">
              <a:buNone/>
            </a:pPr>
            <a:r>
              <a:rPr lang="en-US" sz="2000" b="1" dirty="0">
                <a:solidFill>
                  <a:srgbClr val="E63946"/>
                </a:solidFill>
                <a:latin typeface="Calibri" pitchFamily="34" charset="0"/>
                <a:ea typeface="Calibri" pitchFamily="34" charset="-122"/>
                <a:cs typeface="Calibri" pitchFamily="34" charset="-120"/>
              </a:rPr>
              <a:t>5.881K</a:t>
            </a:r>
            <a:endParaRPr lang="en-US" sz="2000" dirty="0"/>
          </a:p>
        </p:txBody>
      </p:sp>
      <p:sp>
        <p:nvSpPr>
          <p:cNvPr id="10" name="Text 7"/>
          <p:cNvSpPr/>
          <p:nvPr/>
        </p:nvSpPr>
        <p:spPr>
          <a:xfrm>
            <a:off x="6995160" y="2093976"/>
            <a:ext cx="1920240" cy="274320"/>
          </a:xfrm>
          <a:prstGeom prst="rect">
            <a:avLst/>
          </a:prstGeom>
          <a:noFill/>
          <a:ln/>
        </p:spPr>
        <p:txBody>
          <a:bodyPr wrap="square" rtlCol="0" anchor="ctr"/>
          <a:lstStyle/>
          <a:p>
            <a:pPr algn="ctr" indent="0" marL="0">
              <a:buNone/>
            </a:pPr>
            <a:r>
              <a:rPr lang="en-US" sz="850" dirty="0">
                <a:solidFill>
                  <a:srgbClr val="90AFC5"/>
                </a:solidFill>
                <a:latin typeface="Calibri" pitchFamily="34" charset="0"/>
                <a:ea typeface="Calibri" pitchFamily="34" charset="-122"/>
                <a:cs typeface="Calibri" pitchFamily="34" charset="-120"/>
              </a:rPr>
              <a:t>Late Deliveries</a:t>
            </a:r>
            <a:endParaRPr lang="en-US" sz="850" dirty="0"/>
          </a:p>
        </p:txBody>
      </p:sp>
      <p:sp>
        <p:nvSpPr>
          <p:cNvPr id="11" name="Shape 8"/>
          <p:cNvSpPr/>
          <p:nvPr/>
        </p:nvSpPr>
        <p:spPr>
          <a:xfrm>
            <a:off x="6995160" y="2523744"/>
            <a:ext cx="1920240" cy="841248"/>
          </a:xfrm>
          <a:prstGeom prst="roundRect">
            <a:avLst>
              <a:gd name="adj" fmla="val 10870"/>
            </a:avLst>
          </a:prstGeom>
          <a:solidFill>
            <a:srgbClr val="112B45"/>
          </a:solidFill>
          <a:ln w="12700">
            <a:solidFill>
              <a:srgbClr val="F4A261"/>
            </a:solidFill>
            <a:prstDash val="solid"/>
          </a:ln>
          <a:effectLst>
            <a:outerShdw sx="100000" sy="100000" kx="0" ky="0" algn="bl" rotWithShape="0" blurRad="127000" dist="50800" dir="2700000">
              <a:srgbClr val="000000">
                <a:alpha val="20000"/>
              </a:srgbClr>
            </a:outerShdw>
          </a:effectLst>
        </p:spPr>
      </p:sp>
      <p:sp>
        <p:nvSpPr>
          <p:cNvPr id="12" name="Text 9"/>
          <p:cNvSpPr/>
          <p:nvPr/>
        </p:nvSpPr>
        <p:spPr>
          <a:xfrm>
            <a:off x="6995160" y="2560320"/>
            <a:ext cx="1920240" cy="475488"/>
          </a:xfrm>
          <a:prstGeom prst="rect">
            <a:avLst/>
          </a:prstGeom>
          <a:noFill/>
          <a:ln/>
        </p:spPr>
        <p:txBody>
          <a:bodyPr wrap="square" rtlCol="0" anchor="ctr"/>
          <a:lstStyle/>
          <a:p>
            <a:pPr algn="ctr" indent="0" marL="0">
              <a:buNone/>
            </a:pPr>
            <a:r>
              <a:rPr lang="en-US" sz="2000" b="1" dirty="0">
                <a:solidFill>
                  <a:srgbClr val="F4A261"/>
                </a:solidFill>
                <a:latin typeface="Calibri" pitchFamily="34" charset="0"/>
                <a:ea typeface="Calibri" pitchFamily="34" charset="-122"/>
                <a:cs typeface="Calibri" pitchFamily="34" charset="-120"/>
              </a:rPr>
              <a:t>29</a:t>
            </a:r>
            <a:endParaRPr lang="en-US" sz="2000" dirty="0"/>
          </a:p>
        </p:txBody>
      </p:sp>
      <p:sp>
        <p:nvSpPr>
          <p:cNvPr id="13" name="Text 10"/>
          <p:cNvSpPr/>
          <p:nvPr/>
        </p:nvSpPr>
        <p:spPr>
          <a:xfrm>
            <a:off x="6995160" y="3026664"/>
            <a:ext cx="1920240" cy="274320"/>
          </a:xfrm>
          <a:prstGeom prst="rect">
            <a:avLst/>
          </a:prstGeom>
          <a:noFill/>
          <a:ln/>
        </p:spPr>
        <p:txBody>
          <a:bodyPr wrap="square" rtlCol="0" anchor="ctr"/>
          <a:lstStyle/>
          <a:p>
            <a:pPr algn="ctr" indent="0" marL="0">
              <a:buNone/>
            </a:pPr>
            <a:r>
              <a:rPr lang="en-US" sz="850" dirty="0">
                <a:solidFill>
                  <a:srgbClr val="90AFC5"/>
                </a:solidFill>
                <a:latin typeface="Calibri" pitchFamily="34" charset="0"/>
                <a:ea typeface="Calibri" pitchFamily="34" charset="-122"/>
                <a:cs typeface="Calibri" pitchFamily="34" charset="-120"/>
              </a:rPr>
              <a:t>Median Delivery Days</a:t>
            </a:r>
            <a:endParaRPr lang="en-US" sz="850" dirty="0"/>
          </a:p>
        </p:txBody>
      </p:sp>
      <p:sp>
        <p:nvSpPr>
          <p:cNvPr id="14" name="Shape 11"/>
          <p:cNvSpPr/>
          <p:nvPr/>
        </p:nvSpPr>
        <p:spPr>
          <a:xfrm>
            <a:off x="6995160" y="3456432"/>
            <a:ext cx="1920240" cy="841248"/>
          </a:xfrm>
          <a:prstGeom prst="roundRect">
            <a:avLst>
              <a:gd name="adj" fmla="val 10870"/>
            </a:avLst>
          </a:prstGeom>
          <a:solidFill>
            <a:srgbClr val="112B45"/>
          </a:solidFill>
          <a:ln w="12700">
            <a:solidFill>
              <a:srgbClr val="00B4D8"/>
            </a:solidFill>
            <a:prstDash val="solid"/>
          </a:ln>
          <a:effectLst>
            <a:outerShdw sx="100000" sy="100000" kx="0" ky="0" algn="bl" rotWithShape="0" blurRad="127000" dist="50800" dir="2700000">
              <a:srgbClr val="000000">
                <a:alpha val="20000"/>
              </a:srgbClr>
            </a:outerShdw>
          </a:effectLst>
        </p:spPr>
      </p:sp>
      <p:sp>
        <p:nvSpPr>
          <p:cNvPr id="15" name="Text 12"/>
          <p:cNvSpPr/>
          <p:nvPr/>
        </p:nvSpPr>
        <p:spPr>
          <a:xfrm>
            <a:off x="6995160" y="3493008"/>
            <a:ext cx="1920240" cy="475488"/>
          </a:xfrm>
          <a:prstGeom prst="rect">
            <a:avLst/>
          </a:prstGeom>
          <a:noFill/>
          <a:ln/>
        </p:spPr>
        <p:txBody>
          <a:bodyPr wrap="square" rtlCol="0" anchor="ctr"/>
          <a:lstStyle/>
          <a:p>
            <a:pPr algn="ctr" indent="0" marL="0">
              <a:buNone/>
            </a:pPr>
            <a:r>
              <a:rPr lang="en-US" sz="2000" b="1" dirty="0">
                <a:solidFill>
                  <a:srgbClr val="00B4D8"/>
                </a:solidFill>
                <a:latin typeface="Calibri" pitchFamily="34" charset="0"/>
                <a:ea typeface="Calibri" pitchFamily="34" charset="-122"/>
                <a:cs typeface="Calibri" pitchFamily="34" charset="-120"/>
              </a:rPr>
              <a:t>92%</a:t>
            </a:r>
            <a:endParaRPr lang="en-US" sz="2000" dirty="0"/>
          </a:p>
        </p:txBody>
      </p:sp>
      <p:sp>
        <p:nvSpPr>
          <p:cNvPr id="16" name="Text 13"/>
          <p:cNvSpPr/>
          <p:nvPr/>
        </p:nvSpPr>
        <p:spPr>
          <a:xfrm>
            <a:off x="6995160" y="3959352"/>
            <a:ext cx="1920240" cy="274320"/>
          </a:xfrm>
          <a:prstGeom prst="rect">
            <a:avLst/>
          </a:prstGeom>
          <a:noFill/>
          <a:ln/>
        </p:spPr>
        <p:txBody>
          <a:bodyPr wrap="square" rtlCol="0" anchor="ctr"/>
          <a:lstStyle/>
          <a:p>
            <a:pPr algn="ctr" indent="0" marL="0">
              <a:buNone/>
            </a:pPr>
            <a:r>
              <a:rPr lang="en-US" sz="850" dirty="0">
                <a:solidFill>
                  <a:srgbClr val="90AFC5"/>
                </a:solidFill>
                <a:latin typeface="Calibri" pitchFamily="34" charset="0"/>
                <a:ea typeface="Calibri" pitchFamily="34" charset="-122"/>
                <a:cs typeface="Calibri" pitchFamily="34" charset="-120"/>
              </a:rPr>
              <a:t>On-Time Rate</a:t>
            </a:r>
            <a:endParaRPr lang="en-US" sz="850" dirty="0"/>
          </a:p>
        </p:txBody>
      </p:sp>
      <p:sp>
        <p:nvSpPr>
          <p:cNvPr id="17" name="Shape 14"/>
          <p:cNvSpPr/>
          <p:nvPr/>
        </p:nvSpPr>
        <p:spPr>
          <a:xfrm>
            <a:off x="0" y="5047488"/>
            <a:ext cx="9144000" cy="91440"/>
          </a:xfrm>
          <a:prstGeom prst="rect">
            <a:avLst/>
          </a:prstGeom>
          <a:solidFill>
            <a:srgbClr val="14345A"/>
          </a:solidFill>
          <a:ln w="12700">
            <a:solidFill>
              <a:srgbClr val="14345A"/>
            </a:solidFill>
            <a:prstDash val="solid"/>
          </a:ln>
        </p:spPr>
      </p:sp>
      <p:sp>
        <p:nvSpPr>
          <p:cNvPr id="18" name="Text 15"/>
          <p:cNvSpPr/>
          <p:nvPr/>
        </p:nvSpPr>
        <p:spPr>
          <a:xfrm>
            <a:off x="0" y="5047488"/>
            <a:ext cx="9144000" cy="91440"/>
          </a:xfrm>
          <a:prstGeom prst="rect">
            <a:avLst/>
          </a:prstGeom>
          <a:noFill/>
          <a:ln/>
        </p:spPr>
        <p:txBody>
          <a:bodyPr wrap="square" rtlCol="0" anchor="ctr"/>
          <a:lstStyle/>
          <a:p>
            <a:pPr algn="ctr" indent="0" marL="0">
              <a:buNone/>
            </a:pPr>
            <a:r>
              <a:rPr lang="en-US" sz="850" dirty="0">
                <a:solidFill>
                  <a:srgbClr val="00B4D8"/>
                </a:solidFill>
              </a:rPr>
              <a:t>AM (Amazonas) slowest — 27 day median  •  SP fastest  •  Monthly trend shows consistent on-time majority</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sp>
      <p:sp>
        <p:nvSpPr>
          <p:cNvPr id="3" name="Text 1"/>
          <p:cNvSpPr/>
          <p:nvPr/>
        </p:nvSpPr>
        <p:spPr>
          <a:xfrm>
            <a:off x="411480" y="109728"/>
            <a:ext cx="82296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Power BI Dashboard — Tab 3: Commerce &amp; Reviews</a:t>
            </a:r>
            <a:endParaRPr lang="en-US" sz="2200" dirty="0"/>
          </a:p>
        </p:txBody>
      </p:sp>
      <p:pic>
        <p:nvPicPr>
          <p:cNvPr id="4" name="Image 0" descr="preencoded.png">    </p:cNvPr>
          <p:cNvPicPr>
            <a:picLocks noChangeAspect="1"/>
          </p:cNvPicPr>
          <p:nvPr/>
        </p:nvPicPr>
        <p:blipFill>
          <a:blip r:embed="rId1"/>
          <a:stretch>
            <a:fillRect/>
          </a:stretch>
        </p:blipFill>
        <p:spPr>
          <a:xfrm>
            <a:off x="228600" y="658368"/>
            <a:ext cx="6583680" cy="3657600"/>
          </a:xfrm>
          <a:prstGeom prst="rect">
            <a:avLst/>
          </a:prstGeom>
          <a:effectLst>
            <a:outerShdw sx="100000" sy="100000" kx="0" ky="0" algn="bl" rotWithShape="0" blurRad="127000" dist="50800" dir="2700000">
              <a:srgbClr val="000000">
                <a:alpha val="20000"/>
              </a:srgbClr>
            </a:outerShdw>
          </a:effectLst>
        </p:spPr>
      </p:pic>
      <p:sp>
        <p:nvSpPr>
          <p:cNvPr id="5" name="Shape 2"/>
          <p:cNvSpPr/>
          <p:nvPr/>
        </p:nvSpPr>
        <p:spPr>
          <a:xfrm>
            <a:off x="6995160" y="658368"/>
            <a:ext cx="1920240" cy="841248"/>
          </a:xfrm>
          <a:prstGeom prst="roundRect">
            <a:avLst>
              <a:gd name="adj" fmla="val 10870"/>
            </a:avLst>
          </a:prstGeom>
          <a:solidFill>
            <a:srgbClr val="112B45"/>
          </a:solidFill>
          <a:ln w="12700">
            <a:solidFill>
              <a:srgbClr val="F4A261"/>
            </a:solidFill>
            <a:prstDash val="solid"/>
          </a:ln>
          <a:effectLst>
            <a:outerShdw sx="100000" sy="100000" kx="0" ky="0" algn="bl" rotWithShape="0" blurRad="127000" dist="50800" dir="2700000">
              <a:srgbClr val="000000">
                <a:alpha val="20000"/>
              </a:srgbClr>
            </a:outerShdw>
          </a:effectLst>
        </p:spPr>
      </p:sp>
      <p:sp>
        <p:nvSpPr>
          <p:cNvPr id="6" name="Text 3"/>
          <p:cNvSpPr/>
          <p:nvPr/>
        </p:nvSpPr>
        <p:spPr>
          <a:xfrm>
            <a:off x="6995160" y="694944"/>
            <a:ext cx="1920240" cy="475488"/>
          </a:xfrm>
          <a:prstGeom prst="rect">
            <a:avLst/>
          </a:prstGeom>
          <a:noFill/>
          <a:ln/>
        </p:spPr>
        <p:txBody>
          <a:bodyPr wrap="square" rtlCol="0" anchor="ctr"/>
          <a:lstStyle/>
          <a:p>
            <a:pPr algn="ctr" indent="0" marL="0">
              <a:buNone/>
            </a:pPr>
            <a:r>
              <a:rPr lang="en-US" sz="1300" b="1" dirty="0">
                <a:solidFill>
                  <a:srgbClr val="F4A261"/>
                </a:solidFill>
                <a:latin typeface="Calibri" pitchFamily="34" charset="0"/>
                <a:ea typeface="Calibri" pitchFamily="34" charset="-122"/>
                <a:cs typeface="Calibri" pitchFamily="34" charset="-120"/>
              </a:rPr>
              <a:t>Health</a:t>
            </a:r>
            <a:endParaRPr lang="en-US" sz="1300" dirty="0"/>
          </a:p>
          <a:p>
            <a:pPr algn="ctr" indent="0" marL="0">
              <a:buNone/>
            </a:pPr>
            <a:r>
              <a:rPr lang="en-US" sz="1300" b="1" dirty="0">
                <a:solidFill>
                  <a:srgbClr val="F4A261"/>
                </a:solidFill>
                <a:latin typeface="Calibri" pitchFamily="34" charset="0"/>
                <a:ea typeface="Calibri" pitchFamily="34" charset="-122"/>
                <a:cs typeface="Calibri" pitchFamily="34" charset="-120"/>
              </a:rPr>
              <a:t>&amp; Beauty</a:t>
            </a:r>
            <a:endParaRPr lang="en-US" sz="1300" dirty="0"/>
          </a:p>
        </p:txBody>
      </p:sp>
      <p:sp>
        <p:nvSpPr>
          <p:cNvPr id="7" name="Text 4"/>
          <p:cNvSpPr/>
          <p:nvPr/>
        </p:nvSpPr>
        <p:spPr>
          <a:xfrm>
            <a:off x="6995160" y="1161288"/>
            <a:ext cx="1920240" cy="274320"/>
          </a:xfrm>
          <a:prstGeom prst="rect">
            <a:avLst/>
          </a:prstGeom>
          <a:noFill/>
          <a:ln/>
        </p:spPr>
        <p:txBody>
          <a:bodyPr wrap="square" rtlCol="0" anchor="ctr"/>
          <a:lstStyle/>
          <a:p>
            <a:pPr algn="ctr" indent="0" marL="0">
              <a:buNone/>
            </a:pPr>
            <a:r>
              <a:rPr lang="en-US" sz="850" dirty="0">
                <a:solidFill>
                  <a:srgbClr val="90AFC5"/>
                </a:solidFill>
                <a:latin typeface="Calibri" pitchFamily="34" charset="0"/>
                <a:ea typeface="Calibri" pitchFamily="34" charset="-122"/>
                <a:cs typeface="Calibri" pitchFamily="34" charset="-120"/>
              </a:rPr>
              <a:t>Top Revenue Category</a:t>
            </a:r>
            <a:endParaRPr lang="en-US" sz="850" dirty="0"/>
          </a:p>
        </p:txBody>
      </p:sp>
      <p:sp>
        <p:nvSpPr>
          <p:cNvPr id="8" name="Shape 5"/>
          <p:cNvSpPr/>
          <p:nvPr/>
        </p:nvSpPr>
        <p:spPr>
          <a:xfrm>
            <a:off x="6995160" y="1591056"/>
            <a:ext cx="1920240" cy="841248"/>
          </a:xfrm>
          <a:prstGeom prst="roundRect">
            <a:avLst>
              <a:gd name="adj" fmla="val 10870"/>
            </a:avLst>
          </a:prstGeom>
          <a:solidFill>
            <a:srgbClr val="112B45"/>
          </a:solidFill>
          <a:ln w="12700">
            <a:solidFill>
              <a:srgbClr val="02C39A"/>
            </a:solidFill>
            <a:prstDash val="solid"/>
          </a:ln>
          <a:effectLst>
            <a:outerShdw sx="100000" sy="100000" kx="0" ky="0" algn="bl" rotWithShape="0" blurRad="127000" dist="50800" dir="2700000">
              <a:srgbClr val="000000">
                <a:alpha val="20000"/>
              </a:srgbClr>
            </a:outerShdw>
          </a:effectLst>
        </p:spPr>
      </p:sp>
      <p:sp>
        <p:nvSpPr>
          <p:cNvPr id="9" name="Text 6"/>
          <p:cNvSpPr/>
          <p:nvPr/>
        </p:nvSpPr>
        <p:spPr>
          <a:xfrm>
            <a:off x="6995160" y="1627632"/>
            <a:ext cx="1920240" cy="475488"/>
          </a:xfrm>
          <a:prstGeom prst="rect">
            <a:avLst/>
          </a:prstGeom>
          <a:noFill/>
          <a:ln/>
        </p:spPr>
        <p:txBody>
          <a:bodyPr wrap="square" rtlCol="0" anchor="ctr"/>
          <a:lstStyle/>
          <a:p>
            <a:pPr algn="ctr" indent="0" marL="0">
              <a:buNone/>
            </a:pPr>
            <a:r>
              <a:rPr lang="en-US" sz="2000" b="1" dirty="0">
                <a:solidFill>
                  <a:srgbClr val="02C39A"/>
                </a:solidFill>
                <a:latin typeface="Calibri" pitchFamily="34" charset="0"/>
                <a:ea typeface="Calibri" pitchFamily="34" charset="-122"/>
                <a:cs typeface="Calibri" pitchFamily="34" charset="-120"/>
              </a:rPr>
              <a:t>5.00</a:t>
            </a:r>
            <a:endParaRPr lang="en-US" sz="2000" dirty="0"/>
          </a:p>
        </p:txBody>
      </p:sp>
      <p:sp>
        <p:nvSpPr>
          <p:cNvPr id="10" name="Text 7"/>
          <p:cNvSpPr/>
          <p:nvPr/>
        </p:nvSpPr>
        <p:spPr>
          <a:xfrm>
            <a:off x="6995160" y="2093976"/>
            <a:ext cx="1920240" cy="274320"/>
          </a:xfrm>
          <a:prstGeom prst="rect">
            <a:avLst/>
          </a:prstGeom>
          <a:noFill/>
          <a:ln/>
        </p:spPr>
        <p:txBody>
          <a:bodyPr wrap="square" rtlCol="0" anchor="ctr"/>
          <a:lstStyle/>
          <a:p>
            <a:pPr algn="ctr" indent="0" marL="0">
              <a:buNone/>
            </a:pPr>
            <a:r>
              <a:rPr lang="en-US" sz="850" dirty="0">
                <a:solidFill>
                  <a:srgbClr val="90AFC5"/>
                </a:solidFill>
                <a:latin typeface="Calibri" pitchFamily="34" charset="0"/>
                <a:ea typeface="Calibri" pitchFamily="34" charset="-122"/>
                <a:cs typeface="Calibri" pitchFamily="34" charset="-120"/>
              </a:rPr>
              <a:t>Median Review Score</a:t>
            </a:r>
            <a:endParaRPr lang="en-US" sz="850" dirty="0"/>
          </a:p>
        </p:txBody>
      </p:sp>
      <p:sp>
        <p:nvSpPr>
          <p:cNvPr id="11" name="Shape 8"/>
          <p:cNvSpPr/>
          <p:nvPr/>
        </p:nvSpPr>
        <p:spPr>
          <a:xfrm>
            <a:off x="6995160" y="2523744"/>
            <a:ext cx="1920240" cy="841248"/>
          </a:xfrm>
          <a:prstGeom prst="roundRect">
            <a:avLst>
              <a:gd name="adj" fmla="val 10870"/>
            </a:avLst>
          </a:prstGeom>
          <a:solidFill>
            <a:srgbClr val="112B45"/>
          </a:solidFill>
          <a:ln w="12700">
            <a:solidFill>
              <a:srgbClr val="00B4D8"/>
            </a:solidFill>
            <a:prstDash val="solid"/>
          </a:ln>
          <a:effectLst>
            <a:outerShdw sx="100000" sy="100000" kx="0" ky="0" algn="bl" rotWithShape="0" blurRad="127000" dist="50800" dir="2700000">
              <a:srgbClr val="000000">
                <a:alpha val="20000"/>
              </a:srgbClr>
            </a:outerShdw>
          </a:effectLst>
        </p:spPr>
      </p:sp>
      <p:sp>
        <p:nvSpPr>
          <p:cNvPr id="12" name="Text 9"/>
          <p:cNvSpPr/>
          <p:nvPr/>
        </p:nvSpPr>
        <p:spPr>
          <a:xfrm>
            <a:off x="6995160" y="2560320"/>
            <a:ext cx="1920240" cy="475488"/>
          </a:xfrm>
          <a:prstGeom prst="rect">
            <a:avLst/>
          </a:prstGeom>
          <a:noFill/>
          <a:ln/>
        </p:spPr>
        <p:txBody>
          <a:bodyPr wrap="square" rtlCol="0" anchor="ctr"/>
          <a:lstStyle/>
          <a:p>
            <a:pPr algn="ctr" indent="0" marL="0">
              <a:buNone/>
            </a:pPr>
            <a:r>
              <a:rPr lang="en-US" sz="2000" b="1" dirty="0">
                <a:solidFill>
                  <a:srgbClr val="00B4D8"/>
                </a:solidFill>
                <a:latin typeface="Calibri" pitchFamily="34" charset="0"/>
                <a:ea typeface="Calibri" pitchFamily="34" charset="-122"/>
                <a:cs typeface="Calibri" pitchFamily="34" charset="-120"/>
              </a:rPr>
              <a:t>~R$200K</a:t>
            </a:r>
            <a:endParaRPr lang="en-US" sz="2000" dirty="0"/>
          </a:p>
        </p:txBody>
      </p:sp>
      <p:sp>
        <p:nvSpPr>
          <p:cNvPr id="13" name="Text 10"/>
          <p:cNvSpPr/>
          <p:nvPr/>
        </p:nvSpPr>
        <p:spPr>
          <a:xfrm>
            <a:off x="6995160" y="3026664"/>
            <a:ext cx="1920240" cy="274320"/>
          </a:xfrm>
          <a:prstGeom prst="rect">
            <a:avLst/>
          </a:prstGeom>
          <a:noFill/>
          <a:ln/>
        </p:spPr>
        <p:txBody>
          <a:bodyPr wrap="square" rtlCol="0" anchor="ctr"/>
          <a:lstStyle/>
          <a:p>
            <a:pPr algn="ctr" indent="0" marL="0">
              <a:buNone/>
            </a:pPr>
            <a:r>
              <a:rPr lang="en-US" sz="850" dirty="0">
                <a:solidFill>
                  <a:srgbClr val="90AFC5"/>
                </a:solidFill>
                <a:latin typeface="Calibri" pitchFamily="34" charset="0"/>
                <a:ea typeface="Calibri" pitchFamily="34" charset="-122"/>
                <a:cs typeface="Calibri" pitchFamily="34" charset="-120"/>
              </a:rPr>
              <a:t>Top Seller Revenue</a:t>
            </a:r>
            <a:endParaRPr lang="en-US" sz="850" dirty="0"/>
          </a:p>
        </p:txBody>
      </p:sp>
      <p:sp>
        <p:nvSpPr>
          <p:cNvPr id="14" name="Shape 11"/>
          <p:cNvSpPr/>
          <p:nvPr/>
        </p:nvSpPr>
        <p:spPr>
          <a:xfrm>
            <a:off x="6995160" y="3456432"/>
            <a:ext cx="1920240" cy="841248"/>
          </a:xfrm>
          <a:prstGeom prst="roundRect">
            <a:avLst>
              <a:gd name="adj" fmla="val 10870"/>
            </a:avLst>
          </a:prstGeom>
          <a:solidFill>
            <a:srgbClr val="112B45"/>
          </a:solidFill>
          <a:ln w="12700">
            <a:solidFill>
              <a:srgbClr val="C084FC"/>
            </a:solidFill>
            <a:prstDash val="solid"/>
          </a:ln>
          <a:effectLst>
            <a:outerShdw sx="100000" sy="100000" kx="0" ky="0" algn="bl" rotWithShape="0" blurRad="127000" dist="50800" dir="2700000">
              <a:srgbClr val="000000">
                <a:alpha val="20000"/>
              </a:srgbClr>
            </a:outerShdw>
          </a:effectLst>
        </p:spPr>
      </p:sp>
      <p:sp>
        <p:nvSpPr>
          <p:cNvPr id="15" name="Text 12"/>
          <p:cNvSpPr/>
          <p:nvPr/>
        </p:nvSpPr>
        <p:spPr>
          <a:xfrm>
            <a:off x="6995160" y="3493008"/>
            <a:ext cx="1920240" cy="475488"/>
          </a:xfrm>
          <a:prstGeom prst="rect">
            <a:avLst/>
          </a:prstGeom>
          <a:noFill/>
          <a:ln/>
        </p:spPr>
        <p:txBody>
          <a:bodyPr wrap="square" rtlCol="0" anchor="ctr"/>
          <a:lstStyle/>
          <a:p>
            <a:pPr algn="ctr" indent="0" marL="0">
              <a:buNone/>
            </a:pPr>
            <a:r>
              <a:rPr lang="en-US" sz="2000" b="1" dirty="0">
                <a:solidFill>
                  <a:srgbClr val="C084FC"/>
                </a:solidFill>
                <a:latin typeface="Calibri" pitchFamily="34" charset="0"/>
                <a:ea typeface="Calibri" pitchFamily="34" charset="-122"/>
                <a:cs typeface="Calibri" pitchFamily="34" charset="-120"/>
              </a:rPr>
              <a:t>74</a:t>
            </a:r>
            <a:endParaRPr lang="en-US" sz="2000" dirty="0"/>
          </a:p>
        </p:txBody>
      </p:sp>
      <p:sp>
        <p:nvSpPr>
          <p:cNvPr id="16" name="Text 13"/>
          <p:cNvSpPr/>
          <p:nvPr/>
        </p:nvSpPr>
        <p:spPr>
          <a:xfrm>
            <a:off x="6995160" y="3959352"/>
            <a:ext cx="1920240" cy="274320"/>
          </a:xfrm>
          <a:prstGeom prst="rect">
            <a:avLst/>
          </a:prstGeom>
          <a:noFill/>
          <a:ln/>
        </p:spPr>
        <p:txBody>
          <a:bodyPr wrap="square" rtlCol="0" anchor="ctr"/>
          <a:lstStyle/>
          <a:p>
            <a:pPr algn="ctr" indent="0" marL="0">
              <a:buNone/>
            </a:pPr>
            <a:r>
              <a:rPr lang="en-US" sz="850" dirty="0">
                <a:solidFill>
                  <a:srgbClr val="90AFC5"/>
                </a:solidFill>
                <a:latin typeface="Calibri" pitchFamily="34" charset="0"/>
                <a:ea typeface="Calibri" pitchFamily="34" charset="-122"/>
                <a:cs typeface="Calibri" pitchFamily="34" charset="-120"/>
              </a:rPr>
              <a:t>Product Categories</a:t>
            </a:r>
            <a:endParaRPr lang="en-US" sz="850" dirty="0"/>
          </a:p>
        </p:txBody>
      </p:sp>
      <p:sp>
        <p:nvSpPr>
          <p:cNvPr id="17" name="Shape 14"/>
          <p:cNvSpPr/>
          <p:nvPr/>
        </p:nvSpPr>
        <p:spPr>
          <a:xfrm>
            <a:off x="0" y="5047488"/>
            <a:ext cx="9144000" cy="91440"/>
          </a:xfrm>
          <a:prstGeom prst="rect">
            <a:avLst/>
          </a:prstGeom>
          <a:solidFill>
            <a:srgbClr val="14345A"/>
          </a:solidFill>
          <a:ln w="12700">
            <a:solidFill>
              <a:srgbClr val="14345A"/>
            </a:solidFill>
            <a:prstDash val="solid"/>
          </a:ln>
        </p:spPr>
      </p:sp>
      <p:sp>
        <p:nvSpPr>
          <p:cNvPr id="18" name="Text 15"/>
          <p:cNvSpPr/>
          <p:nvPr/>
        </p:nvSpPr>
        <p:spPr>
          <a:xfrm>
            <a:off x="0" y="5047488"/>
            <a:ext cx="9144000" cy="91440"/>
          </a:xfrm>
          <a:prstGeom prst="rect">
            <a:avLst/>
          </a:prstGeom>
          <a:noFill/>
          <a:ln/>
        </p:spPr>
        <p:txBody>
          <a:bodyPr wrap="square" rtlCol="0" anchor="ctr"/>
          <a:lstStyle/>
          <a:p>
            <a:pPr algn="ctr" indent="0" marL="0">
              <a:buNone/>
            </a:pPr>
            <a:r>
              <a:rPr lang="en-US" sz="850" dirty="0">
                <a:solidFill>
                  <a:srgbClr val="00B4D8"/>
                </a:solidFill>
              </a:rPr>
              <a:t>5-star most common  •  1-star is 3rd most common (bimodal distribution)  •  Watches &amp; Gifts second category</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8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2137"/>
          </a:solidFill>
          <a:ln w="12700">
            <a:solidFill>
              <a:srgbClr val="0D2137"/>
            </a:solidFill>
            <a:prstDash val="solid"/>
          </a:ln>
        </p:spPr>
      </p:sp>
      <p:sp>
        <p:nvSpPr>
          <p:cNvPr id="3" name="Text 1"/>
          <p:cNvSpPr/>
          <p:nvPr/>
        </p:nvSpPr>
        <p:spPr>
          <a:xfrm>
            <a:off x="411480" y="109728"/>
            <a:ext cx="8229600" cy="502920"/>
          </a:xfrm>
          <a:prstGeom prst="rect">
            <a:avLst/>
          </a:prstGeom>
          <a:noFill/>
          <a:ln/>
        </p:spPr>
        <p:txBody>
          <a:bodyPr wrap="square" rtlCol="0" anchor="ctr"/>
          <a:lstStyle/>
          <a:p>
            <a:pPr indent="0" marL="0">
              <a:buNone/>
            </a:pPr>
            <a:r>
              <a:rPr lang="en-US" sz="2600" b="1" dirty="0">
                <a:solidFill>
                  <a:srgbClr val="0D2137"/>
                </a:solidFill>
                <a:latin typeface="Calibri" pitchFamily="34" charset="0"/>
                <a:ea typeface="Calibri" pitchFamily="34" charset="-122"/>
                <a:cs typeface="Calibri" pitchFamily="34" charset="-120"/>
              </a:rPr>
              <a:t>Key Results &amp; Analytical Insights</a:t>
            </a:r>
            <a:endParaRPr lang="en-US" sz="2600" dirty="0"/>
          </a:p>
        </p:txBody>
      </p:sp>
      <p:sp>
        <p:nvSpPr>
          <p:cNvPr id="4" name="Shape 2"/>
          <p:cNvSpPr/>
          <p:nvPr/>
        </p:nvSpPr>
        <p:spPr>
          <a:xfrm>
            <a:off x="274320" y="777240"/>
            <a:ext cx="2715768" cy="1901952"/>
          </a:xfrm>
          <a:prstGeom prst="roundRect">
            <a:avLst>
              <a:gd name="adj" fmla="val 6731"/>
            </a:avLst>
          </a:prstGeom>
          <a:solidFill>
            <a:srgbClr val="0D2137"/>
          </a:solidFill>
          <a:ln w="12700">
            <a:solidFill>
              <a:srgbClr val="00B4D8"/>
            </a:solidFill>
            <a:prstDash val="solid"/>
          </a:ln>
          <a:effectLst>
            <a:outerShdw sx="100000" sy="100000" kx="0" ky="0" algn="bl" rotWithShape="0" blurRad="127000" dist="50800" dir="2700000">
              <a:srgbClr val="000000">
                <a:alpha val="20000"/>
              </a:srgbClr>
            </a:outerShdw>
          </a:effectLst>
        </p:spPr>
      </p:sp>
      <p:sp>
        <p:nvSpPr>
          <p:cNvPr id="5" name="Text 3"/>
          <p:cNvSpPr/>
          <p:nvPr/>
        </p:nvSpPr>
        <p:spPr>
          <a:xfrm>
            <a:off x="274320" y="905256"/>
            <a:ext cx="2715768" cy="658368"/>
          </a:xfrm>
          <a:prstGeom prst="rect">
            <a:avLst/>
          </a:prstGeom>
          <a:noFill/>
          <a:ln/>
        </p:spPr>
        <p:txBody>
          <a:bodyPr wrap="square" rtlCol="0" anchor="ctr"/>
          <a:lstStyle/>
          <a:p>
            <a:pPr algn="ctr" indent="0" marL="0">
              <a:buNone/>
            </a:pPr>
            <a:r>
              <a:rPr lang="en-US" sz="2800" b="1" dirty="0">
                <a:solidFill>
                  <a:srgbClr val="00B4D8"/>
                </a:solidFill>
                <a:latin typeface="Calibri" pitchFamily="34" charset="0"/>
                <a:ea typeface="Calibri" pitchFamily="34" charset="-122"/>
                <a:cs typeface="Calibri" pitchFamily="34" charset="-120"/>
              </a:rPr>
              <a:t>99,441</a:t>
            </a:r>
            <a:endParaRPr lang="en-US" sz="2800" dirty="0"/>
          </a:p>
        </p:txBody>
      </p:sp>
      <p:sp>
        <p:nvSpPr>
          <p:cNvPr id="6" name="Text 4"/>
          <p:cNvSpPr/>
          <p:nvPr/>
        </p:nvSpPr>
        <p:spPr>
          <a:xfrm>
            <a:off x="274320" y="1545336"/>
            <a:ext cx="2715768" cy="3200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Orders loaded</a:t>
            </a:r>
            <a:endParaRPr lang="en-US" sz="1150" dirty="0"/>
          </a:p>
        </p:txBody>
      </p:sp>
      <p:sp>
        <p:nvSpPr>
          <p:cNvPr id="7" name="Text 5"/>
          <p:cNvSpPr/>
          <p:nvPr/>
        </p:nvSpPr>
        <p:spPr>
          <a:xfrm>
            <a:off x="365760" y="1874520"/>
            <a:ext cx="2532888" cy="658368"/>
          </a:xfrm>
          <a:prstGeom prst="rect">
            <a:avLst/>
          </a:prstGeom>
          <a:noFill/>
          <a:ln/>
        </p:spPr>
        <p:txBody>
          <a:bodyPr wrap="square" rtlCol="0" anchor="ctr"/>
          <a:lstStyle/>
          <a:p>
            <a:pPr algn="ctr" indent="0" marL="0">
              <a:buNone/>
            </a:pPr>
            <a:r>
              <a:rPr lang="en-US" sz="900" dirty="0">
                <a:solidFill>
                  <a:srgbClr val="90AFC5"/>
                </a:solidFill>
                <a:latin typeface="Calibri" pitchFamily="34" charset="0"/>
                <a:ea typeface="Calibri" pitchFamily="34" charset="-122"/>
                <a:cs typeface="Calibri" pitchFamily="34" charset="-120"/>
              </a:rPr>
              <a:t>Across 9 tables with zero constraint violations</a:t>
            </a:r>
            <a:endParaRPr lang="en-US" sz="900" dirty="0"/>
          </a:p>
        </p:txBody>
      </p:sp>
      <p:sp>
        <p:nvSpPr>
          <p:cNvPr id="8" name="Shape 6"/>
          <p:cNvSpPr/>
          <p:nvPr/>
        </p:nvSpPr>
        <p:spPr>
          <a:xfrm>
            <a:off x="3172968" y="777240"/>
            <a:ext cx="2715768" cy="1901952"/>
          </a:xfrm>
          <a:prstGeom prst="roundRect">
            <a:avLst>
              <a:gd name="adj" fmla="val 6731"/>
            </a:avLst>
          </a:prstGeom>
          <a:solidFill>
            <a:srgbClr val="0D2137"/>
          </a:solidFill>
          <a:ln w="12700">
            <a:solidFill>
              <a:srgbClr val="02C39A"/>
            </a:solidFill>
            <a:prstDash val="solid"/>
          </a:ln>
          <a:effectLst>
            <a:outerShdw sx="100000" sy="100000" kx="0" ky="0" algn="bl" rotWithShape="0" blurRad="127000" dist="50800" dir="2700000">
              <a:srgbClr val="000000">
                <a:alpha val="20000"/>
              </a:srgbClr>
            </a:outerShdw>
          </a:effectLst>
        </p:spPr>
      </p:sp>
      <p:sp>
        <p:nvSpPr>
          <p:cNvPr id="9" name="Text 7"/>
          <p:cNvSpPr/>
          <p:nvPr/>
        </p:nvSpPr>
        <p:spPr>
          <a:xfrm>
            <a:off x="3172968" y="905256"/>
            <a:ext cx="2715768" cy="658368"/>
          </a:xfrm>
          <a:prstGeom prst="rect">
            <a:avLst/>
          </a:prstGeom>
          <a:noFill/>
          <a:ln/>
        </p:spPr>
        <p:txBody>
          <a:bodyPr wrap="square" rtlCol="0" anchor="ctr"/>
          <a:lstStyle/>
          <a:p>
            <a:pPr algn="ctr" indent="0" marL="0">
              <a:buNone/>
            </a:pPr>
            <a:r>
              <a:rPr lang="en-US" sz="2800" b="1" dirty="0">
                <a:solidFill>
                  <a:srgbClr val="02C39A"/>
                </a:solidFill>
                <a:latin typeface="Calibri" pitchFamily="34" charset="0"/>
                <a:ea typeface="Calibri" pitchFamily="34" charset="-122"/>
                <a:cs typeface="Calibri" pitchFamily="34" charset="-120"/>
              </a:rPr>
              <a:t>0</a:t>
            </a:r>
            <a:endParaRPr lang="en-US" sz="2800" dirty="0"/>
          </a:p>
        </p:txBody>
      </p:sp>
      <p:sp>
        <p:nvSpPr>
          <p:cNvPr id="10" name="Text 8"/>
          <p:cNvSpPr/>
          <p:nvPr/>
        </p:nvSpPr>
        <p:spPr>
          <a:xfrm>
            <a:off x="3172968" y="1545336"/>
            <a:ext cx="2715768" cy="3200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FK Violations</a:t>
            </a:r>
            <a:endParaRPr lang="en-US" sz="1150" dirty="0"/>
          </a:p>
        </p:txBody>
      </p:sp>
      <p:sp>
        <p:nvSpPr>
          <p:cNvPr id="11" name="Text 9"/>
          <p:cNvSpPr/>
          <p:nvPr/>
        </p:nvSpPr>
        <p:spPr>
          <a:xfrm>
            <a:off x="3264408" y="1874520"/>
            <a:ext cx="2532888" cy="658368"/>
          </a:xfrm>
          <a:prstGeom prst="rect">
            <a:avLst/>
          </a:prstGeom>
          <a:noFill/>
          <a:ln/>
        </p:spPr>
        <p:txBody>
          <a:bodyPr wrap="square" rtlCol="0" anchor="ctr"/>
          <a:lstStyle/>
          <a:p>
            <a:pPr algn="ctr" indent="0" marL="0">
              <a:buNone/>
            </a:pPr>
            <a:r>
              <a:rPr lang="en-US" sz="900" dirty="0">
                <a:solidFill>
                  <a:srgbClr val="90AFC5"/>
                </a:solidFill>
                <a:latin typeface="Calibri" pitchFamily="34" charset="0"/>
                <a:ea typeface="Calibri" pitchFamily="34" charset="-122"/>
                <a:cs typeface="Calibri" pitchFamily="34" charset="-120"/>
              </a:rPr>
              <a:t>Both dev (74,581) and unseen test set (24,860)</a:t>
            </a:r>
            <a:endParaRPr lang="en-US" sz="900" dirty="0"/>
          </a:p>
        </p:txBody>
      </p:sp>
      <p:sp>
        <p:nvSpPr>
          <p:cNvPr id="12" name="Shape 10"/>
          <p:cNvSpPr/>
          <p:nvPr/>
        </p:nvSpPr>
        <p:spPr>
          <a:xfrm>
            <a:off x="6071616" y="777240"/>
            <a:ext cx="2715768" cy="1901952"/>
          </a:xfrm>
          <a:prstGeom prst="roundRect">
            <a:avLst>
              <a:gd name="adj" fmla="val 6731"/>
            </a:avLst>
          </a:prstGeom>
          <a:solidFill>
            <a:srgbClr val="0D2137"/>
          </a:solidFill>
          <a:ln w="12700">
            <a:solidFill>
              <a:srgbClr val="F4A261"/>
            </a:solidFill>
            <a:prstDash val="solid"/>
          </a:ln>
          <a:effectLst>
            <a:outerShdw sx="100000" sy="100000" kx="0" ky="0" algn="bl" rotWithShape="0" blurRad="127000" dist="50800" dir="2700000">
              <a:srgbClr val="000000">
                <a:alpha val="20000"/>
              </a:srgbClr>
            </a:outerShdw>
          </a:effectLst>
        </p:spPr>
      </p:sp>
      <p:sp>
        <p:nvSpPr>
          <p:cNvPr id="13" name="Text 11"/>
          <p:cNvSpPr/>
          <p:nvPr/>
        </p:nvSpPr>
        <p:spPr>
          <a:xfrm>
            <a:off x="6071616" y="905256"/>
            <a:ext cx="2715768" cy="658368"/>
          </a:xfrm>
          <a:prstGeom prst="rect">
            <a:avLst/>
          </a:prstGeom>
          <a:noFill/>
          <a:ln/>
        </p:spPr>
        <p:txBody>
          <a:bodyPr wrap="square" rtlCol="0" anchor="ctr"/>
          <a:lstStyle/>
          <a:p>
            <a:pPr algn="ctr" indent="0" marL="0">
              <a:buNone/>
            </a:pPr>
            <a:r>
              <a:rPr lang="en-US" sz="2800" b="1" dirty="0">
                <a:solidFill>
                  <a:srgbClr val="F4A261"/>
                </a:solidFill>
                <a:latin typeface="Calibri" pitchFamily="34" charset="0"/>
                <a:ea typeface="Calibri" pitchFamily="34" charset="-122"/>
                <a:cs typeface="Calibri" pitchFamily="34" charset="-120"/>
              </a:rPr>
              <a:t>R$10.15M</a:t>
            </a:r>
            <a:endParaRPr lang="en-US" sz="2800" dirty="0"/>
          </a:p>
        </p:txBody>
      </p:sp>
      <p:sp>
        <p:nvSpPr>
          <p:cNvPr id="14" name="Text 12"/>
          <p:cNvSpPr/>
          <p:nvPr/>
        </p:nvSpPr>
        <p:spPr>
          <a:xfrm>
            <a:off x="6071616" y="1545336"/>
            <a:ext cx="2715768" cy="3200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Total Revenue</a:t>
            </a:r>
            <a:endParaRPr lang="en-US" sz="1150" dirty="0"/>
          </a:p>
        </p:txBody>
      </p:sp>
      <p:sp>
        <p:nvSpPr>
          <p:cNvPr id="15" name="Text 13"/>
          <p:cNvSpPr/>
          <p:nvPr/>
        </p:nvSpPr>
        <p:spPr>
          <a:xfrm>
            <a:off x="6163056" y="1874520"/>
            <a:ext cx="2532888" cy="658368"/>
          </a:xfrm>
          <a:prstGeom prst="rect">
            <a:avLst/>
          </a:prstGeom>
          <a:noFill/>
          <a:ln/>
        </p:spPr>
        <p:txBody>
          <a:bodyPr wrap="square" rtlCol="0" anchor="ctr"/>
          <a:lstStyle/>
          <a:p>
            <a:pPr algn="ctr" indent="0" marL="0">
              <a:buNone/>
            </a:pPr>
            <a:r>
              <a:rPr lang="en-US" sz="900" dirty="0">
                <a:solidFill>
                  <a:srgbClr val="90AFC5"/>
                </a:solidFill>
                <a:latin typeface="Calibri" pitchFamily="34" charset="0"/>
                <a:ea typeface="Calibri" pitchFamily="34" charset="-122"/>
                <a:cs typeface="Calibri" pitchFamily="34" charset="-120"/>
              </a:rPr>
              <a:t>Health &amp; Beauty #1 at ~R$1M; Watches &amp; Gifts #2</a:t>
            </a:r>
            <a:endParaRPr lang="en-US" sz="900" dirty="0"/>
          </a:p>
        </p:txBody>
      </p:sp>
      <p:sp>
        <p:nvSpPr>
          <p:cNvPr id="16" name="Shape 14"/>
          <p:cNvSpPr/>
          <p:nvPr/>
        </p:nvSpPr>
        <p:spPr>
          <a:xfrm>
            <a:off x="274320" y="2807208"/>
            <a:ext cx="2715768" cy="1901952"/>
          </a:xfrm>
          <a:prstGeom prst="roundRect">
            <a:avLst>
              <a:gd name="adj" fmla="val 6731"/>
            </a:avLst>
          </a:prstGeom>
          <a:solidFill>
            <a:srgbClr val="0D2137"/>
          </a:solidFill>
          <a:ln w="12700">
            <a:solidFill>
              <a:srgbClr val="C084FC"/>
            </a:solidFill>
            <a:prstDash val="solid"/>
          </a:ln>
          <a:effectLst>
            <a:outerShdw sx="100000" sy="100000" kx="0" ky="0" algn="bl" rotWithShape="0" blurRad="127000" dist="50800" dir="2700000">
              <a:srgbClr val="000000">
                <a:alpha val="20000"/>
              </a:srgbClr>
            </a:outerShdw>
          </a:effectLst>
        </p:spPr>
      </p:sp>
      <p:sp>
        <p:nvSpPr>
          <p:cNvPr id="17" name="Text 15"/>
          <p:cNvSpPr/>
          <p:nvPr/>
        </p:nvSpPr>
        <p:spPr>
          <a:xfrm>
            <a:off x="274320" y="2935224"/>
            <a:ext cx="2715768" cy="658368"/>
          </a:xfrm>
          <a:prstGeom prst="rect">
            <a:avLst/>
          </a:prstGeom>
          <a:noFill/>
          <a:ln/>
        </p:spPr>
        <p:txBody>
          <a:bodyPr wrap="square" rtlCol="0" anchor="ctr"/>
          <a:lstStyle/>
          <a:p>
            <a:pPr algn="ctr" indent="0" marL="0">
              <a:buNone/>
            </a:pPr>
            <a:r>
              <a:rPr lang="en-US" sz="2800" b="1" dirty="0">
                <a:solidFill>
                  <a:srgbClr val="C084FC"/>
                </a:solidFill>
                <a:latin typeface="Calibri" pitchFamily="34" charset="0"/>
                <a:ea typeface="Calibri" pitchFamily="34" charset="-122"/>
                <a:cs typeface="Calibri" pitchFamily="34" charset="-120"/>
              </a:rPr>
              <a:t>92%</a:t>
            </a:r>
            <a:endParaRPr lang="en-US" sz="2800" dirty="0"/>
          </a:p>
        </p:txBody>
      </p:sp>
      <p:sp>
        <p:nvSpPr>
          <p:cNvPr id="18" name="Text 16"/>
          <p:cNvSpPr/>
          <p:nvPr/>
        </p:nvSpPr>
        <p:spPr>
          <a:xfrm>
            <a:off x="274320" y="3575304"/>
            <a:ext cx="2715768" cy="3200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On-Time Delivery</a:t>
            </a:r>
            <a:endParaRPr lang="en-US" sz="1150" dirty="0"/>
          </a:p>
        </p:txBody>
      </p:sp>
      <p:sp>
        <p:nvSpPr>
          <p:cNvPr id="19" name="Text 17"/>
          <p:cNvSpPr/>
          <p:nvPr/>
        </p:nvSpPr>
        <p:spPr>
          <a:xfrm>
            <a:off x="365760" y="3904488"/>
            <a:ext cx="2532888" cy="658368"/>
          </a:xfrm>
          <a:prstGeom prst="rect">
            <a:avLst/>
          </a:prstGeom>
          <a:noFill/>
          <a:ln/>
        </p:spPr>
        <p:txBody>
          <a:bodyPr wrap="square" rtlCol="0" anchor="ctr"/>
          <a:lstStyle/>
          <a:p>
            <a:pPr algn="ctr" indent="0" marL="0">
              <a:buNone/>
            </a:pPr>
            <a:r>
              <a:rPr lang="en-US" sz="900" dirty="0">
                <a:solidFill>
                  <a:srgbClr val="90AFC5"/>
                </a:solidFill>
                <a:latin typeface="Calibri" pitchFamily="34" charset="0"/>
                <a:ea typeface="Calibri" pitchFamily="34" charset="-122"/>
                <a:cs typeface="Calibri" pitchFamily="34" charset="-120"/>
              </a:rPr>
              <a:t>68.7K on-time vs 5.9K late; median 29 days</a:t>
            </a:r>
            <a:endParaRPr lang="en-US" sz="900" dirty="0"/>
          </a:p>
        </p:txBody>
      </p:sp>
      <p:sp>
        <p:nvSpPr>
          <p:cNvPr id="20" name="Shape 18"/>
          <p:cNvSpPr/>
          <p:nvPr/>
        </p:nvSpPr>
        <p:spPr>
          <a:xfrm>
            <a:off x="3172968" y="2807208"/>
            <a:ext cx="2715768" cy="1901952"/>
          </a:xfrm>
          <a:prstGeom prst="roundRect">
            <a:avLst>
              <a:gd name="adj" fmla="val 6731"/>
            </a:avLst>
          </a:prstGeom>
          <a:solidFill>
            <a:srgbClr val="0D2137"/>
          </a:solidFill>
          <a:ln w="12700">
            <a:solidFill>
              <a:srgbClr val="00B4D8"/>
            </a:solidFill>
            <a:prstDash val="solid"/>
          </a:ln>
          <a:effectLst>
            <a:outerShdw sx="100000" sy="100000" kx="0" ky="0" algn="bl" rotWithShape="0" blurRad="127000" dist="50800" dir="2700000">
              <a:srgbClr val="000000">
                <a:alpha val="20000"/>
              </a:srgbClr>
            </a:outerShdw>
          </a:effectLst>
        </p:spPr>
      </p:sp>
      <p:sp>
        <p:nvSpPr>
          <p:cNvPr id="21" name="Text 19"/>
          <p:cNvSpPr/>
          <p:nvPr/>
        </p:nvSpPr>
        <p:spPr>
          <a:xfrm>
            <a:off x="3172968" y="2935224"/>
            <a:ext cx="2715768" cy="658368"/>
          </a:xfrm>
          <a:prstGeom prst="rect">
            <a:avLst/>
          </a:prstGeom>
          <a:noFill/>
          <a:ln/>
        </p:spPr>
        <p:txBody>
          <a:bodyPr wrap="square" rtlCol="0" anchor="ctr"/>
          <a:lstStyle/>
          <a:p>
            <a:pPr algn="ctr" indent="0" marL="0">
              <a:buNone/>
            </a:pPr>
            <a:r>
              <a:rPr lang="en-US" sz="2800" b="1" dirty="0">
                <a:solidFill>
                  <a:srgbClr val="00B4D8"/>
                </a:solidFill>
                <a:latin typeface="Calibri" pitchFamily="34" charset="0"/>
                <a:ea typeface="Calibri" pitchFamily="34" charset="-122"/>
                <a:cs typeface="Calibri" pitchFamily="34" charset="-120"/>
              </a:rPr>
              <a:t>~42%</a:t>
            </a:r>
            <a:endParaRPr lang="en-US" sz="2800" dirty="0"/>
          </a:p>
        </p:txBody>
      </p:sp>
      <p:sp>
        <p:nvSpPr>
          <p:cNvPr id="22" name="Text 20"/>
          <p:cNvSpPr/>
          <p:nvPr/>
        </p:nvSpPr>
        <p:spPr>
          <a:xfrm>
            <a:off x="3172968" y="3575304"/>
            <a:ext cx="2715768" cy="3200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Orders from SP</a:t>
            </a:r>
            <a:endParaRPr lang="en-US" sz="1150" dirty="0"/>
          </a:p>
        </p:txBody>
      </p:sp>
      <p:sp>
        <p:nvSpPr>
          <p:cNvPr id="23" name="Text 21"/>
          <p:cNvSpPr/>
          <p:nvPr/>
        </p:nvSpPr>
        <p:spPr>
          <a:xfrm>
            <a:off x="3264408" y="3904488"/>
            <a:ext cx="2532888" cy="658368"/>
          </a:xfrm>
          <a:prstGeom prst="rect">
            <a:avLst/>
          </a:prstGeom>
          <a:noFill/>
          <a:ln/>
        </p:spPr>
        <p:txBody>
          <a:bodyPr wrap="square" rtlCol="0" anchor="ctr"/>
          <a:lstStyle/>
          <a:p>
            <a:pPr algn="ctr" indent="0" marL="0">
              <a:buNone/>
            </a:pPr>
            <a:r>
              <a:rPr lang="en-US" sz="900" dirty="0">
                <a:solidFill>
                  <a:srgbClr val="90AFC5"/>
                </a:solidFill>
                <a:latin typeface="Calibri" pitchFamily="34" charset="0"/>
                <a:ea typeface="Calibri" pitchFamily="34" charset="-122"/>
                <a:cs typeface="Calibri" pitchFamily="34" charset="-120"/>
              </a:rPr>
              <a:t>São Paulo dominates; RJ 13%, MG 10%, others 35%</a:t>
            </a:r>
            <a:endParaRPr lang="en-US" sz="900" dirty="0"/>
          </a:p>
        </p:txBody>
      </p:sp>
      <p:sp>
        <p:nvSpPr>
          <p:cNvPr id="24" name="Shape 22"/>
          <p:cNvSpPr/>
          <p:nvPr/>
        </p:nvSpPr>
        <p:spPr>
          <a:xfrm>
            <a:off x="6071616" y="2807208"/>
            <a:ext cx="2715768" cy="1901952"/>
          </a:xfrm>
          <a:prstGeom prst="roundRect">
            <a:avLst>
              <a:gd name="adj" fmla="val 6731"/>
            </a:avLst>
          </a:prstGeom>
          <a:solidFill>
            <a:srgbClr val="0D2137"/>
          </a:solidFill>
          <a:ln w="12700">
            <a:solidFill>
              <a:srgbClr val="02C39A"/>
            </a:solidFill>
            <a:prstDash val="solid"/>
          </a:ln>
          <a:effectLst>
            <a:outerShdw sx="100000" sy="100000" kx="0" ky="0" algn="bl" rotWithShape="0" blurRad="127000" dist="50800" dir="2700000">
              <a:srgbClr val="000000">
                <a:alpha val="20000"/>
              </a:srgbClr>
            </a:outerShdw>
          </a:effectLst>
        </p:spPr>
      </p:sp>
      <p:sp>
        <p:nvSpPr>
          <p:cNvPr id="25" name="Text 23"/>
          <p:cNvSpPr/>
          <p:nvPr/>
        </p:nvSpPr>
        <p:spPr>
          <a:xfrm>
            <a:off x="6071616" y="2935224"/>
            <a:ext cx="2715768" cy="658368"/>
          </a:xfrm>
          <a:prstGeom prst="rect">
            <a:avLst/>
          </a:prstGeom>
          <a:noFill/>
          <a:ln/>
        </p:spPr>
        <p:txBody>
          <a:bodyPr wrap="square" rtlCol="0" anchor="ctr"/>
          <a:lstStyle/>
          <a:p>
            <a:pPr algn="ctr" indent="0" marL="0">
              <a:buNone/>
            </a:pPr>
            <a:r>
              <a:rPr lang="en-US" sz="2800" b="1" dirty="0">
                <a:solidFill>
                  <a:srgbClr val="02C39A"/>
                </a:solidFill>
                <a:latin typeface="Calibri" pitchFamily="34" charset="0"/>
                <a:ea typeface="Calibri" pitchFamily="34" charset="-122"/>
                <a:cs typeface="Calibri" pitchFamily="34" charset="-120"/>
              </a:rPr>
              <a:t>5.00</a:t>
            </a:r>
            <a:endParaRPr lang="en-US" sz="2800" dirty="0"/>
          </a:p>
        </p:txBody>
      </p:sp>
      <p:sp>
        <p:nvSpPr>
          <p:cNvPr id="26" name="Text 24"/>
          <p:cNvSpPr/>
          <p:nvPr/>
        </p:nvSpPr>
        <p:spPr>
          <a:xfrm>
            <a:off x="6071616" y="3575304"/>
            <a:ext cx="2715768" cy="3200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Median Review Score</a:t>
            </a:r>
            <a:endParaRPr lang="en-US" sz="1150" dirty="0"/>
          </a:p>
        </p:txBody>
      </p:sp>
      <p:sp>
        <p:nvSpPr>
          <p:cNvPr id="27" name="Text 25"/>
          <p:cNvSpPr/>
          <p:nvPr/>
        </p:nvSpPr>
        <p:spPr>
          <a:xfrm>
            <a:off x="6163056" y="3904488"/>
            <a:ext cx="2532888" cy="658368"/>
          </a:xfrm>
          <a:prstGeom prst="rect">
            <a:avLst/>
          </a:prstGeom>
          <a:noFill/>
          <a:ln/>
        </p:spPr>
        <p:txBody>
          <a:bodyPr wrap="square" rtlCol="0" anchor="ctr"/>
          <a:lstStyle/>
          <a:p>
            <a:pPr algn="ctr" indent="0" marL="0">
              <a:buNone/>
            </a:pPr>
            <a:r>
              <a:rPr lang="en-US" sz="900" dirty="0">
                <a:solidFill>
                  <a:srgbClr val="90AFC5"/>
                </a:solidFill>
                <a:latin typeface="Calibri" pitchFamily="34" charset="0"/>
                <a:ea typeface="Calibri" pitchFamily="34" charset="-122"/>
                <a:cs typeface="Calibri" pitchFamily="34" charset="-120"/>
              </a:rPr>
              <a:t>Bimodal: 5-star most common, 1-star third most common</a:t>
            </a:r>
            <a:endParaRPr lang="en-US" sz="900" dirty="0"/>
          </a:p>
        </p:txBody>
      </p:sp>
      <p:sp>
        <p:nvSpPr>
          <p:cNvPr id="28" name="Shape 26"/>
          <p:cNvSpPr/>
          <p:nvPr/>
        </p:nvSpPr>
        <p:spPr>
          <a:xfrm>
            <a:off x="0" y="5047488"/>
            <a:ext cx="9144000" cy="91440"/>
          </a:xfrm>
          <a:prstGeom prst="rect">
            <a:avLst/>
          </a:prstGeom>
          <a:solidFill>
            <a:srgbClr val="0D2137"/>
          </a:solidFill>
          <a:ln w="12700">
            <a:solidFill>
              <a:srgbClr val="0D2137"/>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sp>
      <p:sp>
        <p:nvSpPr>
          <p:cNvPr id="3" name="Text 1"/>
          <p:cNvSpPr/>
          <p:nvPr/>
        </p:nvSpPr>
        <p:spPr>
          <a:xfrm>
            <a:off x="411480" y="109728"/>
            <a:ext cx="8229600" cy="45720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Challenges Encountered &amp; Engineering Solutions</a:t>
            </a:r>
            <a:endParaRPr lang="en-US" sz="2400" dirty="0"/>
          </a:p>
        </p:txBody>
      </p:sp>
      <p:sp>
        <p:nvSpPr>
          <p:cNvPr id="4" name="Shape 2"/>
          <p:cNvSpPr/>
          <p:nvPr/>
        </p:nvSpPr>
        <p:spPr>
          <a:xfrm>
            <a:off x="274320" y="685800"/>
            <a:ext cx="8595360" cy="384048"/>
          </a:xfrm>
          <a:prstGeom prst="rect">
            <a:avLst/>
          </a:prstGeom>
          <a:solidFill>
            <a:srgbClr val="14345A"/>
          </a:solidFill>
          <a:ln w="12700">
            <a:solidFill>
              <a:srgbClr val="14345A"/>
            </a:solidFill>
            <a:prstDash val="solid"/>
          </a:ln>
        </p:spPr>
      </p:sp>
      <p:sp>
        <p:nvSpPr>
          <p:cNvPr id="5" name="Text 3"/>
          <p:cNvSpPr/>
          <p:nvPr/>
        </p:nvSpPr>
        <p:spPr>
          <a:xfrm>
            <a:off x="365760" y="685800"/>
            <a:ext cx="2834640" cy="384048"/>
          </a:xfrm>
          <a:prstGeom prst="rect">
            <a:avLst/>
          </a:prstGeom>
          <a:noFill/>
          <a:ln/>
        </p:spPr>
        <p:txBody>
          <a:bodyPr wrap="square" rtlCol="0" anchor="ctr"/>
          <a:lstStyle/>
          <a:p>
            <a:pPr indent="0" marL="0">
              <a:buNone/>
            </a:pPr>
            <a:r>
              <a:rPr lang="en-US" sz="1050" b="1" dirty="0">
                <a:solidFill>
                  <a:srgbClr val="00B4D8"/>
                </a:solidFill>
              </a:rPr>
              <a:t>Challenge</a:t>
            </a:r>
            <a:endParaRPr lang="en-US" sz="1050" dirty="0"/>
          </a:p>
        </p:txBody>
      </p:sp>
      <p:sp>
        <p:nvSpPr>
          <p:cNvPr id="6" name="Text 4"/>
          <p:cNvSpPr/>
          <p:nvPr/>
        </p:nvSpPr>
        <p:spPr>
          <a:xfrm>
            <a:off x="3246120" y="685800"/>
            <a:ext cx="2468880" cy="384048"/>
          </a:xfrm>
          <a:prstGeom prst="rect">
            <a:avLst/>
          </a:prstGeom>
          <a:noFill/>
          <a:ln/>
        </p:spPr>
        <p:txBody>
          <a:bodyPr wrap="square" rtlCol="0" anchor="ctr"/>
          <a:lstStyle/>
          <a:p>
            <a:pPr indent="0" marL="0">
              <a:buNone/>
            </a:pPr>
            <a:r>
              <a:rPr lang="en-US" sz="1050" b="1" dirty="0">
                <a:solidFill>
                  <a:srgbClr val="00B4D8"/>
                </a:solidFill>
              </a:rPr>
              <a:t>Root Cause</a:t>
            </a:r>
            <a:endParaRPr lang="en-US" sz="1050" dirty="0"/>
          </a:p>
        </p:txBody>
      </p:sp>
      <p:sp>
        <p:nvSpPr>
          <p:cNvPr id="7" name="Text 5"/>
          <p:cNvSpPr/>
          <p:nvPr/>
        </p:nvSpPr>
        <p:spPr>
          <a:xfrm>
            <a:off x="5760720" y="685800"/>
            <a:ext cx="3063240" cy="384048"/>
          </a:xfrm>
          <a:prstGeom prst="rect">
            <a:avLst/>
          </a:prstGeom>
          <a:noFill/>
          <a:ln/>
        </p:spPr>
        <p:txBody>
          <a:bodyPr wrap="square" rtlCol="0" anchor="ctr"/>
          <a:lstStyle/>
          <a:p>
            <a:pPr indent="0" marL="0">
              <a:buNone/>
            </a:pPr>
            <a:r>
              <a:rPr lang="en-US" sz="1050" b="1" dirty="0">
                <a:solidFill>
                  <a:srgbClr val="02C39A"/>
                </a:solidFill>
              </a:rPr>
              <a:t>Solution</a:t>
            </a:r>
            <a:endParaRPr lang="en-US" sz="1050" dirty="0"/>
          </a:p>
        </p:txBody>
      </p:sp>
      <p:sp>
        <p:nvSpPr>
          <p:cNvPr id="8" name="Shape 6"/>
          <p:cNvSpPr/>
          <p:nvPr/>
        </p:nvSpPr>
        <p:spPr>
          <a:xfrm>
            <a:off x="274320" y="1069848"/>
            <a:ext cx="8595360" cy="768096"/>
          </a:xfrm>
          <a:prstGeom prst="rect">
            <a:avLst/>
          </a:prstGeom>
          <a:solidFill>
            <a:srgbClr val="112B45"/>
          </a:solidFill>
          <a:ln w="12700">
            <a:solidFill>
              <a:srgbClr val="1E3A5F"/>
            </a:solidFill>
            <a:prstDash val="solid"/>
          </a:ln>
        </p:spPr>
      </p:sp>
      <p:sp>
        <p:nvSpPr>
          <p:cNvPr id="9" name="Shape 7"/>
          <p:cNvSpPr/>
          <p:nvPr/>
        </p:nvSpPr>
        <p:spPr>
          <a:xfrm>
            <a:off x="347472" y="1124712"/>
            <a:ext cx="274320" cy="274320"/>
          </a:xfrm>
          <a:prstGeom prst="roundRect">
            <a:avLst>
              <a:gd name="adj" fmla="val 16667"/>
            </a:avLst>
          </a:prstGeom>
          <a:solidFill>
            <a:srgbClr val="E63946"/>
          </a:solidFill>
          <a:ln w="12700">
            <a:solidFill>
              <a:srgbClr val="E63946"/>
            </a:solidFill>
            <a:prstDash val="solid"/>
          </a:ln>
        </p:spPr>
      </p:sp>
      <p:sp>
        <p:nvSpPr>
          <p:cNvPr id="10" name="Text 8"/>
          <p:cNvSpPr/>
          <p:nvPr/>
        </p:nvSpPr>
        <p:spPr>
          <a:xfrm>
            <a:off x="347472" y="1124712"/>
            <a:ext cx="274320" cy="274320"/>
          </a:xfrm>
          <a:prstGeom prst="rect">
            <a:avLst/>
          </a:prstGeom>
          <a:noFill/>
          <a:ln/>
        </p:spPr>
        <p:txBody>
          <a:bodyPr wrap="square" rtlCol="0" anchor="ctr"/>
          <a:lstStyle/>
          <a:p>
            <a:pPr algn="ctr" indent="0" marL="0">
              <a:buNone/>
            </a:pPr>
            <a:r>
              <a:rPr lang="en-US" sz="1200" b="1" dirty="0">
                <a:solidFill>
                  <a:srgbClr val="FFFFFF"/>
                </a:solidFill>
              </a:rPr>
              <a:t>!</a:t>
            </a:r>
            <a:endParaRPr lang="en-US" sz="1200" dirty="0"/>
          </a:p>
        </p:txBody>
      </p:sp>
      <p:sp>
        <p:nvSpPr>
          <p:cNvPr id="11" name="Text 9"/>
          <p:cNvSpPr/>
          <p:nvPr/>
        </p:nvSpPr>
        <p:spPr>
          <a:xfrm>
            <a:off x="685800" y="1069848"/>
            <a:ext cx="2468880" cy="768096"/>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SSL proxy blocking pip &amp; Kaggle API</a:t>
            </a:r>
            <a:endParaRPr lang="en-US" sz="1000" dirty="0"/>
          </a:p>
        </p:txBody>
      </p:sp>
      <p:sp>
        <p:nvSpPr>
          <p:cNvPr id="12" name="Text 10"/>
          <p:cNvSpPr/>
          <p:nvPr/>
        </p:nvSpPr>
        <p:spPr>
          <a:xfrm>
            <a:off x="3246120" y="1069848"/>
            <a:ext cx="2423160" cy="768096"/>
          </a:xfrm>
          <a:prstGeom prst="rect">
            <a:avLst/>
          </a:prstGeom>
          <a:noFill/>
          <a:ln/>
        </p:spPr>
        <p:txBody>
          <a:bodyPr wrap="square" rtlCol="0" anchor="ctr"/>
          <a:lstStyle/>
          <a:p>
            <a:pPr indent="0" marL="0">
              <a:buNone/>
            </a:pPr>
            <a:r>
              <a:rPr lang="en-US" sz="950" i="1" dirty="0">
                <a:solidFill>
                  <a:srgbClr val="90AFC5"/>
                </a:solidFill>
                <a:latin typeface="Calibri" pitchFamily="34" charset="0"/>
                <a:ea typeface="Calibri" pitchFamily="34" charset="-122"/>
                <a:cs typeface="Calibri" pitchFamily="34" charset="-120"/>
              </a:rPr>
              <a:t>Network proxy intercepting HTTPS</a:t>
            </a:r>
            <a:endParaRPr lang="en-US" sz="950" dirty="0"/>
          </a:p>
        </p:txBody>
      </p:sp>
      <p:sp>
        <p:nvSpPr>
          <p:cNvPr id="13" name="Shape 11"/>
          <p:cNvSpPr/>
          <p:nvPr/>
        </p:nvSpPr>
        <p:spPr>
          <a:xfrm>
            <a:off x="5715000" y="1143000"/>
            <a:ext cx="256032" cy="256032"/>
          </a:xfrm>
          <a:prstGeom prst="roundRect">
            <a:avLst>
              <a:gd name="adj" fmla="val 17857"/>
            </a:avLst>
          </a:prstGeom>
          <a:solidFill>
            <a:srgbClr val="02C39A"/>
          </a:solidFill>
          <a:ln w="12700">
            <a:solidFill>
              <a:srgbClr val="02C39A"/>
            </a:solidFill>
            <a:prstDash val="solid"/>
          </a:ln>
        </p:spPr>
      </p:sp>
      <p:sp>
        <p:nvSpPr>
          <p:cNvPr id="14" name="Text 12"/>
          <p:cNvSpPr/>
          <p:nvPr/>
        </p:nvSpPr>
        <p:spPr>
          <a:xfrm>
            <a:off x="5715000" y="1143000"/>
            <a:ext cx="256032" cy="256032"/>
          </a:xfrm>
          <a:prstGeom prst="rect">
            <a:avLst/>
          </a:prstGeom>
          <a:noFill/>
          <a:ln/>
        </p:spPr>
        <p:txBody>
          <a:bodyPr wrap="square" rtlCol="0" anchor="ctr"/>
          <a:lstStyle/>
          <a:p>
            <a:pPr algn="ctr" indent="0" marL="0">
              <a:buNone/>
            </a:pPr>
            <a:r>
              <a:rPr lang="en-US" sz="1100" b="1" dirty="0">
                <a:solidFill>
                  <a:srgbClr val="0D2137"/>
                </a:solidFill>
              </a:rPr>
              <a:t>✓</a:t>
            </a:r>
            <a:endParaRPr lang="en-US" sz="1100" dirty="0"/>
          </a:p>
        </p:txBody>
      </p:sp>
      <p:sp>
        <p:nvSpPr>
          <p:cNvPr id="15" name="Text 13"/>
          <p:cNvSpPr/>
          <p:nvPr/>
        </p:nvSpPr>
        <p:spPr>
          <a:xfrm>
            <a:off x="6016752" y="1069848"/>
            <a:ext cx="2743200" cy="768096"/>
          </a:xfrm>
          <a:prstGeom prst="rect">
            <a:avLst/>
          </a:prstGeom>
          <a:noFill/>
          <a:ln/>
        </p:spPr>
        <p:txBody>
          <a:bodyPr wrap="square" rtlCol="0" anchor="ctr"/>
          <a:lstStyle/>
          <a:p>
            <a:pPr indent="0" marL="0">
              <a:buNone/>
            </a:pPr>
            <a:r>
              <a:rPr lang="en-US" sz="950" dirty="0">
                <a:solidFill>
                  <a:srgbClr val="02C39A"/>
                </a:solidFill>
                <a:latin typeface="Calibri" pitchFamily="34" charset="0"/>
                <a:ea typeface="Calibri" pitchFamily="34" charset="-122"/>
                <a:cs typeface="Calibri" pitchFamily="34" charset="-120"/>
              </a:rPr>
              <a:t>--trusted-host flags on all pip installs and API calls</a:t>
            </a:r>
            <a:endParaRPr lang="en-US" sz="950" dirty="0"/>
          </a:p>
        </p:txBody>
      </p:sp>
      <p:sp>
        <p:nvSpPr>
          <p:cNvPr id="16" name="Shape 14"/>
          <p:cNvSpPr/>
          <p:nvPr/>
        </p:nvSpPr>
        <p:spPr>
          <a:xfrm>
            <a:off x="274320" y="1837944"/>
            <a:ext cx="8595360" cy="768096"/>
          </a:xfrm>
          <a:prstGeom prst="rect">
            <a:avLst/>
          </a:prstGeom>
          <a:solidFill>
            <a:srgbClr val="0D2B45"/>
          </a:solidFill>
          <a:ln w="12700">
            <a:solidFill>
              <a:srgbClr val="1E3A5F"/>
            </a:solidFill>
            <a:prstDash val="solid"/>
          </a:ln>
        </p:spPr>
      </p:sp>
      <p:sp>
        <p:nvSpPr>
          <p:cNvPr id="17" name="Shape 15"/>
          <p:cNvSpPr/>
          <p:nvPr/>
        </p:nvSpPr>
        <p:spPr>
          <a:xfrm>
            <a:off x="347472" y="1892808"/>
            <a:ext cx="274320" cy="274320"/>
          </a:xfrm>
          <a:prstGeom prst="roundRect">
            <a:avLst>
              <a:gd name="adj" fmla="val 16667"/>
            </a:avLst>
          </a:prstGeom>
          <a:solidFill>
            <a:srgbClr val="E63946"/>
          </a:solidFill>
          <a:ln w="12700">
            <a:solidFill>
              <a:srgbClr val="E63946"/>
            </a:solidFill>
            <a:prstDash val="solid"/>
          </a:ln>
        </p:spPr>
      </p:sp>
      <p:sp>
        <p:nvSpPr>
          <p:cNvPr id="18" name="Text 16"/>
          <p:cNvSpPr/>
          <p:nvPr/>
        </p:nvSpPr>
        <p:spPr>
          <a:xfrm>
            <a:off x="347472" y="1892808"/>
            <a:ext cx="274320" cy="274320"/>
          </a:xfrm>
          <a:prstGeom prst="rect">
            <a:avLst/>
          </a:prstGeom>
          <a:noFill/>
          <a:ln/>
        </p:spPr>
        <p:txBody>
          <a:bodyPr wrap="square" rtlCol="0" anchor="ctr"/>
          <a:lstStyle/>
          <a:p>
            <a:pPr algn="ctr" indent="0" marL="0">
              <a:buNone/>
            </a:pPr>
            <a:r>
              <a:rPr lang="en-US" sz="1200" b="1" dirty="0">
                <a:solidFill>
                  <a:srgbClr val="FFFFFF"/>
                </a:solidFill>
              </a:rPr>
              <a:t>!</a:t>
            </a:r>
            <a:endParaRPr lang="en-US" sz="1200" dirty="0"/>
          </a:p>
        </p:txBody>
      </p:sp>
      <p:sp>
        <p:nvSpPr>
          <p:cNvPr id="19" name="Text 17"/>
          <p:cNvSpPr/>
          <p:nvPr/>
        </p:nvSpPr>
        <p:spPr>
          <a:xfrm>
            <a:off x="685800" y="1837944"/>
            <a:ext cx="2468880" cy="768096"/>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Python 3.14 ≠ Airflow 2.9.2</a:t>
            </a:r>
            <a:endParaRPr lang="en-US" sz="1000" dirty="0"/>
          </a:p>
        </p:txBody>
      </p:sp>
      <p:sp>
        <p:nvSpPr>
          <p:cNvPr id="20" name="Text 18"/>
          <p:cNvSpPr/>
          <p:nvPr/>
        </p:nvSpPr>
        <p:spPr>
          <a:xfrm>
            <a:off x="3246120" y="1837944"/>
            <a:ext cx="2423160" cy="768096"/>
          </a:xfrm>
          <a:prstGeom prst="rect">
            <a:avLst/>
          </a:prstGeom>
          <a:noFill/>
          <a:ln/>
        </p:spPr>
        <p:txBody>
          <a:bodyPr wrap="square" rtlCol="0" anchor="ctr"/>
          <a:lstStyle/>
          <a:p>
            <a:pPr indent="0" marL="0">
              <a:buNone/>
            </a:pPr>
            <a:r>
              <a:rPr lang="en-US" sz="950" i="1" dirty="0">
                <a:solidFill>
                  <a:srgbClr val="90AFC5"/>
                </a:solidFill>
                <a:latin typeface="Calibri" pitchFamily="34" charset="0"/>
                <a:ea typeface="Calibri" pitchFamily="34" charset="-122"/>
                <a:cs typeface="Calibri" pitchFamily="34" charset="-120"/>
              </a:rPr>
              <a:t>System Python too new for Airflow reqs</a:t>
            </a:r>
            <a:endParaRPr lang="en-US" sz="950" dirty="0"/>
          </a:p>
        </p:txBody>
      </p:sp>
      <p:sp>
        <p:nvSpPr>
          <p:cNvPr id="21" name="Shape 19"/>
          <p:cNvSpPr/>
          <p:nvPr/>
        </p:nvSpPr>
        <p:spPr>
          <a:xfrm>
            <a:off x="5715000" y="1911096"/>
            <a:ext cx="256032" cy="256032"/>
          </a:xfrm>
          <a:prstGeom prst="roundRect">
            <a:avLst>
              <a:gd name="adj" fmla="val 17857"/>
            </a:avLst>
          </a:prstGeom>
          <a:solidFill>
            <a:srgbClr val="02C39A"/>
          </a:solidFill>
          <a:ln w="12700">
            <a:solidFill>
              <a:srgbClr val="02C39A"/>
            </a:solidFill>
            <a:prstDash val="solid"/>
          </a:ln>
        </p:spPr>
      </p:sp>
      <p:sp>
        <p:nvSpPr>
          <p:cNvPr id="22" name="Text 20"/>
          <p:cNvSpPr/>
          <p:nvPr/>
        </p:nvSpPr>
        <p:spPr>
          <a:xfrm>
            <a:off x="5715000" y="1911096"/>
            <a:ext cx="256032" cy="256032"/>
          </a:xfrm>
          <a:prstGeom prst="rect">
            <a:avLst/>
          </a:prstGeom>
          <a:noFill/>
          <a:ln/>
        </p:spPr>
        <p:txBody>
          <a:bodyPr wrap="square" rtlCol="0" anchor="ctr"/>
          <a:lstStyle/>
          <a:p>
            <a:pPr algn="ctr" indent="0" marL="0">
              <a:buNone/>
            </a:pPr>
            <a:r>
              <a:rPr lang="en-US" sz="1100" b="1" dirty="0">
                <a:solidFill>
                  <a:srgbClr val="0D2137"/>
                </a:solidFill>
              </a:rPr>
              <a:t>✓</a:t>
            </a:r>
            <a:endParaRPr lang="en-US" sz="1100" dirty="0"/>
          </a:p>
        </p:txBody>
      </p:sp>
      <p:sp>
        <p:nvSpPr>
          <p:cNvPr id="23" name="Text 21"/>
          <p:cNvSpPr/>
          <p:nvPr/>
        </p:nvSpPr>
        <p:spPr>
          <a:xfrm>
            <a:off x="6016752" y="1837944"/>
            <a:ext cx="2743200" cy="768096"/>
          </a:xfrm>
          <a:prstGeom prst="rect">
            <a:avLst/>
          </a:prstGeom>
          <a:noFill/>
          <a:ln/>
        </p:spPr>
        <p:txBody>
          <a:bodyPr wrap="square" rtlCol="0" anchor="ctr"/>
          <a:lstStyle/>
          <a:p>
            <a:pPr indent="0" marL="0">
              <a:buNone/>
            </a:pPr>
            <a:r>
              <a:rPr lang="en-US" sz="950" dirty="0">
                <a:solidFill>
                  <a:srgbClr val="02C39A"/>
                </a:solidFill>
                <a:latin typeface="Calibri" pitchFamily="34" charset="0"/>
                <a:ea typeface="Calibri" pitchFamily="34" charset="-122"/>
                <a:cs typeface="Calibri" pitchFamily="34" charset="-120"/>
              </a:rPr>
              <a:t>Created Python 3.11 venv inside WSL</a:t>
            </a:r>
            <a:endParaRPr lang="en-US" sz="950" dirty="0"/>
          </a:p>
        </p:txBody>
      </p:sp>
      <p:sp>
        <p:nvSpPr>
          <p:cNvPr id="24" name="Shape 22"/>
          <p:cNvSpPr/>
          <p:nvPr/>
        </p:nvSpPr>
        <p:spPr>
          <a:xfrm>
            <a:off x="274320" y="2606040"/>
            <a:ext cx="8595360" cy="768096"/>
          </a:xfrm>
          <a:prstGeom prst="rect">
            <a:avLst/>
          </a:prstGeom>
          <a:solidFill>
            <a:srgbClr val="112B45"/>
          </a:solidFill>
          <a:ln w="12700">
            <a:solidFill>
              <a:srgbClr val="1E3A5F"/>
            </a:solidFill>
            <a:prstDash val="solid"/>
          </a:ln>
        </p:spPr>
      </p:sp>
      <p:sp>
        <p:nvSpPr>
          <p:cNvPr id="25" name="Shape 23"/>
          <p:cNvSpPr/>
          <p:nvPr/>
        </p:nvSpPr>
        <p:spPr>
          <a:xfrm>
            <a:off x="347472" y="2660904"/>
            <a:ext cx="274320" cy="274320"/>
          </a:xfrm>
          <a:prstGeom prst="roundRect">
            <a:avLst>
              <a:gd name="adj" fmla="val 16667"/>
            </a:avLst>
          </a:prstGeom>
          <a:solidFill>
            <a:srgbClr val="E63946"/>
          </a:solidFill>
          <a:ln w="12700">
            <a:solidFill>
              <a:srgbClr val="E63946"/>
            </a:solidFill>
            <a:prstDash val="solid"/>
          </a:ln>
        </p:spPr>
      </p:sp>
      <p:sp>
        <p:nvSpPr>
          <p:cNvPr id="26" name="Text 24"/>
          <p:cNvSpPr/>
          <p:nvPr/>
        </p:nvSpPr>
        <p:spPr>
          <a:xfrm>
            <a:off x="347472" y="2660904"/>
            <a:ext cx="274320" cy="274320"/>
          </a:xfrm>
          <a:prstGeom prst="rect">
            <a:avLst/>
          </a:prstGeom>
          <a:noFill/>
          <a:ln/>
        </p:spPr>
        <p:txBody>
          <a:bodyPr wrap="square" rtlCol="0" anchor="ctr"/>
          <a:lstStyle/>
          <a:p>
            <a:pPr algn="ctr" indent="0" marL="0">
              <a:buNone/>
            </a:pPr>
            <a:r>
              <a:rPr lang="en-US" sz="1200" b="1" dirty="0">
                <a:solidFill>
                  <a:srgbClr val="FFFFFF"/>
                </a:solidFill>
              </a:rPr>
              <a:t>!</a:t>
            </a:r>
            <a:endParaRPr lang="en-US" sz="1200" dirty="0"/>
          </a:p>
        </p:txBody>
      </p:sp>
      <p:sp>
        <p:nvSpPr>
          <p:cNvPr id="27" name="Text 25"/>
          <p:cNvSpPr/>
          <p:nvPr/>
        </p:nvSpPr>
        <p:spPr>
          <a:xfrm>
            <a:off x="685800" y="2606040"/>
            <a:ext cx="2468880" cy="768096"/>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WSL can't reach Windows PostgreSQL</a:t>
            </a:r>
            <a:endParaRPr lang="en-US" sz="1000" dirty="0"/>
          </a:p>
        </p:txBody>
      </p:sp>
      <p:sp>
        <p:nvSpPr>
          <p:cNvPr id="28" name="Text 26"/>
          <p:cNvSpPr/>
          <p:nvPr/>
        </p:nvSpPr>
        <p:spPr>
          <a:xfrm>
            <a:off x="3246120" y="2606040"/>
            <a:ext cx="2423160" cy="768096"/>
          </a:xfrm>
          <a:prstGeom prst="rect">
            <a:avLst/>
          </a:prstGeom>
          <a:noFill/>
          <a:ln/>
        </p:spPr>
        <p:txBody>
          <a:bodyPr wrap="square" rtlCol="0" anchor="ctr"/>
          <a:lstStyle/>
          <a:p>
            <a:pPr indent="0" marL="0">
              <a:buNone/>
            </a:pPr>
            <a:r>
              <a:rPr lang="en-US" sz="950" i="1" dirty="0">
                <a:solidFill>
                  <a:srgbClr val="90AFC5"/>
                </a:solidFill>
                <a:latin typeface="Calibri" pitchFamily="34" charset="0"/>
                <a:ea typeface="Calibri" pitchFamily="34" charset="-122"/>
                <a:cs typeface="Calibri" pitchFamily="34" charset="-120"/>
              </a:rPr>
              <a:t>localhost in WSL → Linux, not Windows</a:t>
            </a:r>
            <a:endParaRPr lang="en-US" sz="950" dirty="0"/>
          </a:p>
        </p:txBody>
      </p:sp>
      <p:sp>
        <p:nvSpPr>
          <p:cNvPr id="29" name="Shape 27"/>
          <p:cNvSpPr/>
          <p:nvPr/>
        </p:nvSpPr>
        <p:spPr>
          <a:xfrm>
            <a:off x="5715000" y="2679192"/>
            <a:ext cx="256032" cy="256032"/>
          </a:xfrm>
          <a:prstGeom prst="roundRect">
            <a:avLst>
              <a:gd name="adj" fmla="val 17857"/>
            </a:avLst>
          </a:prstGeom>
          <a:solidFill>
            <a:srgbClr val="02C39A"/>
          </a:solidFill>
          <a:ln w="12700">
            <a:solidFill>
              <a:srgbClr val="02C39A"/>
            </a:solidFill>
            <a:prstDash val="solid"/>
          </a:ln>
        </p:spPr>
      </p:sp>
      <p:sp>
        <p:nvSpPr>
          <p:cNvPr id="30" name="Text 28"/>
          <p:cNvSpPr/>
          <p:nvPr/>
        </p:nvSpPr>
        <p:spPr>
          <a:xfrm>
            <a:off x="5715000" y="2679192"/>
            <a:ext cx="256032" cy="256032"/>
          </a:xfrm>
          <a:prstGeom prst="rect">
            <a:avLst/>
          </a:prstGeom>
          <a:noFill/>
          <a:ln/>
        </p:spPr>
        <p:txBody>
          <a:bodyPr wrap="square" rtlCol="0" anchor="ctr"/>
          <a:lstStyle/>
          <a:p>
            <a:pPr algn="ctr" indent="0" marL="0">
              <a:buNone/>
            </a:pPr>
            <a:r>
              <a:rPr lang="en-US" sz="1100" b="1" dirty="0">
                <a:solidFill>
                  <a:srgbClr val="0D2137"/>
                </a:solidFill>
              </a:rPr>
              <a:t>✓</a:t>
            </a:r>
            <a:endParaRPr lang="en-US" sz="1100" dirty="0"/>
          </a:p>
        </p:txBody>
      </p:sp>
      <p:sp>
        <p:nvSpPr>
          <p:cNvPr id="31" name="Text 29"/>
          <p:cNvSpPr/>
          <p:nvPr/>
        </p:nvSpPr>
        <p:spPr>
          <a:xfrm>
            <a:off x="6016752" y="2606040"/>
            <a:ext cx="2743200" cy="768096"/>
          </a:xfrm>
          <a:prstGeom prst="rect">
            <a:avLst/>
          </a:prstGeom>
          <a:noFill/>
          <a:ln/>
        </p:spPr>
        <p:txBody>
          <a:bodyPr wrap="square" rtlCol="0" anchor="ctr"/>
          <a:lstStyle/>
          <a:p>
            <a:pPr indent="0" marL="0">
              <a:buNone/>
            </a:pPr>
            <a:r>
              <a:rPr lang="en-US" sz="950" dirty="0">
                <a:solidFill>
                  <a:srgbClr val="02C39A"/>
                </a:solidFill>
                <a:latin typeface="Calibri" pitchFamily="34" charset="0"/>
                <a:ea typeface="Calibri" pitchFamily="34" charset="-122"/>
                <a:cs typeface="Calibri" pitchFamily="34" charset="-120"/>
              </a:rPr>
              <a:t>Found Windows host IP via /etc/resolv.conf, added WSL subnet to pg_hba.conf</a:t>
            </a:r>
            <a:endParaRPr lang="en-US" sz="950" dirty="0"/>
          </a:p>
        </p:txBody>
      </p:sp>
      <p:sp>
        <p:nvSpPr>
          <p:cNvPr id="32" name="Shape 30"/>
          <p:cNvSpPr/>
          <p:nvPr/>
        </p:nvSpPr>
        <p:spPr>
          <a:xfrm>
            <a:off x="274320" y="3374136"/>
            <a:ext cx="8595360" cy="768096"/>
          </a:xfrm>
          <a:prstGeom prst="rect">
            <a:avLst/>
          </a:prstGeom>
          <a:solidFill>
            <a:srgbClr val="0D2B45"/>
          </a:solidFill>
          <a:ln w="12700">
            <a:solidFill>
              <a:srgbClr val="1E3A5F"/>
            </a:solidFill>
            <a:prstDash val="solid"/>
          </a:ln>
        </p:spPr>
      </p:sp>
      <p:sp>
        <p:nvSpPr>
          <p:cNvPr id="33" name="Shape 31"/>
          <p:cNvSpPr/>
          <p:nvPr/>
        </p:nvSpPr>
        <p:spPr>
          <a:xfrm>
            <a:off x="347472" y="3429000"/>
            <a:ext cx="274320" cy="274320"/>
          </a:xfrm>
          <a:prstGeom prst="roundRect">
            <a:avLst>
              <a:gd name="adj" fmla="val 16667"/>
            </a:avLst>
          </a:prstGeom>
          <a:solidFill>
            <a:srgbClr val="E63946"/>
          </a:solidFill>
          <a:ln w="12700">
            <a:solidFill>
              <a:srgbClr val="E63946"/>
            </a:solidFill>
            <a:prstDash val="solid"/>
          </a:ln>
        </p:spPr>
      </p:sp>
      <p:sp>
        <p:nvSpPr>
          <p:cNvPr id="34" name="Text 32"/>
          <p:cNvSpPr/>
          <p:nvPr/>
        </p:nvSpPr>
        <p:spPr>
          <a:xfrm>
            <a:off x="347472" y="3429000"/>
            <a:ext cx="274320" cy="274320"/>
          </a:xfrm>
          <a:prstGeom prst="rect">
            <a:avLst/>
          </a:prstGeom>
          <a:noFill/>
          <a:ln/>
        </p:spPr>
        <p:txBody>
          <a:bodyPr wrap="square" rtlCol="0" anchor="ctr"/>
          <a:lstStyle/>
          <a:p>
            <a:pPr algn="ctr" indent="0" marL="0">
              <a:buNone/>
            </a:pPr>
            <a:r>
              <a:rPr lang="en-US" sz="1200" b="1" dirty="0">
                <a:solidFill>
                  <a:srgbClr val="FFFFFF"/>
                </a:solidFill>
              </a:rPr>
              <a:t>!</a:t>
            </a:r>
            <a:endParaRPr lang="en-US" sz="1200" dirty="0"/>
          </a:p>
        </p:txBody>
      </p:sp>
      <p:sp>
        <p:nvSpPr>
          <p:cNvPr id="35" name="Text 33"/>
          <p:cNvSpPr/>
          <p:nvPr/>
        </p:nvSpPr>
        <p:spPr>
          <a:xfrm>
            <a:off x="685800" y="3374136"/>
            <a:ext cx="2468880" cy="768096"/>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FK violations on product load</a:t>
            </a:r>
            <a:endParaRPr lang="en-US" sz="1000" dirty="0"/>
          </a:p>
        </p:txBody>
      </p:sp>
      <p:sp>
        <p:nvSpPr>
          <p:cNvPr id="36" name="Text 34"/>
          <p:cNvSpPr/>
          <p:nvPr/>
        </p:nvSpPr>
        <p:spPr>
          <a:xfrm>
            <a:off x="3246120" y="3374136"/>
            <a:ext cx="2423160" cy="768096"/>
          </a:xfrm>
          <a:prstGeom prst="rect">
            <a:avLst/>
          </a:prstGeom>
          <a:noFill/>
          <a:ln/>
        </p:spPr>
        <p:txBody>
          <a:bodyPr wrap="square" rtlCol="0" anchor="ctr"/>
          <a:lstStyle/>
          <a:p>
            <a:pPr indent="0" marL="0">
              <a:buNone/>
            </a:pPr>
            <a:r>
              <a:rPr lang="en-US" sz="950" i="1" dirty="0">
                <a:solidFill>
                  <a:srgbClr val="90AFC5"/>
                </a:solidFill>
                <a:latin typeface="Calibri" pitchFamily="34" charset="0"/>
                <a:ea typeface="Calibri" pitchFamily="34" charset="-122"/>
                <a:cs typeface="Calibri" pitchFamily="34" charset="-120"/>
              </a:rPr>
              <a:t>Products reference categories not in translation table</a:t>
            </a:r>
            <a:endParaRPr lang="en-US" sz="950" dirty="0"/>
          </a:p>
        </p:txBody>
      </p:sp>
      <p:sp>
        <p:nvSpPr>
          <p:cNvPr id="37" name="Shape 35"/>
          <p:cNvSpPr/>
          <p:nvPr/>
        </p:nvSpPr>
        <p:spPr>
          <a:xfrm>
            <a:off x="5715000" y="3447288"/>
            <a:ext cx="256032" cy="256032"/>
          </a:xfrm>
          <a:prstGeom prst="roundRect">
            <a:avLst>
              <a:gd name="adj" fmla="val 17857"/>
            </a:avLst>
          </a:prstGeom>
          <a:solidFill>
            <a:srgbClr val="02C39A"/>
          </a:solidFill>
          <a:ln w="12700">
            <a:solidFill>
              <a:srgbClr val="02C39A"/>
            </a:solidFill>
            <a:prstDash val="solid"/>
          </a:ln>
        </p:spPr>
      </p:sp>
      <p:sp>
        <p:nvSpPr>
          <p:cNvPr id="38" name="Text 36"/>
          <p:cNvSpPr/>
          <p:nvPr/>
        </p:nvSpPr>
        <p:spPr>
          <a:xfrm>
            <a:off x="5715000" y="3447288"/>
            <a:ext cx="256032" cy="256032"/>
          </a:xfrm>
          <a:prstGeom prst="rect">
            <a:avLst/>
          </a:prstGeom>
          <a:noFill/>
          <a:ln/>
        </p:spPr>
        <p:txBody>
          <a:bodyPr wrap="square" rtlCol="0" anchor="ctr"/>
          <a:lstStyle/>
          <a:p>
            <a:pPr algn="ctr" indent="0" marL="0">
              <a:buNone/>
            </a:pPr>
            <a:r>
              <a:rPr lang="en-US" sz="1100" b="1" dirty="0">
                <a:solidFill>
                  <a:srgbClr val="0D2137"/>
                </a:solidFill>
              </a:rPr>
              <a:t>✓</a:t>
            </a:r>
            <a:endParaRPr lang="en-US" sz="1100" dirty="0"/>
          </a:p>
        </p:txBody>
      </p:sp>
      <p:sp>
        <p:nvSpPr>
          <p:cNvPr id="39" name="Text 37"/>
          <p:cNvSpPr/>
          <p:nvPr/>
        </p:nvSpPr>
        <p:spPr>
          <a:xfrm>
            <a:off x="6016752" y="3374136"/>
            <a:ext cx="2743200" cy="768096"/>
          </a:xfrm>
          <a:prstGeom prst="rect">
            <a:avLst/>
          </a:prstGeom>
          <a:noFill/>
          <a:ln/>
        </p:spPr>
        <p:txBody>
          <a:bodyPr wrap="square" rtlCol="0" anchor="ctr"/>
          <a:lstStyle/>
          <a:p>
            <a:pPr indent="0" marL="0">
              <a:buNone/>
            </a:pPr>
            <a:r>
              <a:rPr lang="en-US" sz="950" dirty="0">
                <a:solidFill>
                  <a:srgbClr val="02C39A"/>
                </a:solidFill>
                <a:latin typeface="Calibri" pitchFamily="34" charset="0"/>
                <a:ea typeface="Calibri" pitchFamily="34" charset="-122"/>
                <a:cs typeface="Calibri" pitchFamily="34" charset="-120"/>
              </a:rPr>
              <a:t>Pre-flight detection + programmatic insert of missing categories</a:t>
            </a:r>
            <a:endParaRPr lang="en-US" sz="950" dirty="0"/>
          </a:p>
        </p:txBody>
      </p:sp>
      <p:sp>
        <p:nvSpPr>
          <p:cNvPr id="40" name="Shape 38"/>
          <p:cNvSpPr/>
          <p:nvPr/>
        </p:nvSpPr>
        <p:spPr>
          <a:xfrm>
            <a:off x="274320" y="4142232"/>
            <a:ext cx="8595360" cy="768096"/>
          </a:xfrm>
          <a:prstGeom prst="rect">
            <a:avLst/>
          </a:prstGeom>
          <a:solidFill>
            <a:srgbClr val="112B45"/>
          </a:solidFill>
          <a:ln w="12700">
            <a:solidFill>
              <a:srgbClr val="1E3A5F"/>
            </a:solidFill>
            <a:prstDash val="solid"/>
          </a:ln>
        </p:spPr>
      </p:sp>
      <p:sp>
        <p:nvSpPr>
          <p:cNvPr id="41" name="Shape 39"/>
          <p:cNvSpPr/>
          <p:nvPr/>
        </p:nvSpPr>
        <p:spPr>
          <a:xfrm>
            <a:off x="347472" y="4197096"/>
            <a:ext cx="274320" cy="274320"/>
          </a:xfrm>
          <a:prstGeom prst="roundRect">
            <a:avLst>
              <a:gd name="adj" fmla="val 16667"/>
            </a:avLst>
          </a:prstGeom>
          <a:solidFill>
            <a:srgbClr val="E63946"/>
          </a:solidFill>
          <a:ln w="12700">
            <a:solidFill>
              <a:srgbClr val="E63946"/>
            </a:solidFill>
            <a:prstDash val="solid"/>
          </a:ln>
        </p:spPr>
      </p:sp>
      <p:sp>
        <p:nvSpPr>
          <p:cNvPr id="42" name="Text 40"/>
          <p:cNvSpPr/>
          <p:nvPr/>
        </p:nvSpPr>
        <p:spPr>
          <a:xfrm>
            <a:off x="347472" y="4197096"/>
            <a:ext cx="274320" cy="274320"/>
          </a:xfrm>
          <a:prstGeom prst="rect">
            <a:avLst/>
          </a:prstGeom>
          <a:noFill/>
          <a:ln/>
        </p:spPr>
        <p:txBody>
          <a:bodyPr wrap="square" rtlCol="0" anchor="ctr"/>
          <a:lstStyle/>
          <a:p>
            <a:pPr algn="ctr" indent="0" marL="0">
              <a:buNone/>
            </a:pPr>
            <a:r>
              <a:rPr lang="en-US" sz="1200" b="1" dirty="0">
                <a:solidFill>
                  <a:srgbClr val="FFFFFF"/>
                </a:solidFill>
              </a:rPr>
              <a:t>!</a:t>
            </a:r>
            <a:endParaRPr lang="en-US" sz="1200" dirty="0"/>
          </a:p>
        </p:txBody>
      </p:sp>
      <p:sp>
        <p:nvSpPr>
          <p:cNvPr id="43" name="Text 41"/>
          <p:cNvSpPr/>
          <p:nvPr/>
        </p:nvSpPr>
        <p:spPr>
          <a:xfrm>
            <a:off x="685800" y="4142232"/>
            <a:ext cx="2468880" cy="768096"/>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Duplicate review IDs — PK violation</a:t>
            </a:r>
            <a:endParaRPr lang="en-US" sz="1000" dirty="0"/>
          </a:p>
        </p:txBody>
      </p:sp>
      <p:sp>
        <p:nvSpPr>
          <p:cNvPr id="44" name="Text 42"/>
          <p:cNvSpPr/>
          <p:nvPr/>
        </p:nvSpPr>
        <p:spPr>
          <a:xfrm>
            <a:off x="3246120" y="4142232"/>
            <a:ext cx="2423160" cy="768096"/>
          </a:xfrm>
          <a:prstGeom prst="rect">
            <a:avLst/>
          </a:prstGeom>
          <a:noFill/>
          <a:ln/>
        </p:spPr>
        <p:txBody>
          <a:bodyPr wrap="square" rtlCol="0" anchor="ctr"/>
          <a:lstStyle/>
          <a:p>
            <a:pPr indent="0" marL="0">
              <a:buNone/>
            </a:pPr>
            <a:r>
              <a:rPr lang="en-US" sz="950" i="1" dirty="0">
                <a:solidFill>
                  <a:srgbClr val="90AFC5"/>
                </a:solidFill>
                <a:latin typeface="Calibri" pitchFamily="34" charset="0"/>
                <a:ea typeface="Calibri" pitchFamily="34" charset="-122"/>
                <a:cs typeface="Calibri" pitchFamily="34" charset="-120"/>
              </a:rPr>
              <a:t>Olist upstream bug: same ID reused</a:t>
            </a:r>
            <a:endParaRPr lang="en-US" sz="950" dirty="0"/>
          </a:p>
        </p:txBody>
      </p:sp>
      <p:sp>
        <p:nvSpPr>
          <p:cNvPr id="45" name="Shape 43"/>
          <p:cNvSpPr/>
          <p:nvPr/>
        </p:nvSpPr>
        <p:spPr>
          <a:xfrm>
            <a:off x="5715000" y="4215384"/>
            <a:ext cx="256032" cy="256032"/>
          </a:xfrm>
          <a:prstGeom prst="roundRect">
            <a:avLst>
              <a:gd name="adj" fmla="val 17857"/>
            </a:avLst>
          </a:prstGeom>
          <a:solidFill>
            <a:srgbClr val="02C39A"/>
          </a:solidFill>
          <a:ln w="12700">
            <a:solidFill>
              <a:srgbClr val="02C39A"/>
            </a:solidFill>
            <a:prstDash val="solid"/>
          </a:ln>
        </p:spPr>
      </p:sp>
      <p:sp>
        <p:nvSpPr>
          <p:cNvPr id="46" name="Text 44"/>
          <p:cNvSpPr/>
          <p:nvPr/>
        </p:nvSpPr>
        <p:spPr>
          <a:xfrm>
            <a:off x="5715000" y="4215384"/>
            <a:ext cx="256032" cy="256032"/>
          </a:xfrm>
          <a:prstGeom prst="rect">
            <a:avLst/>
          </a:prstGeom>
          <a:noFill/>
          <a:ln/>
        </p:spPr>
        <p:txBody>
          <a:bodyPr wrap="square" rtlCol="0" anchor="ctr"/>
          <a:lstStyle/>
          <a:p>
            <a:pPr algn="ctr" indent="0" marL="0">
              <a:buNone/>
            </a:pPr>
            <a:r>
              <a:rPr lang="en-US" sz="1100" b="1" dirty="0">
                <a:solidFill>
                  <a:srgbClr val="0D2137"/>
                </a:solidFill>
              </a:rPr>
              <a:t>✓</a:t>
            </a:r>
            <a:endParaRPr lang="en-US" sz="1100" dirty="0"/>
          </a:p>
        </p:txBody>
      </p:sp>
      <p:sp>
        <p:nvSpPr>
          <p:cNvPr id="47" name="Text 45"/>
          <p:cNvSpPr/>
          <p:nvPr/>
        </p:nvSpPr>
        <p:spPr>
          <a:xfrm>
            <a:off x="6016752" y="4142232"/>
            <a:ext cx="2743200" cy="768096"/>
          </a:xfrm>
          <a:prstGeom prst="rect">
            <a:avLst/>
          </a:prstGeom>
          <a:noFill/>
          <a:ln/>
        </p:spPr>
        <p:txBody>
          <a:bodyPr wrap="square" rtlCol="0" anchor="ctr"/>
          <a:lstStyle/>
          <a:p>
            <a:pPr indent="0" marL="0">
              <a:buNone/>
            </a:pPr>
            <a:r>
              <a:rPr lang="en-US" sz="950" dirty="0">
                <a:solidFill>
                  <a:srgbClr val="02C39A"/>
                </a:solidFill>
                <a:latin typeface="Calibri" pitchFamily="34" charset="0"/>
                <a:ea typeface="Calibri" pitchFamily="34" charset="-122"/>
                <a:cs typeface="Calibri" pitchFamily="34" charset="-120"/>
              </a:rPr>
              <a:t>drop_duplicates(keep='first') on review_id before load</a:t>
            </a:r>
            <a:endParaRPr lang="en-US" sz="950" dirty="0"/>
          </a:p>
        </p:txBody>
      </p:sp>
      <p:sp>
        <p:nvSpPr>
          <p:cNvPr id="48" name="Shape 46"/>
          <p:cNvSpPr/>
          <p:nvPr/>
        </p:nvSpPr>
        <p:spPr>
          <a:xfrm>
            <a:off x="0" y="5047488"/>
            <a:ext cx="9144000" cy="91440"/>
          </a:xfrm>
          <a:prstGeom prst="rect">
            <a:avLst/>
          </a:prstGeom>
          <a:solidFill>
            <a:srgbClr val="14345A"/>
          </a:solidFill>
          <a:ln w="12700">
            <a:solidFill>
              <a:srgbClr val="14345A"/>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8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2137"/>
          </a:solidFill>
          <a:ln w="12700">
            <a:solidFill>
              <a:srgbClr val="0D2137"/>
            </a:solidFill>
            <a:prstDash val="solid"/>
          </a:ln>
        </p:spPr>
      </p:sp>
      <p:sp>
        <p:nvSpPr>
          <p:cNvPr id="3" name="Text 1"/>
          <p:cNvSpPr/>
          <p:nvPr/>
        </p:nvSpPr>
        <p:spPr>
          <a:xfrm>
            <a:off x="411480" y="109728"/>
            <a:ext cx="8229600" cy="502920"/>
          </a:xfrm>
          <a:prstGeom prst="rect">
            <a:avLst/>
          </a:prstGeom>
          <a:noFill/>
          <a:ln/>
        </p:spPr>
        <p:txBody>
          <a:bodyPr wrap="square" rtlCol="0" anchor="ctr"/>
          <a:lstStyle/>
          <a:p>
            <a:pPr indent="0" marL="0">
              <a:buNone/>
            </a:pPr>
            <a:r>
              <a:rPr lang="en-US" sz="2600" b="1" dirty="0">
                <a:solidFill>
                  <a:srgbClr val="0D2137"/>
                </a:solidFill>
                <a:latin typeface="Calibri" pitchFamily="34" charset="0"/>
                <a:ea typeface="Calibri" pitchFamily="34" charset="-122"/>
                <a:cs typeface="Calibri" pitchFamily="34" charset="-120"/>
              </a:rPr>
              <a:t>Recommendations — Production Roadmap</a:t>
            </a:r>
            <a:endParaRPr lang="en-US" sz="2600" dirty="0"/>
          </a:p>
        </p:txBody>
      </p:sp>
      <p:sp>
        <p:nvSpPr>
          <p:cNvPr id="4" name="Shape 2"/>
          <p:cNvSpPr/>
          <p:nvPr/>
        </p:nvSpPr>
        <p:spPr>
          <a:xfrm>
            <a:off x="274320" y="777240"/>
            <a:ext cx="4206240" cy="1874520"/>
          </a:xfrm>
          <a:prstGeom prst="roundRect">
            <a:avLst>
              <a:gd name="adj" fmla="val 6829"/>
            </a:avLst>
          </a:prstGeom>
          <a:solidFill>
            <a:srgbClr val="0D2137"/>
          </a:solidFill>
          <a:ln w="12700">
            <a:solidFill>
              <a:srgbClr val="00B4D8"/>
            </a:solidFill>
            <a:prstDash val="solid"/>
          </a:ln>
          <a:effectLst>
            <a:outerShdw sx="100000" sy="100000" kx="0" ky="0" algn="bl" rotWithShape="0" blurRad="127000" dist="50800" dir="2700000">
              <a:srgbClr val="000000">
                <a:alpha val="20000"/>
              </a:srgbClr>
            </a:outerShdw>
          </a:effectLst>
        </p:spPr>
      </p:sp>
      <p:sp>
        <p:nvSpPr>
          <p:cNvPr id="5" name="Shape 3"/>
          <p:cNvSpPr/>
          <p:nvPr/>
        </p:nvSpPr>
        <p:spPr>
          <a:xfrm>
            <a:off x="411480" y="1399032"/>
            <a:ext cx="502920" cy="502920"/>
          </a:xfrm>
          <a:prstGeom prst="ellipse">
            <a:avLst/>
          </a:prstGeom>
          <a:solidFill>
            <a:srgbClr val="00B4D8"/>
          </a:solidFill>
          <a:ln w="12700">
            <a:solidFill>
              <a:srgbClr val="00B4D8"/>
            </a:solidFill>
            <a:prstDash val="solid"/>
          </a:ln>
        </p:spPr>
      </p:sp>
      <p:sp>
        <p:nvSpPr>
          <p:cNvPr id="6" name="Text 4"/>
          <p:cNvSpPr/>
          <p:nvPr/>
        </p:nvSpPr>
        <p:spPr>
          <a:xfrm>
            <a:off x="411480" y="1399032"/>
            <a:ext cx="502920" cy="502920"/>
          </a:xfrm>
          <a:prstGeom prst="rect">
            <a:avLst/>
          </a:prstGeom>
          <a:noFill/>
          <a:ln/>
        </p:spPr>
        <p:txBody>
          <a:bodyPr wrap="square" rtlCol="0" anchor="ctr"/>
          <a:lstStyle/>
          <a:p>
            <a:pPr algn="ctr" indent="0" marL="0">
              <a:buNone/>
            </a:pPr>
            <a:r>
              <a:rPr lang="en-US" sz="1100" b="1" dirty="0">
                <a:solidFill>
                  <a:srgbClr val="0D2137"/>
                </a:solidFill>
              </a:rPr>
              <a:t>01</a:t>
            </a:r>
            <a:endParaRPr lang="en-US" sz="1100" dirty="0"/>
          </a:p>
        </p:txBody>
      </p:sp>
      <p:sp>
        <p:nvSpPr>
          <p:cNvPr id="7" name="Text 5"/>
          <p:cNvSpPr/>
          <p:nvPr/>
        </p:nvSpPr>
        <p:spPr>
          <a:xfrm>
            <a:off x="1005840" y="868680"/>
            <a:ext cx="3383280" cy="384048"/>
          </a:xfrm>
          <a:prstGeom prst="rect">
            <a:avLst/>
          </a:prstGeom>
          <a:noFill/>
          <a:ln/>
        </p:spPr>
        <p:txBody>
          <a:bodyPr wrap="square" rtlCol="0" anchor="ctr"/>
          <a:lstStyle/>
          <a:p>
            <a:pPr indent="0" marL="0">
              <a:buNone/>
            </a:pPr>
            <a:r>
              <a:rPr lang="en-US" sz="1300" b="1" dirty="0">
                <a:solidFill>
                  <a:srgbClr val="00B4D8"/>
                </a:solidFill>
                <a:latin typeface="Calibri" pitchFamily="34" charset="0"/>
                <a:ea typeface="Calibri" pitchFamily="34" charset="-122"/>
                <a:cs typeface="Calibri" pitchFamily="34" charset="-120"/>
              </a:rPr>
              <a:t>🔄 UPSERT Logic</a:t>
            </a:r>
            <a:endParaRPr lang="en-US" sz="1300" dirty="0"/>
          </a:p>
        </p:txBody>
      </p:sp>
      <p:sp>
        <p:nvSpPr>
          <p:cNvPr id="8" name="Text 6"/>
          <p:cNvSpPr/>
          <p:nvPr/>
        </p:nvSpPr>
        <p:spPr>
          <a:xfrm>
            <a:off x="411480" y="1307592"/>
            <a:ext cx="3931920" cy="1234440"/>
          </a:xfrm>
          <a:prstGeom prst="rect">
            <a:avLst/>
          </a:prstGeom>
          <a:noFill/>
          <a:ln/>
        </p:spPr>
        <p:txBody>
          <a:bodyPr wrap="square" rtlCol="0" anchor="ctr"/>
          <a:lstStyle/>
          <a:p>
            <a:pPr indent="0" marL="0">
              <a:buNone/>
            </a:pPr>
            <a:r>
              <a:rPr lang="en-US" sz="950" dirty="0">
                <a:solidFill>
                  <a:srgbClr val="E8F4F8"/>
                </a:solidFill>
                <a:latin typeface="Calibri" pitchFamily="34" charset="0"/>
                <a:ea typeface="Calibri" pitchFamily="34" charset="-122"/>
                <a:cs typeface="Calibri" pitchFamily="34" charset="-120"/>
              </a:rPr>
              <a:t>Replace if_exists='replace' with PostgreSQL ON CONFLICT DO NOTHING. Enables incremental batch loads without dropping and reloading the entire database. Makes the pipeline idempotent.</a:t>
            </a:r>
            <a:endParaRPr lang="en-US" sz="950" dirty="0"/>
          </a:p>
        </p:txBody>
      </p:sp>
      <p:sp>
        <p:nvSpPr>
          <p:cNvPr id="9" name="Shape 7"/>
          <p:cNvSpPr/>
          <p:nvPr/>
        </p:nvSpPr>
        <p:spPr>
          <a:xfrm>
            <a:off x="4709160" y="777240"/>
            <a:ext cx="4206240" cy="1874520"/>
          </a:xfrm>
          <a:prstGeom prst="roundRect">
            <a:avLst>
              <a:gd name="adj" fmla="val 6829"/>
            </a:avLst>
          </a:prstGeom>
          <a:solidFill>
            <a:srgbClr val="0D2137"/>
          </a:solidFill>
          <a:ln w="12700">
            <a:solidFill>
              <a:srgbClr val="02C39A"/>
            </a:solidFill>
            <a:prstDash val="solid"/>
          </a:ln>
          <a:effectLst>
            <a:outerShdw sx="100000" sy="100000" kx="0" ky="0" algn="bl" rotWithShape="0" blurRad="127000" dist="50800" dir="2700000">
              <a:srgbClr val="000000">
                <a:alpha val="20000"/>
              </a:srgbClr>
            </a:outerShdw>
          </a:effectLst>
        </p:spPr>
      </p:sp>
      <p:sp>
        <p:nvSpPr>
          <p:cNvPr id="10" name="Shape 8"/>
          <p:cNvSpPr/>
          <p:nvPr/>
        </p:nvSpPr>
        <p:spPr>
          <a:xfrm>
            <a:off x="4846320" y="1399032"/>
            <a:ext cx="502920" cy="502920"/>
          </a:xfrm>
          <a:prstGeom prst="ellipse">
            <a:avLst/>
          </a:prstGeom>
          <a:solidFill>
            <a:srgbClr val="02C39A"/>
          </a:solidFill>
          <a:ln w="12700">
            <a:solidFill>
              <a:srgbClr val="02C39A"/>
            </a:solidFill>
            <a:prstDash val="solid"/>
          </a:ln>
        </p:spPr>
      </p:sp>
      <p:sp>
        <p:nvSpPr>
          <p:cNvPr id="11" name="Text 9"/>
          <p:cNvSpPr/>
          <p:nvPr/>
        </p:nvSpPr>
        <p:spPr>
          <a:xfrm>
            <a:off x="4846320" y="1399032"/>
            <a:ext cx="502920" cy="502920"/>
          </a:xfrm>
          <a:prstGeom prst="rect">
            <a:avLst/>
          </a:prstGeom>
          <a:noFill/>
          <a:ln/>
        </p:spPr>
        <p:txBody>
          <a:bodyPr wrap="square" rtlCol="0" anchor="ctr"/>
          <a:lstStyle/>
          <a:p>
            <a:pPr algn="ctr" indent="0" marL="0">
              <a:buNone/>
            </a:pPr>
            <a:r>
              <a:rPr lang="en-US" sz="1100" b="1" dirty="0">
                <a:solidFill>
                  <a:srgbClr val="0D2137"/>
                </a:solidFill>
              </a:rPr>
              <a:t>02</a:t>
            </a:r>
            <a:endParaRPr lang="en-US" sz="1100" dirty="0"/>
          </a:p>
        </p:txBody>
      </p:sp>
      <p:sp>
        <p:nvSpPr>
          <p:cNvPr id="12" name="Text 10"/>
          <p:cNvSpPr/>
          <p:nvPr/>
        </p:nvSpPr>
        <p:spPr>
          <a:xfrm>
            <a:off x="5440680" y="868680"/>
            <a:ext cx="3383280" cy="384048"/>
          </a:xfrm>
          <a:prstGeom prst="rect">
            <a:avLst/>
          </a:prstGeom>
          <a:noFill/>
          <a:ln/>
        </p:spPr>
        <p:txBody>
          <a:bodyPr wrap="square"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 Cloud Object Storage</a:t>
            </a:r>
            <a:endParaRPr lang="en-US" sz="1300" dirty="0"/>
          </a:p>
        </p:txBody>
      </p:sp>
      <p:sp>
        <p:nvSpPr>
          <p:cNvPr id="13" name="Text 11"/>
          <p:cNvSpPr/>
          <p:nvPr/>
        </p:nvSpPr>
        <p:spPr>
          <a:xfrm>
            <a:off x="4846320" y="1307592"/>
            <a:ext cx="3931920" cy="1234440"/>
          </a:xfrm>
          <a:prstGeom prst="rect">
            <a:avLst/>
          </a:prstGeom>
          <a:noFill/>
          <a:ln/>
        </p:spPr>
        <p:txBody>
          <a:bodyPr wrap="square" rtlCol="0" anchor="ctr"/>
          <a:lstStyle/>
          <a:p>
            <a:pPr indent="0" marL="0">
              <a:buNone/>
            </a:pPr>
            <a:r>
              <a:rPr lang="en-US" sz="950" dirty="0">
                <a:solidFill>
                  <a:srgbClr val="E8F4F8"/>
                </a:solidFill>
                <a:latin typeface="Calibri" pitchFamily="34" charset="0"/>
                <a:ea typeface="Calibri" pitchFamily="34" charset="-122"/>
                <a:cs typeface="Calibri" pitchFamily="34" charset="-120"/>
              </a:rPr>
              <a:t>Move raw CSV storage from local paths to AWS S3 or Azure Blob. Removes single point of failure, enables distributed processing, and decouples the pipeline from the local machine.</a:t>
            </a:r>
            <a:endParaRPr lang="en-US" sz="950" dirty="0"/>
          </a:p>
        </p:txBody>
      </p:sp>
      <p:sp>
        <p:nvSpPr>
          <p:cNvPr id="14" name="Shape 12"/>
          <p:cNvSpPr/>
          <p:nvPr/>
        </p:nvSpPr>
        <p:spPr>
          <a:xfrm>
            <a:off x="274320" y="2788920"/>
            <a:ext cx="4206240" cy="1874520"/>
          </a:xfrm>
          <a:prstGeom prst="roundRect">
            <a:avLst>
              <a:gd name="adj" fmla="val 6829"/>
            </a:avLst>
          </a:prstGeom>
          <a:solidFill>
            <a:srgbClr val="0D2137"/>
          </a:solidFill>
          <a:ln w="12700">
            <a:solidFill>
              <a:srgbClr val="F4A261"/>
            </a:solidFill>
            <a:prstDash val="solid"/>
          </a:ln>
          <a:effectLst>
            <a:outerShdw sx="100000" sy="100000" kx="0" ky="0" algn="bl" rotWithShape="0" blurRad="127000" dist="50800" dir="2700000">
              <a:srgbClr val="000000">
                <a:alpha val="20000"/>
              </a:srgbClr>
            </a:outerShdw>
          </a:effectLst>
        </p:spPr>
      </p:sp>
      <p:sp>
        <p:nvSpPr>
          <p:cNvPr id="15" name="Shape 13"/>
          <p:cNvSpPr/>
          <p:nvPr/>
        </p:nvSpPr>
        <p:spPr>
          <a:xfrm>
            <a:off x="411480" y="3410712"/>
            <a:ext cx="502920" cy="502920"/>
          </a:xfrm>
          <a:prstGeom prst="ellipse">
            <a:avLst/>
          </a:prstGeom>
          <a:solidFill>
            <a:srgbClr val="F4A261"/>
          </a:solidFill>
          <a:ln w="12700">
            <a:solidFill>
              <a:srgbClr val="F4A261"/>
            </a:solidFill>
            <a:prstDash val="solid"/>
          </a:ln>
        </p:spPr>
      </p:sp>
      <p:sp>
        <p:nvSpPr>
          <p:cNvPr id="16" name="Text 14"/>
          <p:cNvSpPr/>
          <p:nvPr/>
        </p:nvSpPr>
        <p:spPr>
          <a:xfrm>
            <a:off x="411480" y="3410712"/>
            <a:ext cx="502920" cy="502920"/>
          </a:xfrm>
          <a:prstGeom prst="rect">
            <a:avLst/>
          </a:prstGeom>
          <a:noFill/>
          <a:ln/>
        </p:spPr>
        <p:txBody>
          <a:bodyPr wrap="square" rtlCol="0" anchor="ctr"/>
          <a:lstStyle/>
          <a:p>
            <a:pPr algn="ctr" indent="0" marL="0">
              <a:buNone/>
            </a:pPr>
            <a:r>
              <a:rPr lang="en-US" sz="1100" b="1" dirty="0">
                <a:solidFill>
                  <a:srgbClr val="0D2137"/>
                </a:solidFill>
              </a:rPr>
              <a:t>03</a:t>
            </a:r>
            <a:endParaRPr lang="en-US" sz="1100" dirty="0"/>
          </a:p>
        </p:txBody>
      </p:sp>
      <p:sp>
        <p:nvSpPr>
          <p:cNvPr id="17" name="Text 15"/>
          <p:cNvSpPr/>
          <p:nvPr/>
        </p:nvSpPr>
        <p:spPr>
          <a:xfrm>
            <a:off x="1005840" y="2880360"/>
            <a:ext cx="3383280" cy="384048"/>
          </a:xfrm>
          <a:prstGeom prst="rect">
            <a:avLst/>
          </a:prstGeom>
          <a:noFill/>
          <a:ln/>
        </p:spPr>
        <p:txBody>
          <a:bodyPr wrap="square" rtlCol="0" anchor="ctr"/>
          <a:lstStyle/>
          <a:p>
            <a:pPr indent="0" marL="0">
              <a:buNone/>
            </a:pPr>
            <a:r>
              <a:rPr lang="en-US" sz="1300" b="1" dirty="0">
                <a:solidFill>
                  <a:srgbClr val="F4A261"/>
                </a:solidFill>
                <a:latin typeface="Calibri" pitchFamily="34" charset="0"/>
                <a:ea typeface="Calibri" pitchFamily="34" charset="-122"/>
                <a:cs typeface="Calibri" pitchFamily="34" charset="-120"/>
              </a:rPr>
              <a:t>🔍 Automated QA Task</a:t>
            </a:r>
            <a:endParaRPr lang="en-US" sz="1300" dirty="0"/>
          </a:p>
        </p:txBody>
      </p:sp>
      <p:sp>
        <p:nvSpPr>
          <p:cNvPr id="18" name="Text 16"/>
          <p:cNvSpPr/>
          <p:nvPr/>
        </p:nvSpPr>
        <p:spPr>
          <a:xfrm>
            <a:off x="411480" y="3319272"/>
            <a:ext cx="3931920" cy="1234440"/>
          </a:xfrm>
          <a:prstGeom prst="rect">
            <a:avLst/>
          </a:prstGeom>
          <a:noFill/>
          <a:ln/>
        </p:spPr>
        <p:txBody>
          <a:bodyPr wrap="square" rtlCol="0" anchor="ctr"/>
          <a:lstStyle/>
          <a:p>
            <a:pPr indent="0" marL="0">
              <a:buNone/>
            </a:pPr>
            <a:r>
              <a:rPr lang="en-US" sz="950" dirty="0">
                <a:solidFill>
                  <a:srgbClr val="E8F4F8"/>
                </a:solidFill>
                <a:latin typeface="Calibri" pitchFamily="34" charset="0"/>
                <a:ea typeface="Calibri" pitchFamily="34" charset="-122"/>
                <a:cs typeface="Calibri" pitchFamily="34" charset="-120"/>
              </a:rPr>
              <a:t>Promote the current manual notebook quality checks into a dedicated Airflow task between 'clean' and 'validate'. Data quality checks should be first-class pipeline citizens.</a:t>
            </a:r>
            <a:endParaRPr lang="en-US" sz="950" dirty="0"/>
          </a:p>
        </p:txBody>
      </p:sp>
      <p:sp>
        <p:nvSpPr>
          <p:cNvPr id="19" name="Shape 17"/>
          <p:cNvSpPr/>
          <p:nvPr/>
        </p:nvSpPr>
        <p:spPr>
          <a:xfrm>
            <a:off x="4709160" y="2788920"/>
            <a:ext cx="4206240" cy="1874520"/>
          </a:xfrm>
          <a:prstGeom prst="roundRect">
            <a:avLst>
              <a:gd name="adj" fmla="val 6829"/>
            </a:avLst>
          </a:prstGeom>
          <a:solidFill>
            <a:srgbClr val="0D2137"/>
          </a:solidFill>
          <a:ln w="12700">
            <a:solidFill>
              <a:srgbClr val="C084FC"/>
            </a:solidFill>
            <a:prstDash val="solid"/>
          </a:ln>
          <a:effectLst>
            <a:outerShdw sx="100000" sy="100000" kx="0" ky="0" algn="bl" rotWithShape="0" blurRad="127000" dist="50800" dir="2700000">
              <a:srgbClr val="000000">
                <a:alpha val="20000"/>
              </a:srgbClr>
            </a:outerShdw>
          </a:effectLst>
        </p:spPr>
      </p:sp>
      <p:sp>
        <p:nvSpPr>
          <p:cNvPr id="20" name="Shape 18"/>
          <p:cNvSpPr/>
          <p:nvPr/>
        </p:nvSpPr>
        <p:spPr>
          <a:xfrm>
            <a:off x="4846320" y="3410712"/>
            <a:ext cx="502920" cy="502920"/>
          </a:xfrm>
          <a:prstGeom prst="ellipse">
            <a:avLst/>
          </a:prstGeom>
          <a:solidFill>
            <a:srgbClr val="C084FC"/>
          </a:solidFill>
          <a:ln w="12700">
            <a:solidFill>
              <a:srgbClr val="C084FC"/>
            </a:solidFill>
            <a:prstDash val="solid"/>
          </a:ln>
        </p:spPr>
      </p:sp>
      <p:sp>
        <p:nvSpPr>
          <p:cNvPr id="21" name="Text 19"/>
          <p:cNvSpPr/>
          <p:nvPr/>
        </p:nvSpPr>
        <p:spPr>
          <a:xfrm>
            <a:off x="4846320" y="3410712"/>
            <a:ext cx="502920" cy="502920"/>
          </a:xfrm>
          <a:prstGeom prst="rect">
            <a:avLst/>
          </a:prstGeom>
          <a:noFill/>
          <a:ln/>
        </p:spPr>
        <p:txBody>
          <a:bodyPr wrap="square" rtlCol="0" anchor="ctr"/>
          <a:lstStyle/>
          <a:p>
            <a:pPr algn="ctr" indent="0" marL="0">
              <a:buNone/>
            </a:pPr>
            <a:r>
              <a:rPr lang="en-US" sz="1100" b="1" dirty="0">
                <a:solidFill>
                  <a:srgbClr val="0D2137"/>
                </a:solidFill>
              </a:rPr>
              <a:t>04</a:t>
            </a:r>
            <a:endParaRPr lang="en-US" sz="1100" dirty="0"/>
          </a:p>
        </p:txBody>
      </p:sp>
      <p:sp>
        <p:nvSpPr>
          <p:cNvPr id="22" name="Text 20"/>
          <p:cNvSpPr/>
          <p:nvPr/>
        </p:nvSpPr>
        <p:spPr>
          <a:xfrm>
            <a:off x="5440680" y="2880360"/>
            <a:ext cx="3383280" cy="384048"/>
          </a:xfrm>
          <a:prstGeom prst="rect">
            <a:avLst/>
          </a:prstGeom>
          <a:noFill/>
          <a:ln/>
        </p:spPr>
        <p:txBody>
          <a:bodyPr wrap="square" rtlCol="0" anchor="ctr"/>
          <a:lstStyle/>
          <a:p>
            <a:pPr indent="0" marL="0">
              <a:buNone/>
            </a:pPr>
            <a:r>
              <a:rPr lang="en-US" sz="1300" b="1" dirty="0">
                <a:solidFill>
                  <a:srgbClr val="C084FC"/>
                </a:solidFill>
                <a:latin typeface="Calibri" pitchFamily="34" charset="0"/>
                <a:ea typeface="Calibri" pitchFamily="34" charset="-122"/>
                <a:cs typeface="Calibri" pitchFamily="34" charset="-120"/>
              </a:rPr>
              <a:t>🔒 Proper SSL Certs</a:t>
            </a:r>
            <a:endParaRPr lang="en-US" sz="1300" dirty="0"/>
          </a:p>
        </p:txBody>
      </p:sp>
      <p:sp>
        <p:nvSpPr>
          <p:cNvPr id="23" name="Text 21"/>
          <p:cNvSpPr/>
          <p:nvPr/>
        </p:nvSpPr>
        <p:spPr>
          <a:xfrm>
            <a:off x="4846320" y="3319272"/>
            <a:ext cx="3931920" cy="1234440"/>
          </a:xfrm>
          <a:prstGeom prst="rect">
            <a:avLst/>
          </a:prstGeom>
          <a:noFill/>
          <a:ln/>
        </p:spPr>
        <p:txBody>
          <a:bodyPr wrap="square" rtlCol="0" anchor="ctr"/>
          <a:lstStyle/>
          <a:p>
            <a:pPr indent="0" marL="0">
              <a:buNone/>
            </a:pPr>
            <a:r>
              <a:rPr lang="en-US" sz="950" dirty="0">
                <a:solidFill>
                  <a:srgbClr val="E8F4F8"/>
                </a:solidFill>
                <a:latin typeface="Calibri" pitchFamily="34" charset="0"/>
                <a:ea typeface="Calibri" pitchFamily="34" charset="-122"/>
                <a:cs typeface="Calibri" pitchFamily="34" charset="-120"/>
              </a:rPr>
              <a:t>In production, install trusted certificates rather than bypassing SSL verification with --trusted-host. The current workaround is acceptable in dev/test but is a security risk in production.</a:t>
            </a:r>
            <a:endParaRPr lang="en-US" sz="950" dirty="0"/>
          </a:p>
        </p:txBody>
      </p:sp>
      <p:sp>
        <p:nvSpPr>
          <p:cNvPr id="24" name="Shape 22"/>
          <p:cNvSpPr/>
          <p:nvPr/>
        </p:nvSpPr>
        <p:spPr>
          <a:xfrm>
            <a:off x="0" y="5047488"/>
            <a:ext cx="9144000" cy="91440"/>
          </a:xfrm>
          <a:prstGeom prst="rect">
            <a:avLst/>
          </a:prstGeom>
          <a:solidFill>
            <a:srgbClr val="0D2137"/>
          </a:solidFill>
          <a:ln w="12700">
            <a:solidFill>
              <a:srgbClr val="0D2137"/>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B4D8"/>
          </a:solidFill>
          <a:ln w="12700">
            <a:solidFill>
              <a:srgbClr val="00B4D8"/>
            </a:solidFill>
            <a:prstDash val="solid"/>
          </a:ln>
        </p:spPr>
      </p:sp>
      <p:sp>
        <p:nvSpPr>
          <p:cNvPr id="3" name="Shape 1"/>
          <p:cNvSpPr/>
          <p:nvPr/>
        </p:nvSpPr>
        <p:spPr>
          <a:xfrm>
            <a:off x="0" y="109728"/>
            <a:ext cx="109728" cy="4942332"/>
          </a:xfrm>
          <a:prstGeom prst="rect">
            <a:avLst/>
          </a:prstGeom>
          <a:solidFill>
            <a:srgbClr val="02C39A"/>
          </a:solidFill>
          <a:ln w="12700">
            <a:solidFill>
              <a:srgbClr val="02C39A"/>
            </a:solidFill>
            <a:prstDash val="solid"/>
          </a:ln>
        </p:spPr>
      </p:sp>
      <p:sp>
        <p:nvSpPr>
          <p:cNvPr id="4" name="Text 2"/>
          <p:cNvSpPr/>
          <p:nvPr/>
        </p:nvSpPr>
        <p:spPr>
          <a:xfrm>
            <a:off x="274320" y="164592"/>
            <a:ext cx="8595360" cy="5029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What We Built</a:t>
            </a:r>
            <a:endParaRPr lang="en-US" sz="2800" dirty="0"/>
          </a:p>
        </p:txBody>
      </p:sp>
      <p:sp>
        <p:nvSpPr>
          <p:cNvPr id="5" name="Shape 3"/>
          <p:cNvSpPr/>
          <p:nvPr/>
        </p:nvSpPr>
        <p:spPr>
          <a:xfrm>
            <a:off x="274320" y="777240"/>
            <a:ext cx="8595360" cy="749808"/>
          </a:xfrm>
          <a:prstGeom prst="roundRect">
            <a:avLst>
              <a:gd name="adj" fmla="val 17073"/>
            </a:avLst>
          </a:prstGeom>
          <a:solidFill>
            <a:srgbClr val="112B45"/>
          </a:solidFill>
          <a:ln w="12700">
            <a:solidFill>
              <a:srgbClr val="00B4D8"/>
            </a:solidFill>
            <a:prstDash val="solid"/>
          </a:ln>
          <a:effectLst>
            <a:outerShdw sx="100000" sy="100000" kx="0" ky="0" algn="bl" rotWithShape="0" blurRad="127000" dist="50800" dir="2700000">
              <a:srgbClr val="000000">
                <a:alpha val="20000"/>
              </a:srgbClr>
            </a:outerShdw>
          </a:effectLst>
        </p:spPr>
      </p:sp>
      <p:sp>
        <p:nvSpPr>
          <p:cNvPr id="6" name="Text 4"/>
          <p:cNvSpPr/>
          <p:nvPr/>
        </p:nvSpPr>
        <p:spPr>
          <a:xfrm>
            <a:off x="457200" y="777240"/>
            <a:ext cx="8229600" cy="749808"/>
          </a:xfrm>
          <a:prstGeom prst="rect">
            <a:avLst/>
          </a:prstGeom>
          <a:noFill/>
          <a:ln/>
        </p:spPr>
        <p:txBody>
          <a:bodyPr wrap="square"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We turned 9 raw, disconnected CSV files into a fully automated, validated ETL pipeline connected to a live Business Intelligence dashboard — end to end, with zero foreign key violations on unseen data.</a:t>
            </a:r>
            <a:endParaRPr lang="en-US" sz="1250" dirty="0"/>
          </a:p>
        </p:txBody>
      </p:sp>
      <p:sp>
        <p:nvSpPr>
          <p:cNvPr id="7" name="Shape 5"/>
          <p:cNvSpPr/>
          <p:nvPr/>
        </p:nvSpPr>
        <p:spPr>
          <a:xfrm>
            <a:off x="320040" y="1828800"/>
            <a:ext cx="256032" cy="256032"/>
          </a:xfrm>
          <a:prstGeom prst="ellipse">
            <a:avLst/>
          </a:prstGeom>
          <a:solidFill>
            <a:srgbClr val="00B4D8"/>
          </a:solidFill>
          <a:ln w="12700">
            <a:solidFill>
              <a:srgbClr val="00B4D8"/>
            </a:solidFill>
            <a:prstDash val="solid"/>
          </a:ln>
        </p:spPr>
      </p:sp>
      <p:sp>
        <p:nvSpPr>
          <p:cNvPr id="8" name="Text 6"/>
          <p:cNvSpPr/>
          <p:nvPr/>
        </p:nvSpPr>
        <p:spPr>
          <a:xfrm>
            <a:off x="320040" y="1828800"/>
            <a:ext cx="256032" cy="256032"/>
          </a:xfrm>
          <a:prstGeom prst="rect">
            <a:avLst/>
          </a:prstGeom>
          <a:noFill/>
          <a:ln/>
        </p:spPr>
        <p:txBody>
          <a:bodyPr wrap="square" rtlCol="0" anchor="ctr"/>
          <a:lstStyle/>
          <a:p>
            <a:pPr algn="ctr" indent="0" marL="0">
              <a:buNone/>
            </a:pPr>
            <a:r>
              <a:rPr lang="en-US" sz="1000" b="1" dirty="0">
                <a:solidFill>
                  <a:srgbClr val="0D2137"/>
                </a:solidFill>
              </a:rPr>
              <a:t>✓</a:t>
            </a:r>
            <a:endParaRPr lang="en-US" sz="1000" dirty="0"/>
          </a:p>
        </p:txBody>
      </p:sp>
      <p:sp>
        <p:nvSpPr>
          <p:cNvPr id="9" name="Text 7"/>
          <p:cNvSpPr/>
          <p:nvPr/>
        </p:nvSpPr>
        <p:spPr>
          <a:xfrm>
            <a:off x="640080" y="1691640"/>
            <a:ext cx="3977640" cy="530352"/>
          </a:xfrm>
          <a:prstGeom prst="rect">
            <a:avLst/>
          </a:prstGeom>
          <a:noFill/>
          <a:ln/>
        </p:spPr>
        <p:txBody>
          <a:bodyPr wrap="square" rtlCol="0" anchor="ctr"/>
          <a:lstStyle/>
          <a:p>
            <a:pPr indent="0" marL="0">
              <a:buNone/>
            </a:pPr>
            <a:r>
              <a:rPr lang="en-US" sz="1050" dirty="0">
                <a:solidFill>
                  <a:srgbClr val="E8F4F8"/>
                </a:solidFill>
                <a:latin typeface="Calibri" pitchFamily="34" charset="0"/>
                <a:ea typeface="Calibri" pitchFamily="34" charset="-122"/>
                <a:cs typeface="Calibri" pitchFamily="34" charset="-120"/>
              </a:rPr>
              <a:t>Kaggle API extraction — no manual downloads</a:t>
            </a:r>
            <a:endParaRPr lang="en-US" sz="1050" dirty="0"/>
          </a:p>
        </p:txBody>
      </p:sp>
      <p:sp>
        <p:nvSpPr>
          <p:cNvPr id="10" name="Shape 8"/>
          <p:cNvSpPr/>
          <p:nvPr/>
        </p:nvSpPr>
        <p:spPr>
          <a:xfrm>
            <a:off x="4754880" y="1828800"/>
            <a:ext cx="256032" cy="256032"/>
          </a:xfrm>
          <a:prstGeom prst="ellipse">
            <a:avLst/>
          </a:prstGeom>
          <a:solidFill>
            <a:srgbClr val="00B4D8"/>
          </a:solidFill>
          <a:ln w="12700">
            <a:solidFill>
              <a:srgbClr val="00B4D8"/>
            </a:solidFill>
            <a:prstDash val="solid"/>
          </a:ln>
        </p:spPr>
      </p:sp>
      <p:sp>
        <p:nvSpPr>
          <p:cNvPr id="11" name="Text 9"/>
          <p:cNvSpPr/>
          <p:nvPr/>
        </p:nvSpPr>
        <p:spPr>
          <a:xfrm>
            <a:off x="4754880" y="1828800"/>
            <a:ext cx="256032" cy="256032"/>
          </a:xfrm>
          <a:prstGeom prst="rect">
            <a:avLst/>
          </a:prstGeom>
          <a:noFill/>
          <a:ln/>
        </p:spPr>
        <p:txBody>
          <a:bodyPr wrap="square" rtlCol="0" anchor="ctr"/>
          <a:lstStyle/>
          <a:p>
            <a:pPr algn="ctr" indent="0" marL="0">
              <a:buNone/>
            </a:pPr>
            <a:r>
              <a:rPr lang="en-US" sz="1000" b="1" dirty="0">
                <a:solidFill>
                  <a:srgbClr val="0D2137"/>
                </a:solidFill>
              </a:rPr>
              <a:t>✓</a:t>
            </a:r>
            <a:endParaRPr lang="en-US" sz="1000" dirty="0"/>
          </a:p>
        </p:txBody>
      </p:sp>
      <p:sp>
        <p:nvSpPr>
          <p:cNvPr id="12" name="Text 10"/>
          <p:cNvSpPr/>
          <p:nvPr/>
        </p:nvSpPr>
        <p:spPr>
          <a:xfrm>
            <a:off x="5074920" y="1691640"/>
            <a:ext cx="3977640" cy="530352"/>
          </a:xfrm>
          <a:prstGeom prst="rect">
            <a:avLst/>
          </a:prstGeom>
          <a:noFill/>
          <a:ln/>
        </p:spPr>
        <p:txBody>
          <a:bodyPr wrap="square" rtlCol="0" anchor="ctr"/>
          <a:lstStyle/>
          <a:p>
            <a:pPr indent="0" marL="0">
              <a:buNone/>
            </a:pPr>
            <a:r>
              <a:rPr lang="en-US" sz="1050" dirty="0">
                <a:solidFill>
                  <a:srgbClr val="E8F4F8"/>
                </a:solidFill>
                <a:latin typeface="Calibri" pitchFamily="34" charset="0"/>
                <a:ea typeface="Calibri" pitchFamily="34" charset="-122"/>
                <a:cs typeface="Calibri" pitchFamily="34" charset="-120"/>
              </a:rPr>
              <a:t>7-stage pipeline architecture documented</a:t>
            </a:r>
            <a:endParaRPr lang="en-US" sz="1050" dirty="0"/>
          </a:p>
        </p:txBody>
      </p:sp>
      <p:sp>
        <p:nvSpPr>
          <p:cNvPr id="13" name="Shape 11"/>
          <p:cNvSpPr/>
          <p:nvPr/>
        </p:nvSpPr>
        <p:spPr>
          <a:xfrm>
            <a:off x="320040" y="2395728"/>
            <a:ext cx="256032" cy="256032"/>
          </a:xfrm>
          <a:prstGeom prst="ellipse">
            <a:avLst/>
          </a:prstGeom>
          <a:solidFill>
            <a:srgbClr val="02C39A"/>
          </a:solidFill>
          <a:ln w="12700">
            <a:solidFill>
              <a:srgbClr val="02C39A"/>
            </a:solidFill>
            <a:prstDash val="solid"/>
          </a:ln>
        </p:spPr>
      </p:sp>
      <p:sp>
        <p:nvSpPr>
          <p:cNvPr id="14" name="Text 12"/>
          <p:cNvSpPr/>
          <p:nvPr/>
        </p:nvSpPr>
        <p:spPr>
          <a:xfrm>
            <a:off x="320040" y="2395728"/>
            <a:ext cx="256032" cy="256032"/>
          </a:xfrm>
          <a:prstGeom prst="rect">
            <a:avLst/>
          </a:prstGeom>
          <a:noFill/>
          <a:ln/>
        </p:spPr>
        <p:txBody>
          <a:bodyPr wrap="square" rtlCol="0" anchor="ctr"/>
          <a:lstStyle/>
          <a:p>
            <a:pPr algn="ctr" indent="0" marL="0">
              <a:buNone/>
            </a:pPr>
            <a:r>
              <a:rPr lang="en-US" sz="1000" b="1" dirty="0">
                <a:solidFill>
                  <a:srgbClr val="0D2137"/>
                </a:solidFill>
              </a:rPr>
              <a:t>✓</a:t>
            </a:r>
            <a:endParaRPr lang="en-US" sz="1000" dirty="0"/>
          </a:p>
        </p:txBody>
      </p:sp>
      <p:sp>
        <p:nvSpPr>
          <p:cNvPr id="15" name="Text 13"/>
          <p:cNvSpPr/>
          <p:nvPr/>
        </p:nvSpPr>
        <p:spPr>
          <a:xfrm>
            <a:off x="640080" y="2258568"/>
            <a:ext cx="3977640" cy="530352"/>
          </a:xfrm>
          <a:prstGeom prst="rect">
            <a:avLst/>
          </a:prstGeom>
          <a:noFill/>
          <a:ln/>
        </p:spPr>
        <p:txBody>
          <a:bodyPr wrap="square" rtlCol="0" anchor="ctr"/>
          <a:lstStyle/>
          <a:p>
            <a:pPr indent="0" marL="0">
              <a:buNone/>
            </a:pPr>
            <a:r>
              <a:rPr lang="en-US" sz="1050" dirty="0">
                <a:solidFill>
                  <a:srgbClr val="E8F4F8"/>
                </a:solidFill>
                <a:latin typeface="Calibri" pitchFamily="34" charset="0"/>
                <a:ea typeface="Calibri" pitchFamily="34" charset="-122"/>
                <a:cs typeface="Calibri" pitchFamily="34" charset="-120"/>
              </a:rPr>
              <a:t>9-table 3NF PostgreSQL schema enforced</a:t>
            </a:r>
            <a:endParaRPr lang="en-US" sz="1050" dirty="0"/>
          </a:p>
        </p:txBody>
      </p:sp>
      <p:sp>
        <p:nvSpPr>
          <p:cNvPr id="16" name="Shape 14"/>
          <p:cNvSpPr/>
          <p:nvPr/>
        </p:nvSpPr>
        <p:spPr>
          <a:xfrm>
            <a:off x="4754880" y="2395728"/>
            <a:ext cx="256032" cy="256032"/>
          </a:xfrm>
          <a:prstGeom prst="ellipse">
            <a:avLst/>
          </a:prstGeom>
          <a:solidFill>
            <a:srgbClr val="02C39A"/>
          </a:solidFill>
          <a:ln w="12700">
            <a:solidFill>
              <a:srgbClr val="02C39A"/>
            </a:solidFill>
            <a:prstDash val="solid"/>
          </a:ln>
        </p:spPr>
      </p:sp>
      <p:sp>
        <p:nvSpPr>
          <p:cNvPr id="17" name="Text 15"/>
          <p:cNvSpPr/>
          <p:nvPr/>
        </p:nvSpPr>
        <p:spPr>
          <a:xfrm>
            <a:off x="4754880" y="2395728"/>
            <a:ext cx="256032" cy="256032"/>
          </a:xfrm>
          <a:prstGeom prst="rect">
            <a:avLst/>
          </a:prstGeom>
          <a:noFill/>
          <a:ln/>
        </p:spPr>
        <p:txBody>
          <a:bodyPr wrap="square" rtlCol="0" anchor="ctr"/>
          <a:lstStyle/>
          <a:p>
            <a:pPr algn="ctr" indent="0" marL="0">
              <a:buNone/>
            </a:pPr>
            <a:r>
              <a:rPr lang="en-US" sz="1000" b="1" dirty="0">
                <a:solidFill>
                  <a:srgbClr val="0D2137"/>
                </a:solidFill>
              </a:rPr>
              <a:t>✓</a:t>
            </a:r>
            <a:endParaRPr lang="en-US" sz="1000" dirty="0"/>
          </a:p>
        </p:txBody>
      </p:sp>
      <p:sp>
        <p:nvSpPr>
          <p:cNvPr id="18" name="Text 16"/>
          <p:cNvSpPr/>
          <p:nvPr/>
        </p:nvSpPr>
        <p:spPr>
          <a:xfrm>
            <a:off x="5074920" y="2258568"/>
            <a:ext cx="3977640" cy="530352"/>
          </a:xfrm>
          <a:prstGeom prst="rect">
            <a:avLst/>
          </a:prstGeom>
          <a:noFill/>
          <a:ln/>
        </p:spPr>
        <p:txBody>
          <a:bodyPr wrap="square" rtlCol="0" anchor="ctr"/>
          <a:lstStyle/>
          <a:p>
            <a:pPr indent="0" marL="0">
              <a:buNone/>
            </a:pPr>
            <a:r>
              <a:rPr lang="en-US" sz="1050" dirty="0">
                <a:solidFill>
                  <a:srgbClr val="E8F4F8"/>
                </a:solidFill>
                <a:latin typeface="Calibri" pitchFamily="34" charset="0"/>
                <a:ea typeface="Calibri" pitchFamily="34" charset="-122"/>
                <a:cs typeface="Calibri" pitchFamily="34" charset="-120"/>
              </a:rPr>
              <a:t>5 data quality issues resolved with justification</a:t>
            </a:r>
            <a:endParaRPr lang="en-US" sz="1050" dirty="0"/>
          </a:p>
        </p:txBody>
      </p:sp>
      <p:sp>
        <p:nvSpPr>
          <p:cNvPr id="19" name="Shape 17"/>
          <p:cNvSpPr/>
          <p:nvPr/>
        </p:nvSpPr>
        <p:spPr>
          <a:xfrm>
            <a:off x="320040" y="2962656"/>
            <a:ext cx="256032" cy="256032"/>
          </a:xfrm>
          <a:prstGeom prst="ellipse">
            <a:avLst/>
          </a:prstGeom>
          <a:solidFill>
            <a:srgbClr val="F4A261"/>
          </a:solidFill>
          <a:ln w="12700">
            <a:solidFill>
              <a:srgbClr val="F4A261"/>
            </a:solidFill>
            <a:prstDash val="solid"/>
          </a:ln>
        </p:spPr>
      </p:sp>
      <p:sp>
        <p:nvSpPr>
          <p:cNvPr id="20" name="Text 18"/>
          <p:cNvSpPr/>
          <p:nvPr/>
        </p:nvSpPr>
        <p:spPr>
          <a:xfrm>
            <a:off x="320040" y="2962656"/>
            <a:ext cx="256032" cy="256032"/>
          </a:xfrm>
          <a:prstGeom prst="rect">
            <a:avLst/>
          </a:prstGeom>
          <a:noFill/>
          <a:ln/>
        </p:spPr>
        <p:txBody>
          <a:bodyPr wrap="square" rtlCol="0" anchor="ctr"/>
          <a:lstStyle/>
          <a:p>
            <a:pPr algn="ctr" indent="0" marL="0">
              <a:buNone/>
            </a:pPr>
            <a:r>
              <a:rPr lang="en-US" sz="1000" b="1" dirty="0">
                <a:solidFill>
                  <a:srgbClr val="0D2137"/>
                </a:solidFill>
              </a:rPr>
              <a:t>✓</a:t>
            </a:r>
            <a:endParaRPr lang="en-US" sz="1000" dirty="0"/>
          </a:p>
        </p:txBody>
      </p:sp>
      <p:sp>
        <p:nvSpPr>
          <p:cNvPr id="21" name="Text 19"/>
          <p:cNvSpPr/>
          <p:nvPr/>
        </p:nvSpPr>
        <p:spPr>
          <a:xfrm>
            <a:off x="640080" y="2825496"/>
            <a:ext cx="3977640" cy="530352"/>
          </a:xfrm>
          <a:prstGeom prst="rect">
            <a:avLst/>
          </a:prstGeom>
          <a:noFill/>
          <a:ln/>
        </p:spPr>
        <p:txBody>
          <a:bodyPr wrap="square" rtlCol="0" anchor="ctr"/>
          <a:lstStyle/>
          <a:p>
            <a:pPr indent="0" marL="0">
              <a:buNone/>
            </a:pPr>
            <a:r>
              <a:rPr lang="en-US" sz="1050" dirty="0">
                <a:solidFill>
                  <a:srgbClr val="E8F4F8"/>
                </a:solidFill>
                <a:latin typeface="Calibri" pitchFamily="34" charset="0"/>
                <a:ea typeface="Calibri" pitchFamily="34" charset="-122"/>
                <a:cs typeface="Calibri" pitchFamily="34" charset="-120"/>
              </a:rPr>
              <a:t>75/25 dev/test split — referentially consistent</a:t>
            </a:r>
            <a:endParaRPr lang="en-US" sz="1050" dirty="0"/>
          </a:p>
        </p:txBody>
      </p:sp>
      <p:sp>
        <p:nvSpPr>
          <p:cNvPr id="22" name="Shape 20"/>
          <p:cNvSpPr/>
          <p:nvPr/>
        </p:nvSpPr>
        <p:spPr>
          <a:xfrm>
            <a:off x="4754880" y="2962656"/>
            <a:ext cx="256032" cy="256032"/>
          </a:xfrm>
          <a:prstGeom prst="ellipse">
            <a:avLst/>
          </a:prstGeom>
          <a:solidFill>
            <a:srgbClr val="F4A261"/>
          </a:solidFill>
          <a:ln w="12700">
            <a:solidFill>
              <a:srgbClr val="F4A261"/>
            </a:solidFill>
            <a:prstDash val="solid"/>
          </a:ln>
        </p:spPr>
      </p:sp>
      <p:sp>
        <p:nvSpPr>
          <p:cNvPr id="23" name="Text 21"/>
          <p:cNvSpPr/>
          <p:nvPr/>
        </p:nvSpPr>
        <p:spPr>
          <a:xfrm>
            <a:off x="4754880" y="2962656"/>
            <a:ext cx="256032" cy="256032"/>
          </a:xfrm>
          <a:prstGeom prst="rect">
            <a:avLst/>
          </a:prstGeom>
          <a:noFill/>
          <a:ln/>
        </p:spPr>
        <p:txBody>
          <a:bodyPr wrap="square" rtlCol="0" anchor="ctr"/>
          <a:lstStyle/>
          <a:p>
            <a:pPr algn="ctr" indent="0" marL="0">
              <a:buNone/>
            </a:pPr>
            <a:r>
              <a:rPr lang="en-US" sz="1000" b="1" dirty="0">
                <a:solidFill>
                  <a:srgbClr val="0D2137"/>
                </a:solidFill>
              </a:rPr>
              <a:t>✓</a:t>
            </a:r>
            <a:endParaRPr lang="en-US" sz="1000" dirty="0"/>
          </a:p>
        </p:txBody>
      </p:sp>
      <p:sp>
        <p:nvSpPr>
          <p:cNvPr id="24" name="Text 22"/>
          <p:cNvSpPr/>
          <p:nvPr/>
        </p:nvSpPr>
        <p:spPr>
          <a:xfrm>
            <a:off x="5074920" y="2825496"/>
            <a:ext cx="3977640" cy="530352"/>
          </a:xfrm>
          <a:prstGeom prst="rect">
            <a:avLst/>
          </a:prstGeom>
          <a:noFill/>
          <a:ln/>
        </p:spPr>
        <p:txBody>
          <a:bodyPr wrap="square" rtlCol="0" anchor="ctr"/>
          <a:lstStyle/>
          <a:p>
            <a:pPr indent="0" marL="0">
              <a:buNone/>
            </a:pPr>
            <a:r>
              <a:rPr lang="en-US" sz="1050" dirty="0">
                <a:solidFill>
                  <a:srgbClr val="E8F4F8"/>
                </a:solidFill>
                <a:latin typeface="Calibri" pitchFamily="34" charset="0"/>
                <a:ea typeface="Calibri" pitchFamily="34" charset="-122"/>
                <a:cs typeface="Calibri" pitchFamily="34" charset="-120"/>
              </a:rPr>
              <a:t>4/4 FK integrity checks PASSED on unseen test data</a:t>
            </a:r>
            <a:endParaRPr lang="en-US" sz="1050" dirty="0"/>
          </a:p>
        </p:txBody>
      </p:sp>
      <p:sp>
        <p:nvSpPr>
          <p:cNvPr id="25" name="Shape 23"/>
          <p:cNvSpPr/>
          <p:nvPr/>
        </p:nvSpPr>
        <p:spPr>
          <a:xfrm>
            <a:off x="320040" y="3529584"/>
            <a:ext cx="256032" cy="256032"/>
          </a:xfrm>
          <a:prstGeom prst="ellipse">
            <a:avLst/>
          </a:prstGeom>
          <a:solidFill>
            <a:srgbClr val="C084FC"/>
          </a:solidFill>
          <a:ln w="12700">
            <a:solidFill>
              <a:srgbClr val="C084FC"/>
            </a:solidFill>
            <a:prstDash val="solid"/>
          </a:ln>
        </p:spPr>
      </p:sp>
      <p:sp>
        <p:nvSpPr>
          <p:cNvPr id="26" name="Text 24"/>
          <p:cNvSpPr/>
          <p:nvPr/>
        </p:nvSpPr>
        <p:spPr>
          <a:xfrm>
            <a:off x="320040" y="3529584"/>
            <a:ext cx="256032" cy="256032"/>
          </a:xfrm>
          <a:prstGeom prst="rect">
            <a:avLst/>
          </a:prstGeom>
          <a:noFill/>
          <a:ln/>
        </p:spPr>
        <p:txBody>
          <a:bodyPr wrap="square" rtlCol="0" anchor="ctr"/>
          <a:lstStyle/>
          <a:p>
            <a:pPr algn="ctr" indent="0" marL="0">
              <a:buNone/>
            </a:pPr>
            <a:r>
              <a:rPr lang="en-US" sz="1000" b="1" dirty="0">
                <a:solidFill>
                  <a:srgbClr val="0D2137"/>
                </a:solidFill>
              </a:rPr>
              <a:t>✓</a:t>
            </a:r>
            <a:endParaRPr lang="en-US" sz="1000" dirty="0"/>
          </a:p>
        </p:txBody>
      </p:sp>
      <p:sp>
        <p:nvSpPr>
          <p:cNvPr id="27" name="Text 25"/>
          <p:cNvSpPr/>
          <p:nvPr/>
        </p:nvSpPr>
        <p:spPr>
          <a:xfrm>
            <a:off x="640080" y="3392424"/>
            <a:ext cx="3977640" cy="530352"/>
          </a:xfrm>
          <a:prstGeom prst="rect">
            <a:avLst/>
          </a:prstGeom>
          <a:noFill/>
          <a:ln/>
        </p:spPr>
        <p:txBody>
          <a:bodyPr wrap="square" rtlCol="0" anchor="ctr"/>
          <a:lstStyle/>
          <a:p>
            <a:pPr indent="0" marL="0">
              <a:buNone/>
            </a:pPr>
            <a:r>
              <a:rPr lang="en-US" sz="1050" dirty="0">
                <a:solidFill>
                  <a:srgbClr val="E8F4F8"/>
                </a:solidFill>
                <a:latin typeface="Calibri" pitchFamily="34" charset="0"/>
                <a:ea typeface="Calibri" pitchFamily="34" charset="-122"/>
                <a:cs typeface="Calibri" pitchFamily="34" charset="-120"/>
              </a:rPr>
              <a:t>Airflow DAG — @daily, 4 tasks, all green</a:t>
            </a:r>
            <a:endParaRPr lang="en-US" sz="1050" dirty="0"/>
          </a:p>
        </p:txBody>
      </p:sp>
      <p:sp>
        <p:nvSpPr>
          <p:cNvPr id="28" name="Shape 26"/>
          <p:cNvSpPr/>
          <p:nvPr/>
        </p:nvSpPr>
        <p:spPr>
          <a:xfrm>
            <a:off x="4754880" y="3529584"/>
            <a:ext cx="256032" cy="256032"/>
          </a:xfrm>
          <a:prstGeom prst="ellipse">
            <a:avLst/>
          </a:prstGeom>
          <a:solidFill>
            <a:srgbClr val="C084FC"/>
          </a:solidFill>
          <a:ln w="12700">
            <a:solidFill>
              <a:srgbClr val="C084FC"/>
            </a:solidFill>
            <a:prstDash val="solid"/>
          </a:ln>
        </p:spPr>
      </p:sp>
      <p:sp>
        <p:nvSpPr>
          <p:cNvPr id="29" name="Text 27"/>
          <p:cNvSpPr/>
          <p:nvPr/>
        </p:nvSpPr>
        <p:spPr>
          <a:xfrm>
            <a:off x="4754880" y="3529584"/>
            <a:ext cx="256032" cy="256032"/>
          </a:xfrm>
          <a:prstGeom prst="rect">
            <a:avLst/>
          </a:prstGeom>
          <a:noFill/>
          <a:ln/>
        </p:spPr>
        <p:txBody>
          <a:bodyPr wrap="square" rtlCol="0" anchor="ctr"/>
          <a:lstStyle/>
          <a:p>
            <a:pPr algn="ctr" indent="0" marL="0">
              <a:buNone/>
            </a:pPr>
            <a:r>
              <a:rPr lang="en-US" sz="1000" b="1" dirty="0">
                <a:solidFill>
                  <a:srgbClr val="0D2137"/>
                </a:solidFill>
              </a:rPr>
              <a:t>✓</a:t>
            </a:r>
            <a:endParaRPr lang="en-US" sz="1000" dirty="0"/>
          </a:p>
        </p:txBody>
      </p:sp>
      <p:sp>
        <p:nvSpPr>
          <p:cNvPr id="30" name="Text 28"/>
          <p:cNvSpPr/>
          <p:nvPr/>
        </p:nvSpPr>
        <p:spPr>
          <a:xfrm>
            <a:off x="5074920" y="3392424"/>
            <a:ext cx="3977640" cy="530352"/>
          </a:xfrm>
          <a:prstGeom prst="rect">
            <a:avLst/>
          </a:prstGeom>
          <a:noFill/>
          <a:ln/>
        </p:spPr>
        <p:txBody>
          <a:bodyPr wrap="square" rtlCol="0" anchor="ctr"/>
          <a:lstStyle/>
          <a:p>
            <a:pPr indent="0" marL="0">
              <a:buNone/>
            </a:pPr>
            <a:r>
              <a:rPr lang="en-US" sz="1050" dirty="0">
                <a:solidFill>
                  <a:srgbClr val="E8F4F8"/>
                </a:solidFill>
                <a:latin typeface="Calibri" pitchFamily="34" charset="0"/>
                <a:ea typeface="Calibri" pitchFamily="34" charset="-122"/>
                <a:cs typeface="Calibri" pitchFamily="34" charset="-120"/>
              </a:rPr>
              <a:t>Power BI — 3 tabs, 4 KPI areas, live DB connection</a:t>
            </a:r>
            <a:endParaRPr lang="en-US" sz="1050" dirty="0"/>
          </a:p>
        </p:txBody>
      </p:sp>
      <p:sp>
        <p:nvSpPr>
          <p:cNvPr id="31" name="Shape 29"/>
          <p:cNvSpPr/>
          <p:nvPr/>
        </p:nvSpPr>
        <p:spPr>
          <a:xfrm>
            <a:off x="2286000" y="4407408"/>
            <a:ext cx="4572000" cy="530352"/>
          </a:xfrm>
          <a:prstGeom prst="roundRect">
            <a:avLst>
              <a:gd name="adj" fmla="val 24138"/>
            </a:avLst>
          </a:prstGeom>
          <a:solidFill>
            <a:srgbClr val="00B4D8"/>
          </a:solidFill>
          <a:ln w="12700">
            <a:solidFill>
              <a:srgbClr val="00B4D8"/>
            </a:solidFill>
            <a:prstDash val="solid"/>
          </a:ln>
          <a:effectLst>
            <a:outerShdw sx="100000" sy="100000" kx="0" ky="0" algn="bl" rotWithShape="0" blurRad="127000" dist="50800" dir="2700000">
              <a:srgbClr val="000000">
                <a:alpha val="20000"/>
              </a:srgbClr>
            </a:outerShdw>
          </a:effectLst>
        </p:spPr>
      </p:sp>
      <p:sp>
        <p:nvSpPr>
          <p:cNvPr id="32" name="Text 30"/>
          <p:cNvSpPr/>
          <p:nvPr/>
        </p:nvSpPr>
        <p:spPr>
          <a:xfrm>
            <a:off x="2286000" y="4407408"/>
            <a:ext cx="4572000" cy="530352"/>
          </a:xfrm>
          <a:prstGeom prst="rect">
            <a:avLst/>
          </a:prstGeom>
          <a:noFill/>
          <a:ln/>
        </p:spPr>
        <p:txBody>
          <a:bodyPr wrap="square" rtlCol="0" anchor="ctr"/>
          <a:lstStyle/>
          <a:p>
            <a:pPr algn="ctr" indent="0" marL="0">
              <a:buNone/>
            </a:pPr>
            <a:r>
              <a:rPr lang="en-US" sz="1500" b="1" dirty="0">
                <a:solidFill>
                  <a:srgbClr val="0D2137"/>
                </a:solidFill>
                <a:latin typeface="Calibri" pitchFamily="34" charset="0"/>
                <a:ea typeface="Calibri" pitchFamily="34" charset="-122"/>
                <a:cs typeface="Calibri" pitchFamily="34" charset="-120"/>
              </a:rPr>
              <a:t>Thank You — Questions Welcome</a:t>
            </a:r>
            <a:endParaRPr lang="en-US" sz="1500" dirty="0"/>
          </a:p>
        </p:txBody>
      </p:sp>
      <p:sp>
        <p:nvSpPr>
          <p:cNvPr id="33" name="Shape 31"/>
          <p:cNvSpPr/>
          <p:nvPr/>
        </p:nvSpPr>
        <p:spPr>
          <a:xfrm>
            <a:off x="0" y="5047488"/>
            <a:ext cx="9144000" cy="91440"/>
          </a:xfrm>
          <a:prstGeom prst="rect">
            <a:avLst/>
          </a:prstGeom>
          <a:solidFill>
            <a:srgbClr val="14345A"/>
          </a:solidFill>
          <a:ln w="12700">
            <a:solidFill>
              <a:srgbClr val="14345A"/>
            </a:solidFill>
            <a:prstDash val="solid"/>
          </a:ln>
        </p:spPr>
      </p:sp>
      <p:sp>
        <p:nvSpPr>
          <p:cNvPr id="34" name="Text 32"/>
          <p:cNvSpPr/>
          <p:nvPr/>
        </p:nvSpPr>
        <p:spPr>
          <a:xfrm>
            <a:off x="0" y="5047488"/>
            <a:ext cx="9144000" cy="91440"/>
          </a:xfrm>
          <a:prstGeom prst="rect">
            <a:avLst/>
          </a:prstGeom>
          <a:noFill/>
          <a:ln/>
        </p:spPr>
        <p:txBody>
          <a:bodyPr wrap="square" rtlCol="0" anchor="ctr"/>
          <a:lstStyle/>
          <a:p>
            <a:pPr algn="ctr" indent="0" marL="0">
              <a:buNone/>
            </a:pPr>
            <a:r>
              <a:rPr lang="en-US" sz="800" dirty="0">
                <a:solidFill>
                  <a:srgbClr val="90AFC5"/>
                </a:solidFill>
              </a:rPr>
              <a:t>Renato Silva  •  Sandra Raj Pattuvakkaran  •  Sudarsh Mekkampurath Sajeev  |  Prof. Dr. Nor Azizah Hitam  |  June 2026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Olist ETL Pipeline — Final Presentation</dc:title>
  <dc:subject>PptxGenJS Presentation</dc:subject>
  <dc:creator>PptxGenJS</dc:creator>
  <cp:lastModifiedBy>PptxGenJS</cp:lastModifiedBy>
  <cp:revision>1</cp:revision>
  <dcterms:created xsi:type="dcterms:W3CDTF">2026-07-07T15:44:57Z</dcterms:created>
  <dcterms:modified xsi:type="dcterms:W3CDTF">2026-07-07T15:44:58Z</dcterms:modified>
</cp:coreProperties>
</file>